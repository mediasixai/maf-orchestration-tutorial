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puts a human approval checkpoint inside a running multi-agent workflow. ResearchAgent gathers facts about a topic, a request port pauses the graph and hands those facts to a person at the console, and only an approved decision moves on to WriterAgent. Rejected facts go back to ResearchAgent together with the reviewer's feedback, so the run loops until a person is satisfied. Lesson 9 gated one tool call inside one agent's turn. This checkpoint gates the flow of work between agents, and it is the same Researcher, approval, Writer shape the Lesson 22 to 24 capstone is built on. Prerequisites: Lesson 9's ToolApprovalRequestContent and ToolApprovalResponseContent; Lessons 10 and 11's WorkflowBuilder, edges, conditional routing, and partial executors with MessageHandler methods; and Lesson 16's MagenticWorkflowBuilder with RequirePlanSignoff, which Lesson 16 turned off. Setup: Microsoft.Agents.AI, Microsoft.Agents.AI.Workflows and Microsoft.Agents.AI.Workflows.Generators 1.24.0, the generator referenced with PrivateAssets all because it only wires up the MessageHandler methods at build time, plus Microsoft.Extensions.AI.OpenAI 10.10.1 and OpenAI 2.14.0, with OPENAI_API_KEY and the required MAF_LLM and MAF_MODEL. One difference: this lesson is interactive. The run pauses at a console prompt and waits for real keyboard input. Type y to approve the researcher's facts, or type feedback to send them back for another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port is a graph node that asks the outside world a question. RequestPort.Create of TRequest and TResponse, given an id, creates a node you wire into a WorkflowBuilder graph with AddEdge, like any executor. When a message of type TRequest reaches it, the port does not process it. It raises the message outside the workflow, and the run halts at the end of that step. When a TResponse comes back, the port sends it along its outgoing edges as an ordinary message. To the executors on either side, the human is just another node in the graph. In the code, ReviewWorkflowFactory.Build creates the port with the id FactReview, feeds it with AddEdge from research to review, and WithOutputFrom(writer) marks the writer's yielded text as the workflow's output. Each agent runs inside its own partial executor: ResearchExecutor.ResearchAsync handles the starting string topic and returns a FactsForReview for round 1, and that return value travels along the outgoing edge to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and the response are your own types. This lesson's port is a RequestPort of FactsForReview and ReviewDecision. FactsForReview carries the topic, the facts and the round number out to the reviewer. Its Approve() and Revise(feedback) methods build the ReviewDecision that comes back, so the decision carries everything the next executor needs: the topic, the facts, the round, whether it was approved, and the feedback when it was not. Any type works in-process. Lesson 9's ToolApprovalRequestContent and ToolApprovalResponseContent also work as port types, and they are the natural choice when the workflow is exposed to a remote client. In the console loop, typing y calls review.Approve(). Anything else is passed verbatim to review.Revise(input) as the feedback, and ReadNonEmptyLine re-prompts on an empty line, so an accidental Enter is not sent as empty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edges route the decision. Two edges leave the port, both typed ReviewDecision: AddEdge of ReviewDecision from review to writer when the decision is Approved true, and AddEdge of ReviewDecision from review to research when it is Approved false. The second edge creates a loop. A rejected decision goes back to ResearchExecutor, which has a second MessageHandler, ReviseAsync, for ReviewDecision. It gives the agent its previous facts and the reviewer's feedback, asks for a revised list, and returns it as the next round, with Round incremented. The revised facts flow into the port again and raise a new request, and the console loop prompts again. An approval reaches WriterExecutor.WriteAsync, which runs WriterAgent on the approved facts and yields the paragraph with YieldOutputAsync.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RequestInfoEvent is how the pause surfaces. When the port fires, the run emits a RequestInfoEvent. Its Request property is an ExternalRequest that holds the request id, the port it came from in PortInfo.PortId, and the payload. request.TryGetDataAs(out FactsForReview review) reads the payload back as your own type. Then you resume by answering the request. request.CreateResponse(decision) wraps the decision in an ExternalResponse tied to that request's id and port, and run.ResumeAsync with that response runs the workflow until it halts again. In the code, InProcessExecution.RunAsync(workflow, topic) runs until the first pause: ResearchAgent produces its facts, they reach the port, and the call returns with the run halted. run.NewEvents is read once into a list, because each read returns only the events since the previous read. GetPendingRequest takes the latest RequestInfoEvent and returns its ExternalRequest. After every ResumeAsync, the events list is replaced with the new batch rather than accumulated.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deliver the response. With a non-streaming Run from InProcessExecution.RunAsync, call await run.ResumeAsync with the response. It runs the workflow until it halts again and returns. run.NewEvents then holds the events from that stretch, and the loop checks the status again. This lesson uses this form. With a StreamingRun from InProcessExecution.RunStreamingAsync, call await run.SendResponseAsync(response) from inside the await foreach over run.WatchStreamAsync() when a RequestInfoEvent arrives. The response is processed in the next step, and the same stream keeps delivering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RunStatus.PendingRequests tells you the run is waiting on a person. Run.GetStatusAsync() returns a RunStatus: NotStarted, Running, Idle, PendingRequests or Ended. PendingRequests means the run has halted with at least one unanswered ExternalRequest. Idle means it halted with nothing outstanding, which for this graph means the writer has finished. The console loop runs while the status is PendingRequests. A web app or a chat bot would check the same status to decide whether to show a review screen. When the loop exits, PrintResult prints the WorkflowOutputEvent from WriterExecutor, or the failure event if an executor threw, and the final status is printed: Idle. The short descriptions of NotStarted, Running and Ended are paraphrases of the value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mechanism powers Magentic-One's plan sign-off. With RequirePlanSignoff(true), which is the default, MagenticWorkflowBuilder pauses after the manager drafts its plan. The pause is a RequestInfoEvent whose payload is a MagenticPlanReviewRequest. You answer it with planReview.Approve() or planReview.Revise(feedback), wrapped by request.CreateResponse and passed to Run.ResumeAsync. That is the loop in this lesson's Main, with a different payload type. Magentic's port is built into the orchestration and reviews the plan. A RequestPort is one you place yourself, anywhere in your own graph, to review whatever data passes through it. Lesson 18 turns plan sign-off on and checkpoints that paused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different level from Lesson 9. Lesson 9 paused one agent before it ran one function, and resumed by continuing that agent's AgentSession. Here no agent is paused: ResearchAgent has finished its turn, and the workflow holds its output until a person decides where it goes. The pause belongs to the workflow's Run, not to any agent's session, so Lesson 18 can checkpoint it and resume it in a different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lesson's Expected Output has not been re-captured yet: it needs a run with OPENAI_API_KEY set. Until then this panel shows only lines the lesson's code prints itself, the banner, the topic, the round header, the review prompt, the approval header and the final status, rewrapped to fit. Every line of model text, the facts and the paragraph, is replaced with '...', and so is the reviewer's typed input. Nothing on the panel is invented model output. Replace it with a real capture when one exists. What the lesson describes: the run prints the banner and topic, then pauses with the Round 1 header followed by two bullet facts about Saturn and the review prompt. Typing feedback, for example 'Also mention one fact about Saturn's moons.', produces a Round 2 pause with a revised list that addresses it. Typing y releases those facts to WriterAgent, prints the Approved header with one paragraph that uses the approved facts, and ends with Final run status: Idle. The panel shows the shortest path, approving round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human-in-the-loop goes. Lesson 18 runs the Magentic-One workflow with plan sign-off on, pauses its own run through this same RequestInfoEvent, ExternalResponse and Run.ResumeAsync mechanism, checkpoints the paused run, and restores it in a fresh process (Lesson 18, Prerequisites and Walkthrough step 6). Lesson 22 designs the capstone as one graph with a report-approval RequestPort between the Analyst and the Writer, and lists Lesson 17's RequestPort as a prerequisite (Lesson 22, Core Concepts diagram). Lesson 23 builds that port as a RequestPort of ToolApprovalRequestContent and ToolApprovalResponseContent, the Lesson 9 types this lesson mentions as port types for remote clients; the run raises a RequestInfoEvent, its status becomes PendingRequests, and the caller answers with CreateResponse (Lesson 23, Core Concepts, The approval port). Lesson 24 hosts that graph with Workflow.AsAIAgent and AddFoundryResponses, and the pending request travels as a standard mcp_approval_request item over the Responses protocol; its series review maps Lesson 17 to the report-approval RequestPort (Lesson 24, Core Concepts and review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17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Human-in-the-Loop</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person approves the facts before the writer runs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Lessons 9–11: approvals and graphs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Lesson17-HumanInTheLoop/</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Placing a RequestPort inside your own graph</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Routing the reviewer's decision, with a revision loop</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Spotting the pause: RequestInfoEvent and RunStatus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Resuming the same run with an ExternalResponse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this differs from Lesson 9's tool approval</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A request port is a graph node that asks a person</a:t>
            </a:r>
            <a:endParaRPr lang="en-US" sz="25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ResearchExecutor</a:t>
            </a:r>
            <a:endParaRPr lang="en-US" sz="12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ResearchAgent on the topic</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FactReview port</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Raises FactsForReview outside the workflow, then halts</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WriterExecutor</a:t>
            </a:r>
            <a:endParaRPr lang="en-US" sz="135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Gets the ReviewDecision as an ordinary message</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Output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paragraph from the approved facts</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 the executors on either side, the human is just another node.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The request and the response are your own types</a:t>
            </a:r>
            <a:endParaRPr lang="en-US" sz="2650" dirty="0"/>
          </a:p>
        </p:txBody>
      </p:sp>
      <p:sp>
        <p:nvSpPr>
          <p:cNvPr id="4" name="Shape 2"/>
          <p:cNvSpPr/>
          <p:nvPr/>
        </p:nvSpPr>
        <p:spPr>
          <a:xfrm>
            <a:off x="457200" y="1371600"/>
            <a:ext cx="39319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FactsForReview</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Goes out to the reviewer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Topic, Facts, Round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Approve() and Revise(feedback)</a:t>
            </a:r>
            <a:endParaRPr lang="en-US" sz="1300" dirty="0"/>
          </a:p>
        </p:txBody>
      </p:sp>
      <p:sp>
        <p:nvSpPr>
          <p:cNvPr id="9" name="Shape 6"/>
          <p:cNvSpPr/>
          <p:nvPr/>
        </p:nvSpPr>
        <p:spPr>
          <a:xfrm>
            <a:off x="4754880" y="1371600"/>
            <a:ext cx="3931920" cy="2011680"/>
          </a:xfrm>
          <a:prstGeom prst="roundRect">
            <a:avLst>
              <a:gd name="adj" fmla="val 3636"/>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ReviewDecision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Comes back from the reviewer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Topic, Facts, Round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Approved, Feedback</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decision carries everything the next executor needs.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Conditional edges route the decision</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ReviewDecision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typed edges leave the port. The condition picks one.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Approved</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Goes on to WriterExecutor, which yields the paragraph</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approved</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Loops back to ResearchExecutor with the feedback</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Next round</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Revised facts reach the port and raise a new request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second edge creates a loop that runs until a person is satisfied.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the pause to the resume</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RequestInfoEvent</a:t>
            </a:r>
            <a:endParaRPr lang="en-US" sz="12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Holds an ExternalRequest: id, PortInfo.PortId, payload</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TryGetDataAs</a:t>
            </a:r>
            <a:endParaRPr lang="en-US" sz="14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the payload back as FactsForReview</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CreateResponse</a:t>
            </a:r>
            <a:endParaRPr lang="en-US" sz="135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Wraps the decision as an ExternalResponse</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Run.ResumeAsync</a:t>
            </a:r>
            <a:endParaRPr lang="en-US" sz="125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Continues the same run until it halts again</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restart. You answer the request on the Run you already have.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ways to deliver the response</a:t>
            </a:r>
            <a:endParaRPr lang="en-US" sz="2800" dirty="0"/>
          </a:p>
        </p:txBody>
      </p:sp>
      <p:sp>
        <p:nvSpPr>
          <p:cNvPr id="4" name="Shape 2"/>
          <p:cNvSpPr/>
          <p:nvPr/>
        </p:nvSpPr>
        <p:spPr>
          <a:xfrm>
            <a:off x="457200" y="1371600"/>
            <a:ext cx="39319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From InProcessExecution.RunAsync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await run.ResumeAsync([response])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 run.NewEvents, check status</a:t>
            </a:r>
            <a:endParaRPr lang="en-US" sz="1300" dirty="0"/>
          </a:p>
        </p:txBody>
      </p:sp>
      <p:sp>
        <p:nvSpPr>
          <p:cNvPr id="9" name="Shape 6"/>
          <p:cNvSpPr/>
          <p:nvPr/>
        </p:nvSpPr>
        <p:spPr>
          <a:xfrm>
            <a:off x="4754880" y="1371600"/>
            <a:ext cx="3931920" cy="2011680"/>
          </a:xfrm>
          <a:prstGeom prst="roundRect">
            <a:avLst>
              <a:gd name="adj" fmla="val 3636"/>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StreamingRun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From RunStreamingAsync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SendResponseAsync(response)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stream keeps delivering events</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lesson uses the non-streaming Run.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RunStatus tells you the run is waiting</a:t>
            </a:r>
            <a:endParaRPr lang="en-US" sz="2800" dirty="0"/>
          </a:p>
        </p:txBody>
      </p:sp>
      <p:sp>
        <p:nvSpPr>
          <p:cNvPr id="4" name="Shape 2"/>
          <p:cNvSpPr/>
          <p:nvPr/>
        </p:nvSpPr>
        <p:spPr>
          <a:xfrm>
            <a:off x="457200" y="1371600"/>
            <a:ext cx="2560320" cy="1188720"/>
          </a:xfrm>
          <a:prstGeom prst="roundRect">
            <a:avLst>
              <a:gd name="adj" fmla="val 615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NotStarted</a:t>
            </a:r>
            <a:endParaRPr lang="en-US" sz="15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has run yet</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Running</a:t>
            </a:r>
            <a:endParaRPr lang="en-US" sz="15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Steps are executing</a:t>
            </a:r>
            <a:endParaRPr lang="en-US" sz="1200" dirty="0"/>
          </a:p>
        </p:txBody>
      </p:sp>
      <p:sp>
        <p:nvSpPr>
          <p:cNvPr id="14" name="Shape 10"/>
          <p:cNvSpPr/>
          <p:nvPr/>
        </p:nvSpPr>
        <p:spPr>
          <a:xfrm>
            <a:off x="6126480" y="1371600"/>
            <a:ext cx="2560320" cy="1188720"/>
          </a:xfrm>
          <a:prstGeom prst="roundRect">
            <a:avLst>
              <a:gd name="adj" fmla="val 6154"/>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PendingRequests</a:t>
            </a:r>
            <a:endParaRPr lang="en-US" sz="14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Halted with an unanswered ExternalRequest</a:t>
            </a:r>
            <a:endParaRPr lang="en-US" sz="1200" dirty="0"/>
          </a:p>
        </p:txBody>
      </p:sp>
      <p:sp>
        <p:nvSpPr>
          <p:cNvPr id="19" name="Shape 14"/>
          <p:cNvSpPr/>
          <p:nvPr/>
        </p:nvSpPr>
        <p:spPr>
          <a:xfrm>
            <a:off x="457200" y="2788920"/>
            <a:ext cx="256032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64008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Idle</a:t>
            </a:r>
            <a:endParaRPr lang="en-US" sz="15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Halted with nothing outstanding: the writer has finished</a:t>
            </a:r>
            <a:endParaRPr lang="en-US" sz="1200" dirty="0"/>
          </a:p>
        </p:txBody>
      </p:sp>
      <p:sp>
        <p:nvSpPr>
          <p:cNvPr id="24" name="Shape 18"/>
          <p:cNvSpPr/>
          <p:nvPr/>
        </p:nvSpPr>
        <p:spPr>
          <a:xfrm>
            <a:off x="3291840" y="2788920"/>
            <a:ext cx="2560320" cy="1188720"/>
          </a:xfrm>
          <a:prstGeom prst="roundRect">
            <a:avLst>
              <a:gd name="adj" fmla="val 6154"/>
            </a:avLst>
          </a:prstGeom>
          <a:solidFill>
            <a:srgbClr val="EFEBFC"/>
          </a:solidFill>
          <a:ln w="12700">
            <a:solidFill>
              <a:srgbClr val="EFEBFC"/>
            </a:solidFill>
            <a:prstDash val="solid"/>
          </a:ln>
        </p:spPr>
      </p:sp>
      <p:sp>
        <p:nvSpPr>
          <p:cNvPr id="25" name="Shape 19"/>
          <p:cNvSpPr/>
          <p:nvPr/>
        </p:nvSpPr>
        <p:spPr>
          <a:xfrm>
            <a:off x="3474720" y="297180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Ended</a:t>
            </a:r>
            <a:endParaRPr lang="en-US" sz="15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run has ended</a:t>
            </a:r>
            <a:endParaRPr lang="en-US" sz="1200" dirty="0"/>
          </a:p>
        </p:txBody>
      </p:sp>
      <p:sp>
        <p:nvSpPr>
          <p:cNvPr id="29" name="Text 2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console loop runs while Run.GetStatusAsync() returns PendingRequests.</a:t>
            </a:r>
            <a:endParaRPr lang="en-US" sz="1400" dirty="0"/>
          </a:p>
        </p:txBody>
      </p:sp>
      <p:sp>
        <p:nvSpPr>
          <p:cNvPr id="30"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31"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Magentic's plan sign-off uses the same mechanism</a:t>
            </a:r>
            <a:endParaRPr lang="en-US" sz="25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RequirePlanSignoff</a:t>
            </a:r>
            <a:endParaRPr lang="en-US" sz="15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 by default. Pauses after the manager drafts its plan.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Payload</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MagenticPlanReviewRequest in the RequestInfoEvent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Answer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Approve() or Revise(feedback), then CreateResponse</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Resume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Run.ResumeAsync, the loop in this lesson's Main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Magentic's port is built in and reviews the plan. A RequestPort goes anywhere you place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approvals, two levels</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9: one tool call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Pauses one agent before one function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ToolApprovalRequestContent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Resumed by continuing the AgentSession</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17: work between agents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agent is paused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RequestPort and RequestInfoEvent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pause belongs to the workflow's Run</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Because the Run owns the pause, Lesson 18 can checkpoint it.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Pause, review, approve</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000" dirty="0">
                <a:solidFill>
                  <a:srgbClr val="FF9B9B"/>
                </a:solidFill>
                <a:latin typeface="Courier New" pitchFamily="34" charset="0"/>
                <a:ea typeface="Courier New" pitchFamily="34" charset="-122"/>
                <a:cs typeface="Courier New" pitchFamily="34" charset="-120"/>
              </a:rPr>
              <a:t># Re-capture pending: run with OPENAI_API_KEY set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Human-in-the-Loop: review the researcher's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facts before the writer runs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Topic: the planet Saturn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Run status: PendingRequests. Round 1 facts from</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ResearchAgent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Type 'y' to approve, or type feedback to send the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facts back: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Approved. Output from WriterExecutor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Final run status: Idle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Pause first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writer does not run before review</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Revise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Feedback produces a Round 2 list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Approve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Only then does the paragraph appear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paused run owned by the workflow</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Checkpoints its own paused run and restores it in a new process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RequestPort placed in your own graph</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Designs the report-approval port between Analyst and Writer</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Lesson 9's approval types as port types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Builds the port with ToolApprovalRequestContent and its response</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PendingRequests and Run.ResumeAsync</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Answers the approval at the console and resumes the run</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pause as an external request</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Surfaces as an mcp_approval_request over the Responses protocol</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17 — Human-in-the-Loop</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17 — Human-in-the-Loop</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2026-10-07T23:53:46Z</dcterms:created>
  <dcterms:modified xsi:type="dcterms:W3CDTF">2026-10-07T23:53:46Z</dcterms:modified>
</cp:coreProperties>
</file>