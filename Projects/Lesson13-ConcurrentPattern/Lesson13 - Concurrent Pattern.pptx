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independent specialist agents, SeoAgent, LegalAgent and ToneAgent, react to the same marketing headline at the same time through AgentWorkflowBuilder.BuildConcurrent, and their responses are merged into a single result with a custom aggregator. Unlike Lesson 12's sequential pipeline, none of these agents depends on another's output. They are independent sub-tasks, so running them concurrently is a real, measured speedup, not just a different code shape. This lesson assumes Lesson 12: AgentWorkflowBuilder, InProcessExecution.RunAsync, and the List&lt;ChatMessage&gt; output shape. Setup is unchanged from Lesson 12: Microsoft.Agents.AI and Microsoft.Agents.AI.Workflows 1.24.0, Microsoft.Extensions.AI.OpenAI 10.10.1 and OpenAI 2.14.0, with OPENAI_API_KEY in the environment. BuildConcurrent is a sibling of BuildSequential in the same Microsoft.Agents.AI.Workflows namespace. MAF_LLM and MAF_MODEL are both required, with no built-in defaults: set MAF_LLM to OPENAI and MAF_MODEL to gpt-4.1-mini, the values the demos use, or pick AZURE, GEMINI, OLLAMA or LMSTUDIO with a model that provider serves; on Gemini use gemini-2.5-flash, because the factory refuses Gemini 3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BuildConcurrent runs every agent against the same input at once, and an aggregator merges the results. AgentWorkflowBuilder.BuildConcurrent(agents, aggregator) sends the same input to every agent, waits for all of them to finish, then hands their results to an aggregator: a Func that takes an IList of List&lt;ChatMessage&gt;, one list per agent, and returns a single List&lt;ChatMessage&gt;. The aggregator is optional. Leave it out and the workflow keeps the last message from each agent. This lesson passes its own, ReviewAggregator.Combine, so the merge rule is visible in the code and easy to change. That one call, BuildConcurrent with the three agents and ReviewAggregator.Combine, is the entire orchestration step. The agents can be given in any order; unlike Lesson 12, order does not matter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aggregator receives each agent's whole conversation, input included. It gets one List&lt;ChatMessage&gt; per agent, and each list holds that agent's side of the run: the shared headline as a User message, followed by the agent's Assistant reply. Concatenating the lists as they are would repeat the headline once per agent, so ReviewAggregator.Combine selects the ChatRole.Assistant messages, which are the agents' replies, and merges only those. In code, Where(message =&gt; message.Role == ChatRole.Assistant) keeps the replies, and SelectMany flattens them into one list with exactly one message per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Concurrency here is real, not just a different API shape: the program times the identical three agents both ways. Running seoAgent, legalAgent and toneAgent one after another, with three plain RunAsync calls and no workflow at all, took about 13.2 seconds. Running the same three agents through BuildConcurrent took about 5.4 seconds: close to the time of the single slowest agent, not the sum of all three, because all three model calls are genuinely in flight at the same time. The figures on the slide are from the lesson's captured run; yours will vary with network and model latency, but the concurrent run will consistently be well under the sequential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right tool specifically because the three agents don't need each other's output. SeoAgent, LegalAgent and ToneAgent all react to the same headline in isolation; none of them needs to see what the others said. That independence is what makes concurrency safe here. Lesson 12's DraftAgent and EditorAgent pipeline couldn't be parallelized this way, because each step's whole job was to consume the previous one's output. The agents themselves are built exactly as in Lesson 12, through AgentFactory.CreateAgent; the difference is entirely in how they are invoked.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AgentWorkflowBuilder.CreateConcurrentBuilderWith(agents) is the fluent equivalent, returning a ConcurrentWorkflowBuilder, just as CreateSequentialBuilderWith returns a SequentialWorkflowBuilder for the sequential pattern. It offers WithAggregator, WithName, WithDescription, WithOutputFrom and WithIntermediateOutputFrom, then Build. This lesson uses the static BuildConcurrent shortcut because only the aggregator needs configuring; reach for the fluent form when you need the naming or output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sequential baseline runs first, then the concurrent workflow. The two elapsed times are the point of the lesson: the concurrent run finishes in roughly the time of one agent's response, not three. The merged output contains exactly three messages, one per agent, with no duplicated headline. The exact wording and millisecond counts will vary between runs, since every response is a live model call and latency isn't fixed, but the shape holds. On the slide, the long review lines are rewrapped to fit the panel; no words were changed or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lesson's ideas go. BuildConcurrent's shape is fixed before the run starts; Lesson 14's handoff pattern makes the routing decision at run time, through a triage agent's own judgment. Concurrent agents never see each other's output; Lesson 15's group chat is the opposite, where every agent sees every prior contribution before it speaks. Our aggregator returns the merged transcript; Lesson 16's Magentic-One pattern is the first to return a single message, synthesized by the manager agent. And concurrency only applies to independent work. The capstone's Researcher, Analyst and Writer each consume the previous step's output, so they run in a fixed order; Lesson 24's review lists this lesson as ready for a wider pipeline, with several Researchers working different angles concurrently and their findings merged before the Analyst.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13  ·  PHASE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Concurrent Pattern</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Independent agents, one input, run at once</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 12's BuildSequential</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Lesson13-ConcurrentPattern/</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Fanning one input out to several agents with BuildConcurrent</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Merging their answers with an aggregator</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the aggregator receives from each agent</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Measuring the real speedup over running them in turn</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When agents are independent enough to run concurrently</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13 — Concurrent Pattern</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BuildConcurrent: fan out, then merge</a:t>
            </a:r>
            <a:endParaRPr lang="en-US" sz="2800" dirty="0"/>
          </a:p>
        </p:txBody>
      </p:sp>
      <p:sp>
        <p:nvSpPr>
          <p:cNvPr id="4" name="Shape 2"/>
          <p:cNvSpPr/>
          <p:nvPr/>
        </p:nvSpPr>
        <p:spPr>
          <a:xfrm>
            <a:off x="457200" y="1417320"/>
            <a:ext cx="1796796" cy="2185416"/>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One headline</a:t>
            </a:r>
            <a:endParaRPr lang="en-US" sz="1500" dirty="0"/>
          </a:p>
        </p:txBody>
      </p:sp>
      <p:sp>
        <p:nvSpPr>
          <p:cNvPr id="8" name="Text 5"/>
          <p:cNvSpPr txBox="1"/>
          <p:nvPr/>
        </p:nvSpPr>
        <p:spPr>
          <a:xfrm>
            <a:off x="640080"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"Buy Now, Regret Never!" goes to every agent</a:t>
            </a:r>
            <a:endParaRPr lang="en-US" sz="1200" dirty="0"/>
          </a:p>
        </p:txBody>
      </p:sp>
      <p:sp>
        <p:nvSpPr>
          <p:cNvPr id="9" name="Shape 6"/>
          <p:cNvSpPr/>
          <p:nvPr/>
        </p:nvSpPr>
        <p:spPr>
          <a:xfrm>
            <a:off x="2318004"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185416"/>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Three agents</a:t>
            </a:r>
            <a:endParaRPr lang="en-US" sz="1500" dirty="0"/>
          </a:p>
        </p:txBody>
      </p:sp>
      <p:sp>
        <p:nvSpPr>
          <p:cNvPr id="14" name="Text 10"/>
          <p:cNvSpPr txBox="1"/>
          <p:nvPr/>
        </p:nvSpPr>
        <p:spPr>
          <a:xfrm>
            <a:off x="2784348"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SeoAgent, LegalAgent and ToneAgent run at the same time</a:t>
            </a:r>
            <a:endParaRPr lang="en-US" sz="1200" dirty="0"/>
          </a:p>
        </p:txBody>
      </p:sp>
      <p:sp>
        <p:nvSpPr>
          <p:cNvPr id="15" name="Shape 11"/>
          <p:cNvSpPr/>
          <p:nvPr/>
        </p:nvSpPr>
        <p:spPr>
          <a:xfrm>
            <a:off x="4462272"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185416"/>
          </a:xfrm>
          <a:prstGeom prst="roundRect">
            <a:avLst>
              <a:gd name="adj" fmla="val 4071"/>
            </a:avLst>
          </a:prstGeom>
          <a:solidFill>
            <a:srgbClr val="512BD4"/>
          </a:solidFill>
          <a:ln w="12700">
            <a:solidFill>
              <a:srgbClr val="512BD4"/>
            </a:solidFill>
            <a:prstDash val="solid"/>
          </a:ln>
        </p:spPr>
      </p:sp>
      <p:sp>
        <p:nvSpPr>
          <p:cNvPr id="17" name="Shape 13"/>
          <p:cNvSpPr/>
          <p:nvPr/>
        </p:nvSpPr>
        <p:spPr>
          <a:xfrm>
            <a:off x="4928616"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Aggregator</a:t>
            </a:r>
            <a:endParaRPr lang="en-US" sz="1500" dirty="0"/>
          </a:p>
        </p:txBody>
      </p:sp>
      <p:sp>
        <p:nvSpPr>
          <p:cNvPr id="20" name="Text 15"/>
          <p:cNvSpPr txBox="1"/>
          <p:nvPr/>
        </p:nvSpPr>
        <p:spPr>
          <a:xfrm>
            <a:off x="4928616" y="2606040"/>
            <a:ext cx="1476756"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Turns several answers into one result list</a:t>
            </a:r>
            <a:endParaRPr lang="en-US" sz="1200" dirty="0"/>
          </a:p>
        </p:txBody>
      </p:sp>
      <p:sp>
        <p:nvSpPr>
          <p:cNvPr id="21" name="Shape 16"/>
          <p:cNvSpPr/>
          <p:nvPr/>
        </p:nvSpPr>
        <p:spPr>
          <a:xfrm>
            <a:off x="6606540"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185416"/>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Merged result</a:t>
            </a:r>
            <a:endParaRPr lang="en-US" sz="1500" dirty="0"/>
          </a:p>
        </p:txBody>
      </p:sp>
      <p:sp>
        <p:nvSpPr>
          <p:cNvPr id="26" name="Text 20"/>
          <p:cNvSpPr txBox="1"/>
          <p:nvPr/>
        </p:nvSpPr>
        <p:spPr>
          <a:xfrm>
            <a:off x="7072884"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List&lt;ChatMessage&gt; with one review per agent</a:t>
            </a:r>
            <a:endParaRPr lang="en-US" sz="1200" dirty="0"/>
          </a:p>
        </p:txBody>
      </p:sp>
      <p:sp>
        <p:nvSpPr>
          <p:cNvPr id="27" name="Text 21"/>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aggregator is optional: leave it out and you get each agent's last message.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13 — Concurrent Pattern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00" b="1" dirty="0">
                <a:solidFill>
                  <a:srgbClr val="1F2937"/>
                </a:solidFill>
                <a:latin typeface="Cambria" pitchFamily="34" charset="0"/>
                <a:ea typeface="Cambria" pitchFamily="34" charset="-122"/>
                <a:cs typeface="Cambria" pitchFamily="34" charset="-120"/>
              </a:rPr>
              <a:t>The aggregator sees each agent's whole conversation</a:t>
            </a:r>
            <a:endParaRPr lang="en-US" sz="2400" dirty="0"/>
          </a:p>
        </p:txBody>
      </p:sp>
      <p:sp>
        <p:nvSpPr>
          <p:cNvPr id="4" name="Shape 2"/>
          <p:cNvSpPr/>
          <p:nvPr/>
        </p:nvSpPr>
        <p:spPr>
          <a:xfrm>
            <a:off x="457200" y="1371600"/>
            <a:ext cx="3931920" cy="2103120"/>
          </a:xfrm>
          <a:prstGeom prst="roundRect">
            <a:avLst>
              <a:gd name="adj" fmla="val 3478"/>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What arrives</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List&lt;ChatMessage&gt; per agent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shared headline as a User message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Then that agent's Assistant reply</a:t>
            </a:r>
            <a:endParaRPr lang="en-US" sz="1300" dirty="0"/>
          </a:p>
        </p:txBody>
      </p:sp>
      <p:sp>
        <p:nvSpPr>
          <p:cNvPr id="9" name="Shape 6"/>
          <p:cNvSpPr/>
          <p:nvPr/>
        </p:nvSpPr>
        <p:spPr>
          <a:xfrm>
            <a:off x="4754880" y="1371600"/>
            <a:ext cx="3931920" cy="2103120"/>
          </a:xfrm>
          <a:prstGeom prst="roundRect">
            <a:avLst>
              <a:gd name="adj" fmla="val 3478"/>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ReviewAggregator.Combine</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Selects the ChatRole.Assistant replies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Flattens them with SelectMany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Exactly one message per agent</a:t>
            </a:r>
            <a:endParaRPr lang="en-US" sz="1300" dirty="0"/>
          </a:p>
        </p:txBody>
      </p:sp>
      <p:sp>
        <p:nvSpPr>
          <p:cNvPr id="14" name="Text 10"/>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Merge what each agent contributed, not the input they shared.</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13 — Concurrent Pattern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measured speedup, not a new code shape</a:t>
            </a:r>
            <a:endParaRPr lang="en-US" sz="2800" dirty="0"/>
          </a:p>
        </p:txBody>
      </p:sp>
      <p:sp>
        <p:nvSpPr>
          <p:cNvPr id="4" name="Shape 2"/>
          <p:cNvSpPr/>
          <p:nvPr/>
        </p:nvSpPr>
        <p:spPr>
          <a:xfrm>
            <a:off x="457200" y="1371600"/>
            <a:ext cx="2560320" cy="2103120"/>
          </a:xfrm>
          <a:prstGeom prst="roundRect">
            <a:avLst>
              <a:gd name="adj" fmla="val 347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2000" b="1" dirty="0">
                <a:solidFill>
                  <a:srgbClr val="1F2937"/>
                </a:solidFill>
                <a:latin typeface="Calibri" pitchFamily="34" charset="0"/>
                <a:ea typeface="Calibri" pitchFamily="34" charset="-122"/>
                <a:cs typeface="Calibri" pitchFamily="34" charset="-120"/>
              </a:rPr>
              <a:t>13,246 ms</a:t>
            </a:r>
            <a:endParaRPr lang="en-US" sz="2000" dirty="0"/>
          </a:p>
        </p:txBody>
      </p:sp>
      <p:sp>
        <p:nvSpPr>
          <p:cNvPr id="8" name="Text 5"/>
          <p:cNvSpPr txBox="1"/>
          <p:nvPr/>
        </p:nvSpPr>
        <p:spPr>
          <a:xfrm>
            <a:off x="64008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Sequential baseline: three plain RunAsync calls, one after another</a:t>
            </a:r>
            <a:endParaRPr lang="en-US" sz="1200" dirty="0"/>
          </a:p>
        </p:txBody>
      </p:sp>
      <p:sp>
        <p:nvSpPr>
          <p:cNvPr id="9" name="Shape 6"/>
          <p:cNvSpPr/>
          <p:nvPr/>
        </p:nvSpPr>
        <p:spPr>
          <a:xfrm>
            <a:off x="3291840" y="1371600"/>
            <a:ext cx="2560320" cy="2103120"/>
          </a:xfrm>
          <a:prstGeom prst="roundRect">
            <a:avLst>
              <a:gd name="adj" fmla="val 3478"/>
            </a:avLst>
          </a:prstGeom>
          <a:solidFill>
            <a:srgbClr val="512BD4"/>
          </a:solidFill>
          <a:ln w="12700">
            <a:solidFill>
              <a:srgbClr val="512BD4"/>
            </a:solidFill>
            <a:prstDash val="solid"/>
          </a:ln>
        </p:spPr>
      </p:sp>
      <p:sp>
        <p:nvSpPr>
          <p:cNvPr id="10" name="Shape 7"/>
          <p:cNvSpPr/>
          <p:nvPr/>
        </p:nvSpPr>
        <p:spPr>
          <a:xfrm>
            <a:off x="347472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5,356 ms</a:t>
            </a:r>
            <a:endParaRPr lang="en-US" sz="2000" dirty="0"/>
          </a:p>
        </p:txBody>
      </p:sp>
      <p:sp>
        <p:nvSpPr>
          <p:cNvPr id="13" name="Text 9"/>
          <p:cNvSpPr txBox="1"/>
          <p:nvPr/>
        </p:nvSpPr>
        <p:spPr>
          <a:xfrm>
            <a:off x="3474720" y="2057400"/>
            <a:ext cx="2194560" cy="13258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same three agents through BuildConcurrent</a:t>
            </a:r>
            <a:endParaRPr lang="en-US" sz="1200" dirty="0"/>
          </a:p>
        </p:txBody>
      </p:sp>
      <p:sp>
        <p:nvSpPr>
          <p:cNvPr id="14" name="Shape 10"/>
          <p:cNvSpPr/>
          <p:nvPr/>
        </p:nvSpPr>
        <p:spPr>
          <a:xfrm>
            <a:off x="6126480" y="1371600"/>
            <a:ext cx="2560320" cy="2103120"/>
          </a:xfrm>
          <a:prstGeom prst="roundRect">
            <a:avLst>
              <a:gd name="adj" fmla="val 3478"/>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Slowest, not sum</a:t>
            </a:r>
            <a:endParaRPr lang="en-US" sz="1500" dirty="0"/>
          </a:p>
        </p:txBody>
      </p:sp>
      <p:sp>
        <p:nvSpPr>
          <p:cNvPr id="18" name="Text 13"/>
          <p:cNvSpPr txBox="1"/>
          <p:nvPr/>
        </p:nvSpPr>
        <p:spPr>
          <a:xfrm>
            <a:off x="630936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Concurrent time is close to the single slowest agent</a:t>
            </a:r>
            <a:endParaRPr lang="en-US" sz="1200" dirty="0"/>
          </a:p>
        </p:txBody>
      </p:sp>
      <p:sp>
        <p:nvSpPr>
          <p:cNvPr id="19" name="Text 14"/>
          <p:cNvSpPr txBox="1"/>
          <p:nvPr/>
        </p:nvSpPr>
        <p:spPr>
          <a:xfrm>
            <a:off x="457200" y="37033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Independent work should not pay for being ordered anyway.</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13 — Concurrent Pattern</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Only for agents that don't need each other</a:t>
            </a:r>
            <a:endParaRPr lang="en-US" sz="2800" dirty="0"/>
          </a:p>
        </p:txBody>
      </p:sp>
      <p:sp>
        <p:nvSpPr>
          <p:cNvPr id="4" name="Shape 2"/>
          <p:cNvSpPr/>
          <p:nvPr/>
        </p:nvSpPr>
        <p:spPr>
          <a:xfrm>
            <a:off x="457200" y="1371600"/>
            <a:ext cx="3931920" cy="2103120"/>
          </a:xfrm>
          <a:prstGeom prst="roundRect">
            <a:avLst>
              <a:gd name="adj" fmla="val 3478"/>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13: independent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SeoAgent, LegalAgent, ToneAgent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Each reacts to the same headline alone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Safe to run concurrently</a:t>
            </a:r>
            <a:endParaRPr lang="en-US" sz="1300" dirty="0"/>
          </a:p>
        </p:txBody>
      </p:sp>
      <p:sp>
        <p:nvSpPr>
          <p:cNvPr id="9" name="Shape 6"/>
          <p:cNvSpPr/>
          <p:nvPr/>
        </p:nvSpPr>
        <p:spPr>
          <a:xfrm>
            <a:off x="4754880" y="1371600"/>
            <a:ext cx="3931920" cy="2103120"/>
          </a:xfrm>
          <a:prstGeom prst="roundRect">
            <a:avLst>
              <a:gd name="adj" fmla="val 3478"/>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6B7280"/>
          </a:solidFill>
          <a:ln w="12700">
            <a:solidFill>
              <a:srgbClr val="6B7280"/>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12: dependent</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DraftAgent, then EditorAgent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Each step consumes the previous output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Cannot be parallelized this way</a:t>
            </a:r>
            <a:endParaRPr lang="en-US" sz="1300" dirty="0"/>
          </a:p>
        </p:txBody>
      </p:sp>
      <p:sp>
        <p:nvSpPr>
          <p:cNvPr id="14" name="Text 10"/>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Independence is what makes concurrency safe.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13 — Concurrent Pattern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fluent builder does the same job</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6858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CreateConcurrent</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BuilderWith</a:t>
            </a:r>
            <a:endParaRPr lang="en-US" sz="1600" dirty="0"/>
          </a:p>
        </p:txBody>
      </p:sp>
      <p:sp>
        <p:nvSpPr>
          <p:cNvPr id="8" name="Text 5"/>
          <p:cNvSpPr txBox="1"/>
          <p:nvPr/>
        </p:nvSpPr>
        <p:spPr>
          <a:xfrm>
            <a:off x="685800" y="2990088"/>
            <a:ext cx="2057400" cy="713232"/>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Fluent equivalent of BuildConcurrent, like SequentialWorkflowBuilder for BuildSequential.</a:t>
            </a:r>
            <a:endParaRPr lang="en-US" sz="115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325880" cy="27432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WithAggregator</a:t>
            </a:r>
            <a:endParaRPr lang="en-US" sz="12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same merge function</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Naming</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WithName and WithDescription</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325880" cy="27432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WithOutputFrom</a:t>
            </a:r>
            <a:endParaRPr lang="en-US" sz="12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Which agents produce output</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325880" cy="27432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Intermediate</a:t>
            </a:r>
            <a:endParaRPr lang="en-US" sz="145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WithIntermediateOutputFrom</a:t>
            </a:r>
            <a:endParaRPr lang="en-US" sz="1200" dirty="0"/>
          </a:p>
        </p:txBody>
      </p:sp>
      <p:sp>
        <p:nvSpPr>
          <p:cNvPr id="33" name="Text 26"/>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lesson uses the static shortcut, since only the aggregator needs configuring.</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13 — Concurrent Pattern</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Faster, and exactly three reviews</a:t>
            </a:r>
            <a:endParaRPr lang="en-US" sz="2800" dirty="0"/>
          </a:p>
        </p:txBody>
      </p:sp>
      <p:sp>
        <p:nvSpPr>
          <p:cNvPr id="4" name="Shape 2"/>
          <p:cNvSpPr/>
          <p:nvPr/>
        </p:nvSpPr>
        <p:spPr>
          <a:xfrm>
            <a:off x="457200" y="1325880"/>
            <a:ext cx="8229600" cy="2392680"/>
          </a:xfrm>
          <a:prstGeom prst="roundRect">
            <a:avLst>
              <a:gd name="adj" fmla="val 3057"/>
            </a:avLst>
          </a:prstGeom>
          <a:solidFill>
            <a:srgbClr val="0F1420"/>
          </a:solidFill>
          <a:ln w="12700">
            <a:solidFill>
              <a:srgbClr val="0F1420"/>
            </a:solidFill>
            <a:prstDash val="solid"/>
          </a:ln>
        </p:spPr>
      </p:sp>
      <p:sp>
        <p:nvSpPr>
          <p:cNvPr id="5" name="Text 3"/>
          <p:cNvSpPr txBox="1"/>
          <p:nvPr/>
        </p:nvSpPr>
        <p:spPr>
          <a:xfrm>
            <a:off x="640080" y="1463040"/>
            <a:ext cx="7863840" cy="21183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Sequential baseline (same three agents, one after another)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Sequential elapsed: 13246ms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Concurrent workflow (BuildConcurrent)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Concurrent elapsed: 5356ms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Merged 3 independent review(s):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[SeoAgent] Add a specific product/service keyword to inform search</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engines and users what you're selling.</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[LegalAgent] The absolute claim "Regret Never!" could be deemed a</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misleading or deceptive trade practice, potentially leading to</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consumer complaints and legal challenges if customers experience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any dissatisfaction.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[ToneAgent] Enthusiastic and slightly audacious.</a:t>
            </a:r>
            <a:endParaRPr lang="en-US" sz="1000" dirty="0"/>
          </a:p>
        </p:txBody>
      </p:sp>
      <p:sp>
        <p:nvSpPr>
          <p:cNvPr id="6" name="Text 4"/>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13 — Concurrent Pattern</a:t>
            </a:r>
            <a:endParaRPr lang="en-US" sz="900" dirty="0"/>
          </a:p>
        </p:txBody>
      </p:sp>
      <p:sp>
        <p:nvSpPr>
          <p:cNvPr id="7" name="Text 5"/>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587502"/>
          </a:xfrm>
          <a:prstGeom prst="roundRect">
            <a:avLst>
              <a:gd name="adj" fmla="val 12451"/>
            </a:avLst>
          </a:prstGeom>
          <a:solidFill>
            <a:srgbClr val="1F2943"/>
          </a:solidFill>
          <a:ln w="12700">
            <a:solidFill>
              <a:srgbClr val="1F2943"/>
            </a:solidFill>
            <a:prstDash val="solid"/>
          </a:ln>
        </p:spPr>
      </p:sp>
      <p:sp>
        <p:nvSpPr>
          <p:cNvPr id="5" name="Text 3"/>
          <p:cNvSpPr txBox="1"/>
          <p:nvPr/>
        </p:nvSpPr>
        <p:spPr>
          <a:xfrm>
            <a:off x="621792" y="123444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fan-out whose shape is fixed in advance</a:t>
            </a:r>
            <a:endParaRPr lang="en-US" sz="1300" dirty="0"/>
          </a:p>
        </p:txBody>
      </p:sp>
      <p:sp>
        <p:nvSpPr>
          <p:cNvPr id="6" name="Shape 4"/>
          <p:cNvSpPr/>
          <p:nvPr/>
        </p:nvSpPr>
        <p:spPr>
          <a:xfrm>
            <a:off x="3493008" y="1436751"/>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14  </a:t>
            </a:r>
            <a:pPr indent="0" marL="0">
              <a:buNone/>
            </a:pPr>
            <a:r>
              <a:rPr lang="en-US" sz="1250" dirty="0">
                <a:solidFill>
                  <a:srgbClr val="FFFFFF"/>
                </a:solidFill>
                <a:latin typeface="Calibri" pitchFamily="34" charset="0"/>
                <a:ea typeface="Calibri" pitchFamily="34" charset="-122"/>
                <a:cs typeface="Calibri" pitchFamily="34" charset="-120"/>
              </a:rPr>
              <a:t>Handoff: a triage agent picks the specialist at run time</a:t>
            </a:r>
            <a:endParaRPr lang="en-US" sz="1250" dirty="0"/>
          </a:p>
        </p:txBody>
      </p:sp>
      <p:sp>
        <p:nvSpPr>
          <p:cNvPr id="8" name="Shape 6"/>
          <p:cNvSpPr/>
          <p:nvPr/>
        </p:nvSpPr>
        <p:spPr>
          <a:xfrm>
            <a:off x="457200" y="1931670"/>
            <a:ext cx="2926080" cy="587502"/>
          </a:xfrm>
          <a:prstGeom prst="roundRect">
            <a:avLst>
              <a:gd name="adj" fmla="val 12451"/>
            </a:avLst>
          </a:prstGeom>
          <a:solidFill>
            <a:srgbClr val="1F2943"/>
          </a:solidFill>
          <a:ln w="12700">
            <a:solidFill>
              <a:srgbClr val="1F2943"/>
            </a:solidFill>
            <a:prstDash val="solid"/>
          </a:ln>
        </p:spPr>
      </p:sp>
      <p:sp>
        <p:nvSpPr>
          <p:cNvPr id="9" name="Text 7"/>
          <p:cNvSpPr txBox="1"/>
          <p:nvPr/>
        </p:nvSpPr>
        <p:spPr>
          <a:xfrm>
            <a:off x="621792" y="193167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Agents isolated from each other's output</a:t>
            </a:r>
            <a:endParaRPr lang="en-US" sz="1300" dirty="0"/>
          </a:p>
        </p:txBody>
      </p:sp>
      <p:sp>
        <p:nvSpPr>
          <p:cNvPr id="10" name="Shape 8"/>
          <p:cNvSpPr/>
          <p:nvPr/>
        </p:nvSpPr>
        <p:spPr>
          <a:xfrm>
            <a:off x="3493008" y="2133981"/>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93167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15  </a:t>
            </a:r>
            <a:pPr indent="0" marL="0">
              <a:buNone/>
            </a:pPr>
            <a:r>
              <a:rPr lang="en-US" sz="1250" dirty="0">
                <a:solidFill>
                  <a:srgbClr val="FFFFFF"/>
                </a:solidFill>
                <a:latin typeface="Calibri" pitchFamily="34" charset="0"/>
                <a:ea typeface="Calibri" pitchFamily="34" charset="-122"/>
                <a:cs typeface="Calibri" pitchFamily="34" charset="-120"/>
              </a:rPr>
              <a:t>Group chat: every agent sees the whole conversation first</a:t>
            </a:r>
            <a:endParaRPr lang="en-US" sz="1250" dirty="0"/>
          </a:p>
        </p:txBody>
      </p:sp>
      <p:sp>
        <p:nvSpPr>
          <p:cNvPr id="12" name="Shape 10"/>
          <p:cNvSpPr/>
          <p:nvPr/>
        </p:nvSpPr>
        <p:spPr>
          <a:xfrm>
            <a:off x="457200" y="2628900"/>
            <a:ext cx="2926080" cy="587502"/>
          </a:xfrm>
          <a:prstGeom prst="roundRect">
            <a:avLst>
              <a:gd name="adj" fmla="val 12451"/>
            </a:avLst>
          </a:prstGeom>
          <a:solidFill>
            <a:srgbClr val="1F2943"/>
          </a:solidFill>
          <a:ln w="12700">
            <a:solidFill>
              <a:srgbClr val="1F2943"/>
            </a:solidFill>
            <a:prstDash val="solid"/>
          </a:ln>
        </p:spPr>
      </p:sp>
      <p:sp>
        <p:nvSpPr>
          <p:cNvPr id="13" name="Text 11"/>
          <p:cNvSpPr txBox="1"/>
          <p:nvPr/>
        </p:nvSpPr>
        <p:spPr>
          <a:xfrm>
            <a:off x="621792" y="262890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aggregator returns the merged transcript</a:t>
            </a:r>
            <a:endParaRPr lang="en-US" sz="1300" dirty="0"/>
          </a:p>
        </p:txBody>
      </p:sp>
      <p:sp>
        <p:nvSpPr>
          <p:cNvPr id="14" name="Shape 12"/>
          <p:cNvSpPr/>
          <p:nvPr/>
        </p:nvSpPr>
        <p:spPr>
          <a:xfrm>
            <a:off x="3493008" y="2831211"/>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62890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16  </a:t>
            </a:r>
            <a:pPr indent="0" marL="0">
              <a:buNone/>
            </a:pPr>
            <a:r>
              <a:rPr lang="en-US" sz="1250" dirty="0">
                <a:solidFill>
                  <a:srgbClr val="FFFFFF"/>
                </a:solidFill>
                <a:latin typeface="Calibri" pitchFamily="34" charset="0"/>
                <a:ea typeface="Calibri" pitchFamily="34" charset="-122"/>
                <a:cs typeface="Calibri" pitchFamily="34" charset="-120"/>
              </a:rPr>
              <a:t>Magentic returns one message synthesized by the manager</a:t>
            </a:r>
            <a:endParaRPr lang="en-US" sz="1250" dirty="0"/>
          </a:p>
        </p:txBody>
      </p:sp>
      <p:sp>
        <p:nvSpPr>
          <p:cNvPr id="16" name="Shape 14"/>
          <p:cNvSpPr/>
          <p:nvPr/>
        </p:nvSpPr>
        <p:spPr>
          <a:xfrm>
            <a:off x="457200" y="3326130"/>
            <a:ext cx="2926080" cy="587502"/>
          </a:xfrm>
          <a:prstGeom prst="roundRect">
            <a:avLst>
              <a:gd name="adj" fmla="val 12451"/>
            </a:avLst>
          </a:prstGeom>
          <a:solidFill>
            <a:srgbClr val="1F2943"/>
          </a:solidFill>
          <a:ln w="12700">
            <a:solidFill>
              <a:srgbClr val="1F2943"/>
            </a:solidFill>
            <a:prstDash val="solid"/>
          </a:ln>
        </p:spPr>
      </p:sp>
      <p:sp>
        <p:nvSpPr>
          <p:cNvPr id="17" name="Text 15"/>
          <p:cNvSpPr txBox="1"/>
          <p:nvPr/>
        </p:nvSpPr>
        <p:spPr>
          <a:xfrm>
            <a:off x="621792" y="332613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Concurrency needs independent stages</a:t>
            </a:r>
            <a:endParaRPr lang="en-US" sz="1300" dirty="0"/>
          </a:p>
        </p:txBody>
      </p:sp>
      <p:sp>
        <p:nvSpPr>
          <p:cNvPr id="18" name="Shape 16"/>
          <p:cNvSpPr/>
          <p:nvPr/>
        </p:nvSpPr>
        <p:spPr>
          <a:xfrm>
            <a:off x="3493008" y="3528441"/>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32613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Capstone review: parallel Researchers, merged before the Analyst</a:t>
            </a:r>
            <a:endParaRPr lang="en-US" sz="1250" dirty="0"/>
          </a:p>
        </p:txBody>
      </p:sp>
      <p:sp>
        <p:nvSpPr>
          <p:cNvPr id="20" name="Text 18"/>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2 orchestration toolkit (ready for a wider capstone pipeline)</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13 — Concurrent Pattern</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13 — Concurrent Pattern</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2026-10-08T00:09:30Z</dcterms:created>
  <dcterms:modified xsi:type="dcterms:W3CDTF">2026-10-08T00:09:30Z</dcterms:modified>
</cp:coreProperties>
</file>