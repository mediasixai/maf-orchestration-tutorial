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we push an agent past plain text in two directions. First, we force it to return a strongly-typed RecipeIdea object instead of free-form prose via RunAsync of T. Second, we send it an image alongside a text prompt via a multi-content ChatMessage, so it can reason about what it sees. Both are one-call features on the exact same agent type we've used since Lesson 1: no new abstractions, just richer inputs and outputs. This lesson assumes Lessons 1 and 2: IChatClient, ChatClientAgent, RunAsync and AgentResponse. It is otherwise standalone. Packages and environment variables are the same as Lesson 1: Microsoft.Agents.AI 1.24.0, Microsoft.Extensions.AI.OpenAI 10.10.1, OpenAI 2.14.0, and OPENAI_API_KEY, with MAF_LLM to pick another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RunAsync of T is a generic overload on AIAgent that asks the agent to produce a result of type T instead of free text. It returns a Task of AgentResponse of T. MAF derives a JSON schema from T at the wire level, and the model is instructed to conform to it. Our RecipeIdea class has a DishName, a CuisineType, EstimatedMinutesToCook as an int, and a list of Ingredients. RunStructuredOutputDemoAsync builds an ordinary ChefAgent, a creative chef who suggests simple weeknight dinners. Nothing about its construction is special. The typing happens entirely at the call site: chefAgent.RunAsync of RecipeIdea, instead of the plain RunAsync we've used every other lesson, with the prompt 'Suggest a quick weeknight dinner idea using chicken and 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AgentResponse of T dot Result is the deserialized T instance. response.Result is already a fully-populated RecipeIdea: DishName, CuisineType, EstimatedMinutesToCook and Ingredients are read directly as strongly-typed members, with no JsonSerializer.Deserialize call in sight. AgentResponse of T inherits from AgentResponse, so Text, the raw JSON the model produced, and Messages are still available if you need them. The free-text panel on the left is an illustration of the alternative, not captured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RunAsync of T is the right tool when the target type is known at compile time, which is exactly our case with RecipeIdea. MAF also supports configuring ResponseFormat directly on AgentRunOptions, via ChatResponseFormat.ForJsonSchema of T or a raw JSON schema string. That's for cases where the schema isn't known until run time, or where inter-agent collaboration needs the raw JSON text rather than a deserialized object. This lesson only needs the simpler RunAsync of 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ChatMessage has a Contents list of AIContent items. Mixing a TextContent and a DataContent, or a UriContent, in the same message is how you send 'a question about this picture' as a single, ordinary turn. There's no separate vision agent type. RunMultimodalInputDemoAsync builds a ChatMessage by hand instead of calling RunAsync with a string. Its content list holds a TextContent, the question 'What do you see in this image? Answer in two sentences.', followed by a DataContent with the image bytes and their MIME type. Order doesn't matter to the model, but keeping the question first reads naturally. visionAgent.RunAsync(message) uses the ChatMessage overload rather than the string one: the same method family, just accepting a richer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UriContent tells the model 'here's a link, go fetch it yourself'. Support for this varies by provider: some cannot fetch arbitrary remote URLs and reject the request. DataContent with a byte array and media type embeds the raw bytes directly in the request, which is the more portable choice and what this lesson uses. Downloading the bytes yourself works everywhere. A second caution: a model's image decoder can be pickier than an image viewer. A hand-built PNG that browsers open without complaint can still be rejected by a provider's API with a generic 'unable to process image' error. Re-encoding the same picture with a mainstream image library usually fixes it. So if a provider rejects an image that opens fine everywhere else, re-save it before assuming your code is broken. SampleImage holds a small 256 by 256 PNG of a yellow sun over a blue sky and a green field, base64-encoded, so the lesson has zero external dependencies. In your own code this would usually be File.ReadAllBytes for a local file, or downloaded bytes for a remote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wording will vary by run. The first block is a real RecipeIdea object printed field by field, never a raw JSON string we had to parse. The second block proves the agent genuinely looked at the embedded image: it correctly names the sky, the field and the sun without any of those words appearing in the prompt. On the slide the ingredients list is trimmed after 'lemon' with '...'; the full list continues with garlic, onion, olive oil, oregano, thyme, salt and pepper, and parsley.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lesson's ideas go. Lesson 22 designs the capstone's Analyst to return strict JSON in the AnalysisResult shape: that is Lesson 3's structured-output goal. In the capstone it is a prompt contract plus a parser, a deliberate design choice: the Analyst's instructions spell out the JSON shape, and AnalysisParser strips any code fence and deserializes the reply into AnalysisResult, the same way on every provider MAF_LLM can select. Lesson 22 also builds the pipeline from custom executors, so the graph's edges carry typed contracts, ResearchNotes and then the approval request and response, rather than a chat transcript. Lesson 23 stores the AnalysisResult in workflow state, which is saved in every checkpoint, so the Writer can read it back after the approval pause, even in a new process. Multimodal input is not picked up by a later lesson. All of this ships in the Lessons 22 to 24 capstone. Verified in: Lesson 22 lesson lines 90 and 96; Lesson 23 line 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3  ·  PHASE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3200" b="1" dirty="0">
                <a:solidFill>
                  <a:srgbClr val="FFFFFF"/>
                </a:solidFill>
                <a:latin typeface="Cambria" pitchFamily="34" charset="0"/>
                <a:ea typeface="Cambria" pitchFamily="34" charset="-122"/>
                <a:cs typeface="Cambria" pitchFamily="34" charset="-120"/>
              </a:rPr>
              <a:t>Structured Output and Multimodal Input</a:t>
            </a:r>
            <a:endParaRPr lang="en-US" sz="32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Foundations: richer inputs and outputs</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 1's ChatClientAgent</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Lesson03-StructuredOutputAndMultimodalInput/</a:t>
            </a:r>
            <a:endParaRPr lang="en-US" sz="9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Getting a typed object back with RunAsync&lt;T&gt;</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AgentResponse&lt;T&gt;.Result holds</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When to use ResponseFormat instead</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Sending an image inside a ChatMessage</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DataContent beats UriContent</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3 — Structured Output and Multimodal Input</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RunAsync&lt;T&gt;: ask for a type, get a type</a:t>
            </a:r>
            <a:endParaRPr lang="en-US" sz="28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RecipeIdea</a:t>
            </a:r>
            <a:endParaRPr lang="en-US" sz="15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DishName, CuisineType, minutes, Ingredients</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JSON schema</a:t>
            </a:r>
            <a:endParaRPr lang="en-US" sz="150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MAF derives it from T at the wire level</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Model conforms</a:t>
            </a:r>
            <a:endParaRPr lang="en-US" sz="150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Instructed to reply in that shape</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AgentResponse&lt;T&gt;</a:t>
            </a:r>
            <a:endParaRPr lang="en-US" sz="12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Already deserialized for you</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agent is ordinary. The typing happens entirely at the call site.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3 — Structured Output and Multimodal Input</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No parsing code in sight</a:t>
            </a:r>
            <a:endParaRPr lang="en-US" sz="2800" dirty="0"/>
          </a:p>
        </p:txBody>
      </p:sp>
      <p:sp>
        <p:nvSpPr>
          <p:cNvPr id="4" name="Shape 2"/>
          <p:cNvSpPr/>
          <p:nvPr/>
        </p:nvSpPr>
        <p:spPr>
          <a:xfrm>
            <a:off x="457200" y="1371600"/>
            <a:ext cx="3931920" cy="2606040"/>
          </a:xfrm>
          <a:prstGeom prst="roundRect">
            <a:avLst>
              <a:gd name="adj" fmla="val 2807"/>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Free text</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paragraph you must parse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Format drifts between runs</a:t>
            </a:r>
            <a:endParaRPr lang="en-US" sz="1300" dirty="0"/>
          </a:p>
        </p:txBody>
      </p:sp>
      <p:sp>
        <p:nvSpPr>
          <p:cNvPr id="9" name="Shape 6"/>
          <p:cNvSpPr/>
          <p:nvPr/>
        </p:nvSpPr>
        <p:spPr>
          <a:xfrm>
            <a:off x="685800" y="2907792"/>
            <a:ext cx="3474720" cy="868680"/>
          </a:xfrm>
          <a:prstGeom prst="roundRect">
            <a:avLst>
              <a:gd name="adj" fmla="val 8421"/>
            </a:avLst>
          </a:prstGeom>
          <a:solidFill>
            <a:srgbClr val="0F1420"/>
          </a:solidFill>
          <a:ln w="12700">
            <a:solidFill>
              <a:srgbClr val="0F1420"/>
            </a:solidFill>
            <a:prstDash val="solid"/>
          </a:ln>
        </p:spPr>
      </p:sp>
      <p:sp>
        <p:nvSpPr>
          <p:cNvPr id="10" name="Text 7"/>
          <p:cNvSpPr txBox="1"/>
          <p:nvPr/>
        </p:nvSpPr>
        <p:spPr>
          <a:xfrm>
            <a:off x="868680" y="3044952"/>
            <a:ext cx="3108960" cy="59436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 An illustration</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Try a one-pan lemon herb</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chicken and rice! It takes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about 35 minutes ...</a:t>
            </a:r>
            <a:endParaRPr lang="en-US" sz="1100" dirty="0"/>
          </a:p>
        </p:txBody>
      </p:sp>
      <p:sp>
        <p:nvSpPr>
          <p:cNvPr id="11" name="Shape 8"/>
          <p:cNvSpPr/>
          <p:nvPr/>
        </p:nvSpPr>
        <p:spPr>
          <a:xfrm>
            <a:off x="4754880" y="1371600"/>
            <a:ext cx="3931920" cy="2606040"/>
          </a:xfrm>
          <a:prstGeom prst="roundRect">
            <a:avLst>
              <a:gd name="adj" fmla="val 2807"/>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16A34A"/>
          </a:solidFill>
          <a:ln w="12700">
            <a:solidFill>
              <a:srgbClr val="16A34A"/>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.Result</a:t>
            </a:r>
            <a:endParaRPr lang="en-US" sz="1700" dirty="0"/>
          </a:p>
        </p:txBody>
      </p:sp>
      <p:sp>
        <p:nvSpPr>
          <p:cNvPr id="15" name="Text 11"/>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populated RecipeIdea</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.Text still holds the raw JSON</a:t>
            </a:r>
            <a:endParaRPr lang="en-US" sz="1300" dirty="0"/>
          </a:p>
        </p:txBody>
      </p:sp>
      <p:sp>
        <p:nvSpPr>
          <p:cNvPr id="16" name="Shape 12"/>
          <p:cNvSpPr/>
          <p:nvPr/>
        </p:nvSpPr>
        <p:spPr>
          <a:xfrm>
            <a:off x="4983480" y="2907792"/>
            <a:ext cx="3474720" cy="868680"/>
          </a:xfrm>
          <a:prstGeom prst="roundRect">
            <a:avLst>
              <a:gd name="adj" fmla="val 8421"/>
            </a:avLst>
          </a:prstGeom>
          <a:solidFill>
            <a:srgbClr val="0F1420"/>
          </a:solidFill>
          <a:ln w="12700">
            <a:solidFill>
              <a:srgbClr val="0F1420"/>
            </a:solidFill>
            <a:prstDash val="solid"/>
          </a:ln>
        </p:spPr>
      </p:sp>
      <p:sp>
        <p:nvSpPr>
          <p:cNvPr id="17" name="Text 13"/>
          <p:cNvSpPr txBox="1"/>
          <p:nvPr/>
        </p:nvSpPr>
        <p:spPr>
          <a:xfrm>
            <a:off x="5166360" y="3044952"/>
            <a:ext cx="3108960" cy="594360"/>
          </a:xfrm>
          <a:prstGeom prst="rect">
            <a:avLst/>
          </a:prstGeom>
          <a:noFill/>
          <a:ln/>
        </p:spPr>
        <p:txBody>
          <a:bodyPr wrap="square" lIns="0" tIns="0" rIns="0" bIns="0" rtlCol="0" anchor="t"/>
          <a:lstStyle/>
          <a:p>
            <a:pPr indent="0" marL="0">
              <a:buNone/>
            </a:pPr>
            <a:r>
              <a:rPr lang="en-US" sz="1100" b="1" dirty="0">
                <a:solidFill>
                  <a:srgbClr val="F5A623"/>
                </a:solidFill>
                <a:latin typeface="Courier New" pitchFamily="34" charset="0"/>
                <a:ea typeface="Courier New" pitchFamily="34" charset="-122"/>
                <a:cs typeface="Courier New" pitchFamily="34" charset="-120"/>
              </a:rPr>
              <a:t>recipe.DishName</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recipe.EstimatedMinutesToCook</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recipe.Ingredients</a:t>
            </a:r>
            <a:endParaRPr lang="en-US" sz="1100" dirty="0"/>
          </a:p>
        </p:txBody>
      </p:sp>
      <p:sp>
        <p:nvSpPr>
          <p:cNvPr id="18" name="Text 14"/>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AgentResponse&lt;T&gt; inherits AgentResponse, so .Text and .Messages remain.</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3 — Structured Output and Multimodal Input</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RunAsync&lt;T&gt; or ResponseFormat?</a:t>
            </a:r>
            <a:endParaRPr lang="en-US" sz="2800" dirty="0"/>
          </a:p>
        </p:txBody>
      </p:sp>
      <p:sp>
        <p:nvSpPr>
          <p:cNvPr id="4" name="Shape 2"/>
          <p:cNvSpPr/>
          <p:nvPr/>
        </p:nvSpPr>
        <p:spPr>
          <a:xfrm>
            <a:off x="457200" y="1371600"/>
            <a:ext cx="3931920" cy="1828800"/>
          </a:xfrm>
          <a:prstGeom prst="roundRect">
            <a:avLst>
              <a:gd name="adj" fmla="val 4000"/>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RunAsync&lt;T&gt;</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Type known at compile time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Returns a deserialized object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This lesson's path</a:t>
            </a:r>
            <a:endParaRPr lang="en-US" sz="1300" dirty="0"/>
          </a:p>
        </p:txBody>
      </p:sp>
      <p:sp>
        <p:nvSpPr>
          <p:cNvPr id="9" name="Shape 6"/>
          <p:cNvSpPr/>
          <p:nvPr/>
        </p:nvSpPr>
        <p:spPr>
          <a:xfrm>
            <a:off x="4754880" y="1371600"/>
            <a:ext cx="3931920" cy="1828800"/>
          </a:xfrm>
          <a:prstGeom prst="roundRect">
            <a:avLst>
              <a:gd name="adj" fmla="val 4000"/>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ResponseFormat</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Set on AgentRunOptions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ForJsonSchema&lt;T&gt;() or a raw schema</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Schema at run time, or raw JSON text</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Reach for ResponseFormat when agents need to pass the raw JSON along.</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3 — Structured Output and Multimodal Input</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Multimodal input is just a richer ChatMessage</a:t>
            </a:r>
            <a:endParaRPr lang="en-US" sz="275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ChatMessage</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One user turn whose Contents list mixes AIContent items. No separate vision agent.</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TextContent</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"What do you see in this image?"</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DataContent</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PNG bytes plus "image/png"</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RunAsync(msg)</a:t>
            </a:r>
            <a:endParaRPr lang="en-US" sz="13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ChatMessage overload, same method family</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same RunAsync, given a richer input.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3 — Structured Output and Multimodal Input</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DataContent vs. UriContent</a:t>
            </a:r>
            <a:endParaRPr lang="en-US" sz="2800" dirty="0"/>
          </a:p>
        </p:txBody>
      </p:sp>
      <p:sp>
        <p:nvSpPr>
          <p:cNvPr id="4" name="Shape 2"/>
          <p:cNvSpPr/>
          <p:nvPr/>
        </p:nvSpPr>
        <p:spPr>
          <a:xfrm>
            <a:off x="457200" y="1371600"/>
            <a:ext cx="2560320" cy="2103120"/>
          </a:xfrm>
          <a:prstGeom prst="roundRect">
            <a:avLst>
              <a:gd name="adj" fmla="val 3478"/>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UriContent</a:t>
            </a:r>
            <a:endParaRPr lang="en-US" sz="1500" dirty="0"/>
          </a:p>
        </p:txBody>
      </p:sp>
      <p:sp>
        <p:nvSpPr>
          <p:cNvPr id="8" name="Text 5"/>
          <p:cNvSpPr txBox="1"/>
          <p:nvPr/>
        </p:nvSpPr>
        <p:spPr>
          <a:xfrm>
            <a:off x="640080" y="205740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"Here's a link, go fetch it." Some providers can't, and reject it.</a:t>
            </a:r>
            <a:endParaRPr lang="en-US" sz="1200" dirty="0"/>
          </a:p>
        </p:txBody>
      </p:sp>
      <p:sp>
        <p:nvSpPr>
          <p:cNvPr id="9" name="Shape 6"/>
          <p:cNvSpPr/>
          <p:nvPr/>
        </p:nvSpPr>
        <p:spPr>
          <a:xfrm>
            <a:off x="3291840" y="1371600"/>
            <a:ext cx="2560320" cy="2103120"/>
          </a:xfrm>
          <a:prstGeom prst="roundRect">
            <a:avLst>
              <a:gd name="adj" fmla="val 3478"/>
            </a:avLst>
          </a:prstGeom>
          <a:solidFill>
            <a:srgbClr val="512BD4"/>
          </a:solidFill>
          <a:ln w="12700">
            <a:solidFill>
              <a:srgbClr val="512BD4"/>
            </a:solidFill>
            <a:prstDash val="solid"/>
          </a:ln>
        </p:spPr>
      </p:sp>
      <p:sp>
        <p:nvSpPr>
          <p:cNvPr id="10" name="Shape 7"/>
          <p:cNvSpPr/>
          <p:nvPr/>
        </p:nvSpPr>
        <p:spPr>
          <a:xfrm>
            <a:off x="3474720" y="1554480"/>
            <a:ext cx="384048" cy="38404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DataContent</a:t>
            </a:r>
            <a:endParaRPr lang="en-US" sz="1500" dirty="0"/>
          </a:p>
        </p:txBody>
      </p:sp>
      <p:sp>
        <p:nvSpPr>
          <p:cNvPr id="13" name="Text 9"/>
          <p:cNvSpPr txBox="1"/>
          <p:nvPr/>
        </p:nvSpPr>
        <p:spPr>
          <a:xfrm>
            <a:off x="3474720" y="2057400"/>
            <a:ext cx="2194560" cy="13258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Raw bytes embedded in the request. Works everywhere.</a:t>
            </a:r>
            <a:endParaRPr lang="en-US" sz="1200" dirty="0"/>
          </a:p>
        </p:txBody>
      </p:sp>
      <p:sp>
        <p:nvSpPr>
          <p:cNvPr id="14" name="Shape 10"/>
          <p:cNvSpPr/>
          <p:nvPr/>
        </p:nvSpPr>
        <p:spPr>
          <a:xfrm>
            <a:off x="6126480" y="1371600"/>
            <a:ext cx="2560320" cy="2103120"/>
          </a:xfrm>
          <a:prstGeom prst="roundRect">
            <a:avLst>
              <a:gd name="adj" fmla="val 3478"/>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Picky decoders</a:t>
            </a:r>
            <a:endParaRPr lang="en-US" sz="1500" dirty="0"/>
          </a:p>
        </p:txBody>
      </p:sp>
      <p:sp>
        <p:nvSpPr>
          <p:cNvPr id="18" name="Text 13"/>
          <p:cNvSpPr txBox="1"/>
          <p:nvPr/>
        </p:nvSpPr>
        <p:spPr>
          <a:xfrm>
            <a:off x="6309360" y="205740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If a valid image is rejected, re-save it with a mainstream library</a:t>
            </a:r>
            <a:endParaRPr lang="en-US" sz="1200" dirty="0"/>
          </a:p>
        </p:txBody>
      </p:sp>
      <p:sp>
        <p:nvSpPr>
          <p:cNvPr id="19" name="Text 14"/>
          <p:cNvSpPr txBox="1"/>
          <p:nvPr/>
        </p:nvSpPr>
        <p:spPr>
          <a:xfrm>
            <a:off x="457200" y="37033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SampleImage.GetBytes() decodes an embedded PNG, so the lesson has no network dependency.</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3 — Structured Output and Multimodal Input</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typed recipe and a described image</a:t>
            </a:r>
            <a:endParaRPr lang="en-US" sz="2800" dirty="0"/>
          </a:p>
        </p:txBody>
      </p:sp>
      <p:sp>
        <p:nvSpPr>
          <p:cNvPr id="4" name="Shape 2"/>
          <p:cNvSpPr/>
          <p:nvPr/>
        </p:nvSpPr>
        <p:spPr>
          <a:xfrm>
            <a:off x="457200" y="1325880"/>
            <a:ext cx="5257800" cy="2240280"/>
          </a:xfrm>
          <a:prstGeom prst="roundRect">
            <a:avLst>
              <a:gd name="adj" fmla="val 3265"/>
            </a:avLst>
          </a:prstGeom>
          <a:solidFill>
            <a:srgbClr val="0F1420"/>
          </a:solidFill>
          <a:ln w="12700">
            <a:solidFill>
              <a:srgbClr val="0F1420"/>
            </a:solidFill>
            <a:prstDash val="solid"/>
          </a:ln>
        </p:spPr>
      </p:sp>
      <p:sp>
        <p:nvSpPr>
          <p:cNvPr id="5" name="Text 3"/>
          <p:cNvSpPr txBox="1"/>
          <p:nvPr/>
        </p:nvSpPr>
        <p:spPr>
          <a:xfrm>
            <a:off x="640080" y="1463040"/>
            <a:ext cx="4892040" cy="1965960"/>
          </a:xfrm>
          <a:prstGeom prst="rect">
            <a:avLst/>
          </a:prstGeom>
          <a:noFill/>
          <a:ln/>
        </p:spPr>
        <p:txBody>
          <a:bodyPr wrap="square" lIns="0" tIns="0" rIns="0" bIns="0" rtlCol="0" anchor="t"/>
          <a:lstStyle/>
          <a:p>
            <a:pPr indent="0" marL="0">
              <a:buNone/>
            </a:pPr>
            <a:r>
              <a:rPr lang="en-US" sz="1000" b="1" dirty="0">
                <a:solidFill>
                  <a:srgbClr val="F5A623"/>
                </a:solidFill>
                <a:latin typeface="Courier New" pitchFamily="34" charset="0"/>
                <a:ea typeface="Courier New" pitchFamily="34" charset="-122"/>
                <a:cs typeface="Courier New" pitchFamily="34" charset="-120"/>
              </a:rPr>
              <a:t>=== Structured Output: RecipeIdea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Dish: One-Pan Lemon Herb Chicken and Rice (Mediterranean)</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Estimated time: 35 minutes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Ingredients: 1 lb boneless, skinless chicken thighs or</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breast, cut into 1-inch pieces, 1 cup long-grain white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rice, 2 cups chicken broth, 1 lemon,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Multimodal Input: Image Analysis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This image displays a very simple, almost cartoon-like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depiction of a landscape. The upper half features a bright</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blue sky, while the lower half shows a solid green field,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with a large yellow sun positioned in the upper right.</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Typed fields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Printed field by field, never raw JSON</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It saw the image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Sky, field and sun were never in the prompt</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3 — Structured Output and Multimodal Input</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621792"/>
          </a:xfrm>
          <a:prstGeom prst="roundRect">
            <a:avLst>
              <a:gd name="adj" fmla="val 11765"/>
            </a:avLst>
          </a:prstGeom>
          <a:solidFill>
            <a:srgbClr val="1F2943"/>
          </a:solidFill>
          <a:ln w="12700">
            <a:solidFill>
              <a:srgbClr val="1F2943"/>
            </a:solidFill>
            <a:prstDash val="solid"/>
          </a:ln>
        </p:spPr>
      </p:sp>
      <p:sp>
        <p:nvSpPr>
          <p:cNvPr id="5" name="Text 3"/>
          <p:cNvSpPr txBox="1"/>
          <p:nvPr/>
        </p:nvSpPr>
        <p:spPr>
          <a:xfrm>
            <a:off x="621792" y="1234440"/>
            <a:ext cx="265176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Typed output instead of prose</a:t>
            </a:r>
            <a:endParaRPr lang="en-US" sz="1300" dirty="0"/>
          </a:p>
        </p:txBody>
      </p:sp>
      <p:sp>
        <p:nvSpPr>
          <p:cNvPr id="6" name="Shape 4"/>
          <p:cNvSpPr/>
          <p:nvPr/>
        </p:nvSpPr>
        <p:spPr>
          <a:xfrm>
            <a:off x="3493008" y="1453896"/>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6217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22  </a:t>
            </a:r>
            <a:pPr indent="0" marL="0">
              <a:buNone/>
            </a:pPr>
            <a:r>
              <a:rPr lang="en-US" sz="1250" dirty="0">
                <a:solidFill>
                  <a:srgbClr val="FFFFFF"/>
                </a:solidFill>
                <a:latin typeface="Calibri" pitchFamily="34" charset="0"/>
                <a:ea typeface="Calibri" pitchFamily="34" charset="-122"/>
                <a:cs typeface="Calibri" pitchFamily="34" charset="-120"/>
              </a:rPr>
              <a:t>The Analyst's JSON contract, read back by AnalysisParser</a:t>
            </a:r>
            <a:endParaRPr lang="en-US" sz="1250" dirty="0"/>
          </a:p>
        </p:txBody>
      </p:sp>
      <p:sp>
        <p:nvSpPr>
          <p:cNvPr id="8" name="Shape 6"/>
          <p:cNvSpPr/>
          <p:nvPr/>
        </p:nvSpPr>
        <p:spPr>
          <a:xfrm>
            <a:off x="457200" y="1965960"/>
            <a:ext cx="2926080" cy="621792"/>
          </a:xfrm>
          <a:prstGeom prst="roundRect">
            <a:avLst>
              <a:gd name="adj" fmla="val 11765"/>
            </a:avLst>
          </a:prstGeom>
          <a:solidFill>
            <a:srgbClr val="1F2943"/>
          </a:solidFill>
          <a:ln w="12700">
            <a:solidFill>
              <a:srgbClr val="1F2943"/>
            </a:solidFill>
            <a:prstDash val="solid"/>
          </a:ln>
        </p:spPr>
      </p:sp>
      <p:sp>
        <p:nvSpPr>
          <p:cNvPr id="9" name="Text 7"/>
          <p:cNvSpPr txBox="1"/>
          <p:nvPr/>
        </p:nvSpPr>
        <p:spPr>
          <a:xfrm>
            <a:off x="621792" y="1965960"/>
            <a:ext cx="265176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Typed data between stages</a:t>
            </a:r>
            <a:endParaRPr lang="en-US" sz="1300" dirty="0"/>
          </a:p>
        </p:txBody>
      </p:sp>
      <p:sp>
        <p:nvSpPr>
          <p:cNvPr id="10" name="Shape 8"/>
          <p:cNvSpPr/>
          <p:nvPr/>
        </p:nvSpPr>
        <p:spPr>
          <a:xfrm>
            <a:off x="3493008" y="2185416"/>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965960"/>
            <a:ext cx="4709160" cy="6217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22  </a:t>
            </a:r>
            <a:pPr indent="0" marL="0">
              <a:buNone/>
            </a:pPr>
            <a:r>
              <a:rPr lang="en-US" sz="1250" dirty="0">
                <a:solidFill>
                  <a:srgbClr val="FFFFFF"/>
                </a:solidFill>
                <a:latin typeface="Calibri" pitchFamily="34" charset="0"/>
                <a:ea typeface="Calibri" pitchFamily="34" charset="-122"/>
                <a:cs typeface="Calibri" pitchFamily="34" charset="-120"/>
              </a:rPr>
              <a:t>Executors hand off typed messages, not a chat transcript</a:t>
            </a:r>
            <a:endParaRPr lang="en-US" sz="1250" dirty="0"/>
          </a:p>
        </p:txBody>
      </p:sp>
      <p:sp>
        <p:nvSpPr>
          <p:cNvPr id="12" name="Shape 10"/>
          <p:cNvSpPr/>
          <p:nvPr/>
        </p:nvSpPr>
        <p:spPr>
          <a:xfrm>
            <a:off x="457200" y="2697480"/>
            <a:ext cx="2926080" cy="621792"/>
          </a:xfrm>
          <a:prstGeom prst="roundRect">
            <a:avLst>
              <a:gd name="adj" fmla="val 11765"/>
            </a:avLst>
          </a:prstGeom>
          <a:solidFill>
            <a:srgbClr val="1F2943"/>
          </a:solidFill>
          <a:ln w="12700">
            <a:solidFill>
              <a:srgbClr val="1F2943"/>
            </a:solidFill>
            <a:prstDash val="solid"/>
          </a:ln>
        </p:spPr>
      </p:sp>
      <p:sp>
        <p:nvSpPr>
          <p:cNvPr id="13" name="Text 11"/>
          <p:cNvSpPr txBox="1"/>
          <p:nvPr/>
        </p:nvSpPr>
        <p:spPr>
          <a:xfrm>
            <a:off x="621792" y="2697480"/>
            <a:ext cx="265176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typed result worth keeping</a:t>
            </a:r>
            <a:endParaRPr lang="en-US" sz="1300" dirty="0"/>
          </a:p>
        </p:txBody>
      </p:sp>
      <p:sp>
        <p:nvSpPr>
          <p:cNvPr id="14" name="Shape 12"/>
          <p:cNvSpPr/>
          <p:nvPr/>
        </p:nvSpPr>
        <p:spPr>
          <a:xfrm>
            <a:off x="3493008" y="291693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697480"/>
            <a:ext cx="4709160" cy="6217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23  </a:t>
            </a:r>
            <a:pPr indent="0" marL="0">
              <a:buNone/>
            </a:pPr>
            <a:r>
              <a:rPr lang="en-US" sz="1250" dirty="0">
                <a:solidFill>
                  <a:srgbClr val="FFFFFF"/>
                </a:solidFill>
                <a:latin typeface="Calibri" pitchFamily="34" charset="0"/>
                <a:ea typeface="Calibri" pitchFamily="34" charset="-122"/>
                <a:cs typeface="Calibri" pitchFamily="34" charset="-120"/>
              </a:rPr>
              <a:t>AnalysisResult rides in workflow state, saved in every checkpoint</a:t>
            </a:r>
            <a:endParaRPr lang="en-US" sz="1250" dirty="0"/>
          </a:p>
        </p:txBody>
      </p:sp>
      <p:sp>
        <p:nvSpPr>
          <p:cNvPr id="16" name="Text 14"/>
          <p:cNvSpPr txBox="1"/>
          <p:nvPr/>
        </p:nvSpPr>
        <p:spPr>
          <a:xfrm>
            <a:off x="457200" y="361188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Lessons 22–24 Capstone — Research-and-Report Pipeline</a:t>
            </a:r>
            <a:endParaRPr lang="en-US" sz="1300" dirty="0"/>
          </a:p>
        </p:txBody>
      </p:sp>
      <p:sp>
        <p:nvSpPr>
          <p:cNvPr id="17"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3 — Structured Output and Multimodal Input</a:t>
            </a:r>
            <a:endParaRPr lang="en-US" sz="900" dirty="0"/>
          </a:p>
        </p:txBody>
      </p:sp>
      <p:sp>
        <p:nvSpPr>
          <p:cNvPr id="18"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 — Structured Output and Multimodal Input</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2026-10-07T20:11:50Z</dcterms:created>
  <dcterms:modified xsi:type="dcterms:W3CDTF">2026-10-07T20:11:50Z</dcterms:modified>
</cp:coreProperties>
</file>