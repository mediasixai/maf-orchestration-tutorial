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16's Magentic-One workflow, with its plan-review pause turned on, now survives a full simulated process restart. The run, its workflow graph and every agent object are discarded, and a brand-new process rebuilds them from nothing but a session id and a checkpoint store on disk. That is what makes Lesson 17's pause for a human credible outside a single console run: a real approval might take hours or days, long after the process that asked has exited. Prerequisites: Lesson 16's Magentic-One workflow shape, and the RequestInfoEvent, ExternalRequest, ExternalResponse and Run.ResumeAsync pause-and-resume mechanism Lesson 17 teaches with its in-graph RequestPort. Lesson 17's Core Concepts shows that RequirePlanSignoff(true) pauses a Magentic run through that same mechanism; this lesson turns it on, pauses its own run there, and checkpoints that paused run. Durability is added on top of the mechanism rather than introducing a new one. Packages are unchanged from Lessons 10 to 17: Microsoft.Agents.AI and Microsoft.Agents.AI.Workflows 1.24.0, Microsoft.Extensions.AI.OpenAI 10.10.1 and OpenAI 2.14.0, with OPENAI_API_KEY and the required MAF_LLM and MAF_MODEL. This lesson writes real files: it creates, and clears on each run for a reproducible demo, a checkpoints folder next to the built executable. Open it after running; index.jsonl and the per-checkpoint json files are genuinely inspectable.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Checkpointing is opt-in per run, and once enabled it is automatic. Passing a CheckpointManager and a sessionId into InProcessExecution.RunAsync(workflow, input, checkpointManager, sessionId, ct) is the entire turn-it-on step. From then on a checkpoint is captured after every superstep with no further code. One full paused-then-approved run leaves several checkpoint files in the checkpoints folder, not just one at the pause point. Run and StreamingRun both derive from CheckpointableRunBase, which exposes IsCheckpointingEnabled, Checkpoints for the full list so far, and LastCheckpoint. Phase 1 of the program prints all three straight from the live Run object; nothing is inferred from the console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CheckpointManager is a storage abstraction, and the shipped file-system store is real, not a toy. CheckpointManager.CreateInMemory(), or the Default static instance, keeps checkpoints in memory only: fine for a single process, useless across a restart. CheckpointManager.CreateJson, which takes an ICheckpointStore of JsonElement and optional JsonSerializerOptions, paired with the shipped FileSystemJsonCheckpointStore over a DirectoryInfo, persists to disk. Each checkpoint is a json file capturing the workflow's executor graph and its state at that superstep, and an append-only index.jsonl manifest records every checkpoint's id and its parentCheckpointId, forming a linked history per session. The folder listing on the right is the shape the lesson describes, not a captured directory listing.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session id is the durable handle, not the Run object and not the CheckpointInfo object. sessionId is a plain string you choose. This lesson uses a fixed one, saturn-report-session, standing in for a real application's own business key. CheckpointManager.GetLatestCheckpointAsync(sessionId) finds the latest checkpoint from nothing but that string. No reference to the original Run, Workflow or agents is needed, which is the point: a real application persists only the session id, in a database row or a queue message, and looks everything else up after a restart.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InProcessExecution.ResumeAsync(workflow, fromCheckpoint, checkpointManager, ct), returning a Run, is the restart mechanic. A completely fresh Workflow, built by calling MagenticWorkflowFactory.Build a second, independent time with brand-new ChatClientAgent instances, is handed a CheckpointInfo looked up purely from the session id. The restored Run re-surfaces the exact same pending plan-review request, the RequestInfoEvent pause Lesson 17 teaches, and approving it drives the run to completion with no connection to the original process's objects. In the code the restart is enforced by scope: RunUntilPausedAsync and RestoreAndCompleteAsync share no variables, fields or static state. The only things connecting them are the checkpointManager parameter, standing for the store on disk, and the SessionId constant, standing for a value a real app would have persisted. Approval and completion then use the plan-review answer Lesson 17's Core Concepts describes: planReview.Approve(), pending.Request.CreateResponse, and run.ResumeAsync. Durability is the only new variable.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restorable workflow is built from agents with stable ids. A checkpoint records each agent's executor id, which is AgentName underscore AgentId, for example ResearchAgent_research-agent, and restoring checks that the rebuilt workflow has the same executors. So every agent in a workflow you intend to restore gets an explicit ChatClientAgentOptions.Id, here manager-agent, research-agent and writer-agent, that is identical every time the workflow is built, restart or not. If no id is given, ChatClientAgent generates a new one on every construction, and a checkpoint taken from one build would not match the next: ResumeAsync throws InvalidDataException, 'The specified checkpoint is not compatible with the workflow associated with this runner'. This lesson's AgentFactory.CreateAgent takes an id parameter and builds each agent through the constructor that takes IChatClient and ChatClientAgentOptions. The display Name does not need to be unique or stable in the same way, but the lesson keeps both consistent. MagenticWorkflowFactory.Build is the piece that must be perfectly reproducible: it is called once before the restart and again, independently, after it. The exception text is rewrapped to fit the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Checkpointing saves state; it does not hand you a complete durability story for free. The mechanism persists what the workflow already knew. Deciding when to attempt a restore, detecting that a restore is needed at all, and guarding against restoring, and re-running any side effects from, the same checkpoint twice are still the calling application's responsibility. The framework does not watch for crashes or dedupe retries on your behalf.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Cuts and rewraps on the slide: the Phase 1 heading's 'for plan review' is cut to '...'. The CheckpointId 775c0596add64165ad2b82a552cea833 is shortened to '775c0596...', and the CheckpointInfo lines are rewrapped. Phase 1's paused plan, two steps for ResearchAgent and WriterAgent, is cut, as is the restored plan under the 'Restored plan-review request' heading, which was identical. The two lines under 'Simulating a process restart', 'the Run, Workflow, and every agent object from Phase 1 are now gone; only checkpointManager and the session id saturn-report-session remain', are cut, along with blank lines. The final paragraph, about Saturn's young rings and Hyperion's chaotic rotation, is cut to '...'. Wording varies run to run. What does not vary: Phase 1 reports IsCheckpointingEnabled: True and pauses with a plan, and Phase 2 restores the identical pending plan from disk alone and completes it after approval. Afterwards, the checkpoints folder holds index.jsonl and several saturn-report-session json files, one per superstep.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durability goes. Lesson 21 hosts a workflow with AsAIAgent and AddFoundryResponses; the workflow is checkpointed automatically, so the CheckpointManager setup from this lesson is not needed there, and an AddFoundryResponses overload that takes an agent session store lets a self-hosted app plug in its own durable store, such as a database or blob storage (Lesson 21, Core Concepts). Lesson 22's capstone design fixes the node ids research, analysis, report-approval and writer, so a checkpoint written by one process restores onto the graph another process builds, and lists Lesson 18 as a prerequisite (Lesson 22, Core Concepts). Lesson 23 checkpoints the capstone graph with CheckpointManager.CreateJson and FileSystemJsonCheckpointStore; dotnet run -- resume rebuilds the graph, finds the newest checkpoint with GetLatestCheckpointAsync, and restores it with InProcessExecution.ResumeAsync, which re-raises the pending approval request (Lesson 23, Core Concepts). It also takes on the guard this lesson says the application owns: starting a run deletes old checkpoints, and a finished resume deletes them afterwards, so the same approval cannot be answered twice. Lesson 24 serves that graph over the Responses protocol; the host checkpoints the workflow agent's session automatically, so a restarted host continues the pending approval, and its series review maps Lesson 18 to CheckpointManager and FileSystemJsonCheckpointStore in Lesson 23 and the host's automatic checkpoints in Lesson 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18  ·  PHASE 2</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Checkpointing and Durability</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A paused workflow that survives a process restart</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Lesson 16's team, Lesson 17's pause</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Lesson18-CheckpointingAndDurability/</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Turning checkpointing on for a run</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Persisting checkpoints to disk</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Why the session id is the durable handle</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Restoring into a freshly built workflow</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Stable agent ids, and what you still own</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Lesson 18 — Checkpointing and Durability</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Opt in once, then every superstep is saved</a:t>
            </a:r>
            <a:endParaRPr lang="en-US" sz="2800" dirty="0"/>
          </a:p>
        </p:txBody>
      </p:sp>
      <p:sp>
        <p:nvSpPr>
          <p:cNvPr id="4" name="Shape 2"/>
          <p:cNvSpPr/>
          <p:nvPr/>
        </p:nvSpPr>
        <p:spPr>
          <a:xfrm>
            <a:off x="457200" y="1417320"/>
            <a:ext cx="1796796" cy="2221992"/>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64008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Manager + session id</a:t>
            </a:r>
            <a:endParaRPr lang="en-US" sz="1400" dirty="0"/>
          </a:p>
        </p:txBody>
      </p:sp>
      <p:sp>
        <p:nvSpPr>
          <p:cNvPr id="8" name="Text 5"/>
          <p:cNvSpPr txBox="1"/>
          <p:nvPr/>
        </p:nvSpPr>
        <p:spPr>
          <a:xfrm>
            <a:off x="640080"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Passed into the RunAsync call</a:t>
            </a:r>
            <a:endParaRPr lang="en-US" sz="1200" dirty="0"/>
          </a:p>
        </p:txBody>
      </p:sp>
      <p:sp>
        <p:nvSpPr>
          <p:cNvPr id="9" name="Shape 6"/>
          <p:cNvSpPr/>
          <p:nvPr/>
        </p:nvSpPr>
        <p:spPr>
          <a:xfrm>
            <a:off x="2318004" y="2418588"/>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2221992"/>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Supersteps run</a:t>
            </a:r>
            <a:endParaRPr lang="en-US" sz="1500" dirty="0"/>
          </a:p>
        </p:txBody>
      </p:sp>
      <p:sp>
        <p:nvSpPr>
          <p:cNvPr id="14" name="Text 10"/>
          <p:cNvSpPr txBox="1"/>
          <p:nvPr/>
        </p:nvSpPr>
        <p:spPr>
          <a:xfrm>
            <a:off x="2784348"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No further code required</a:t>
            </a:r>
            <a:endParaRPr lang="en-US" sz="1200" dirty="0"/>
          </a:p>
        </p:txBody>
      </p:sp>
      <p:sp>
        <p:nvSpPr>
          <p:cNvPr id="15" name="Shape 11"/>
          <p:cNvSpPr/>
          <p:nvPr/>
        </p:nvSpPr>
        <p:spPr>
          <a:xfrm>
            <a:off x="4462272" y="2418588"/>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2221992"/>
          </a:xfrm>
          <a:prstGeom prst="roundRect">
            <a:avLst>
              <a:gd name="adj" fmla="val 4071"/>
            </a:avLst>
          </a:prstGeom>
          <a:solidFill>
            <a:srgbClr val="512BD4"/>
          </a:solidFill>
          <a:ln w="12700">
            <a:solidFill>
              <a:srgbClr val="512BD4"/>
            </a:solidFill>
            <a:prstDash val="solid"/>
          </a:ln>
        </p:spPr>
      </p:sp>
      <p:sp>
        <p:nvSpPr>
          <p:cNvPr id="17" name="Shape 13"/>
          <p:cNvSpPr/>
          <p:nvPr/>
        </p:nvSpPr>
        <p:spPr>
          <a:xfrm>
            <a:off x="4928616" y="1618488"/>
            <a:ext cx="457200" cy="457200"/>
          </a:xfrm>
          <a:prstGeom prst="ellipse">
            <a:avLst/>
          </a:prstGeom>
          <a:solidFill>
            <a:srgbClr val="FFFFFF"/>
          </a:solidFill>
          <a:ln w="12700">
            <a:solidFill>
              <a:srgbClr val="FFFFFF"/>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6400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Auto checkpoint</a:t>
            </a:r>
            <a:endParaRPr lang="en-US" sz="1500" dirty="0"/>
          </a:p>
        </p:txBody>
      </p:sp>
      <p:sp>
        <p:nvSpPr>
          <p:cNvPr id="20" name="Text 15"/>
          <p:cNvSpPr txBox="1"/>
          <p:nvPr/>
        </p:nvSpPr>
        <p:spPr>
          <a:xfrm>
            <a:off x="4928616" y="2834640"/>
            <a:ext cx="1476756"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Captured after every superstep</a:t>
            </a:r>
            <a:endParaRPr lang="en-US" sz="1200" dirty="0"/>
          </a:p>
        </p:txBody>
      </p:sp>
      <p:sp>
        <p:nvSpPr>
          <p:cNvPr id="21" name="Shape 16"/>
          <p:cNvSpPr/>
          <p:nvPr/>
        </p:nvSpPr>
        <p:spPr>
          <a:xfrm>
            <a:off x="6606540" y="2418588"/>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2221992"/>
          </a:xfrm>
          <a:prstGeom prst="roundRect">
            <a:avLst>
              <a:gd name="adj" fmla="val 4071"/>
            </a:avLst>
          </a:prstGeom>
          <a:solidFill>
            <a:srgbClr val="EFEBFC"/>
          </a:solidFill>
          <a:ln w="12700">
            <a:solidFill>
              <a:srgbClr val="EFEBFC"/>
            </a:solidFill>
            <a:prstDash val="solid"/>
          </a:ln>
        </p:spPr>
      </p:sp>
      <p:sp>
        <p:nvSpPr>
          <p:cNvPr id="23" name="Shape 18"/>
          <p:cNvSpPr/>
          <p:nvPr/>
        </p:nvSpPr>
        <p:spPr>
          <a:xfrm>
            <a:off x="7072884"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On the Run</a:t>
            </a:r>
            <a:endParaRPr lang="en-US" sz="1500" dirty="0"/>
          </a:p>
        </p:txBody>
      </p:sp>
      <p:sp>
        <p:nvSpPr>
          <p:cNvPr id="26" name="Text 20"/>
          <p:cNvSpPr txBox="1"/>
          <p:nvPr/>
        </p:nvSpPr>
        <p:spPr>
          <a:xfrm>
            <a:off x="7072884"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Checkpoints and LastCheckpoint are exposed</a:t>
            </a:r>
            <a:endParaRPr lang="en-US" sz="1200" dirty="0"/>
          </a:p>
        </p:txBody>
      </p:sp>
      <p:sp>
        <p:nvSpPr>
          <p:cNvPr id="27" name="Text 21"/>
          <p:cNvSpPr txBox="1"/>
          <p:nvPr/>
        </p:nvSpPr>
        <p:spPr>
          <a:xfrm>
            <a:off x="457200" y="39593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One paused-then-approved run leaves several checkpoint files, not one.</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18 — Checkpointing and Durability</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Pick a store that outlives the process</a:t>
            </a:r>
            <a:endParaRPr lang="en-US" sz="2800" dirty="0"/>
          </a:p>
        </p:txBody>
      </p:sp>
      <p:sp>
        <p:nvSpPr>
          <p:cNvPr id="4" name="Shape 2"/>
          <p:cNvSpPr/>
          <p:nvPr/>
        </p:nvSpPr>
        <p:spPr>
          <a:xfrm>
            <a:off x="457200" y="1371600"/>
            <a:ext cx="3931920" cy="2606040"/>
          </a:xfrm>
          <a:prstGeom prst="roundRect">
            <a:avLst>
              <a:gd name="adj" fmla="val 2807"/>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6B7280"/>
          </a:solidFill>
          <a:ln w="12700">
            <a:solidFill>
              <a:srgbClr val="6B7280"/>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In memory</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CheckpointManager.CreateInMemory()</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Or the static .Default instance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Fine for one process, gone on restart</a:t>
            </a:r>
            <a:endParaRPr lang="en-US" sz="1300" dirty="0"/>
          </a:p>
        </p:txBody>
      </p:sp>
      <p:sp>
        <p:nvSpPr>
          <p:cNvPr id="9" name="Shape 6"/>
          <p:cNvSpPr/>
          <p:nvPr/>
        </p:nvSpPr>
        <p:spPr>
          <a:xfrm>
            <a:off x="4754880" y="1371600"/>
            <a:ext cx="3931920" cy="2606040"/>
          </a:xfrm>
          <a:prstGeom prst="roundRect">
            <a:avLst>
              <a:gd name="adj" fmla="val 2807"/>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On disk</a:t>
            </a:r>
            <a:endParaRPr lang="en-US" sz="1700" dirty="0"/>
          </a:p>
        </p:txBody>
      </p:sp>
      <p:sp>
        <p:nvSpPr>
          <p:cNvPr id="13" name="Text 9"/>
          <p:cNvSpPr txBox="1"/>
          <p:nvPr/>
        </p:nvSpPr>
        <p:spPr>
          <a:xfrm>
            <a:off x="498348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CheckpointManager.CreateJson(store)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FileSystemJsonCheckpointStore</a:t>
            </a:r>
            <a:endParaRPr lang="en-US" sz="1300" dirty="0"/>
          </a:p>
        </p:txBody>
      </p:sp>
      <p:sp>
        <p:nvSpPr>
          <p:cNvPr id="14" name="Shape 10"/>
          <p:cNvSpPr/>
          <p:nvPr/>
        </p:nvSpPr>
        <p:spPr>
          <a:xfrm>
            <a:off x="4983480" y="2907792"/>
            <a:ext cx="3474720" cy="868680"/>
          </a:xfrm>
          <a:prstGeom prst="roundRect">
            <a:avLst>
              <a:gd name="adj" fmla="val 8421"/>
            </a:avLst>
          </a:prstGeom>
          <a:solidFill>
            <a:srgbClr val="0F1420"/>
          </a:solidFill>
          <a:ln w="12700">
            <a:solidFill>
              <a:srgbClr val="0F1420"/>
            </a:solidFill>
            <a:prstDash val="solid"/>
          </a:ln>
        </p:spPr>
      </p:sp>
      <p:sp>
        <p:nvSpPr>
          <p:cNvPr id="15" name="Text 11"/>
          <p:cNvSpPr txBox="1"/>
          <p:nvPr/>
        </p:nvSpPr>
        <p:spPr>
          <a:xfrm>
            <a:off x="5166360" y="3044952"/>
            <a:ext cx="3108960" cy="59436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checkpoints/</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  index.jsonl</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  saturn-report-session_*.json</a:t>
            </a:r>
            <a:endParaRPr lang="en-US" sz="1100" dirty="0"/>
          </a:p>
        </p:txBody>
      </p:sp>
      <p:sp>
        <p:nvSpPr>
          <p:cNvPr id="16" name="Text 12"/>
          <p:cNvSpPr txBox="1"/>
          <p:nvPr/>
        </p:nvSpPr>
        <p:spPr>
          <a:xfrm>
            <a:off x="457200" y="42519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index.jsonl links each checkpoint to its parentCheckpointId: a real history per session.</a:t>
            </a:r>
            <a:endParaRPr lang="en-US" sz="1400" dirty="0"/>
          </a:p>
        </p:txBody>
      </p:sp>
      <p:sp>
        <p:nvSpPr>
          <p:cNvPr id="17"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18 — Checkpointing and Durability</a:t>
            </a:r>
            <a:endParaRPr lang="en-US" sz="900" dirty="0"/>
          </a:p>
        </p:txBody>
      </p:sp>
      <p:sp>
        <p:nvSpPr>
          <p:cNvPr id="18"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session id is the durable handle</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sessionId</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A plain string you choose. Here: "saturn-report-session".</a:t>
            </a:r>
            <a:endParaRPr lang="en-US" sz="12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Lookup</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GetLatestCheckpointAsync(sessionId) finds the latest checkpoint</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Where it lives</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 database row or a queue message in a real app</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Not needed</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The original Run, Workflow or agents</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Persist the id. Look everything else up after the restart.</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18 — Checkpointing and Durability</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Restart: rebuild, then ResumeAsync</a:t>
            </a:r>
            <a:endParaRPr lang="en-US" sz="2800" dirty="0"/>
          </a:p>
        </p:txBody>
      </p:sp>
      <p:sp>
        <p:nvSpPr>
          <p:cNvPr id="4" name="Shape 2"/>
          <p:cNvSpPr/>
          <p:nvPr/>
        </p:nvSpPr>
        <p:spPr>
          <a:xfrm>
            <a:off x="457200" y="1417320"/>
            <a:ext cx="1367942" cy="2606040"/>
          </a:xfrm>
          <a:prstGeom prst="roundRect">
            <a:avLst>
              <a:gd name="adj" fmla="val 5348"/>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047902"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Phase 1 pauses</a:t>
            </a:r>
            <a:endParaRPr lang="en-US" sz="1500" dirty="0"/>
          </a:p>
        </p:txBody>
      </p:sp>
      <p:sp>
        <p:nvSpPr>
          <p:cNvPr id="8" name="Text 5"/>
          <p:cNvSpPr txBox="1"/>
          <p:nvPr/>
        </p:nvSpPr>
        <p:spPr>
          <a:xfrm>
            <a:off x="640080" y="2834640"/>
            <a:ext cx="1047902" cy="10972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Checkpointed run waits for plan review</a:t>
            </a:r>
            <a:endParaRPr lang="en-US" sz="1200" dirty="0"/>
          </a:p>
        </p:txBody>
      </p:sp>
      <p:sp>
        <p:nvSpPr>
          <p:cNvPr id="9" name="Shape 6"/>
          <p:cNvSpPr/>
          <p:nvPr/>
        </p:nvSpPr>
        <p:spPr>
          <a:xfrm>
            <a:off x="1889150" y="2610612"/>
            <a:ext cx="219456" cy="219456"/>
          </a:xfrm>
          <a:prstGeom prst="rightArrow">
            <a:avLst/>
          </a:prstGeom>
          <a:solidFill>
            <a:srgbClr val="F5A623"/>
          </a:solidFill>
          <a:ln w="12700">
            <a:solidFill>
              <a:srgbClr val="F5A623"/>
            </a:solidFill>
            <a:prstDash val="solid"/>
          </a:ln>
        </p:spPr>
      </p:sp>
      <p:sp>
        <p:nvSpPr>
          <p:cNvPr id="10" name="Shape 7"/>
          <p:cNvSpPr/>
          <p:nvPr/>
        </p:nvSpPr>
        <p:spPr>
          <a:xfrm>
            <a:off x="2172614" y="1417320"/>
            <a:ext cx="1367942" cy="2606040"/>
          </a:xfrm>
          <a:prstGeom prst="roundRect">
            <a:avLst>
              <a:gd name="adj" fmla="val 5348"/>
            </a:avLst>
          </a:prstGeom>
          <a:solidFill>
            <a:srgbClr val="EFEBFC"/>
          </a:solidFill>
          <a:ln w="12700">
            <a:solidFill>
              <a:srgbClr val="EFEBFC"/>
            </a:solidFill>
            <a:prstDash val="solid"/>
          </a:ln>
        </p:spPr>
      </p:sp>
      <p:sp>
        <p:nvSpPr>
          <p:cNvPr id="11" name="Shape 8"/>
          <p:cNvSpPr/>
          <p:nvPr/>
        </p:nvSpPr>
        <p:spPr>
          <a:xfrm>
            <a:off x="235549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474366" y="1737360"/>
            <a:ext cx="219456" cy="219456"/>
          </a:xfrm>
          <a:prstGeom prst="rect">
            <a:avLst/>
          </a:prstGeom>
        </p:spPr>
      </p:pic>
      <p:sp>
        <p:nvSpPr>
          <p:cNvPr id="13" name="Text 9"/>
          <p:cNvSpPr txBox="1"/>
          <p:nvPr/>
        </p:nvSpPr>
        <p:spPr>
          <a:xfrm>
            <a:off x="2355494" y="2194560"/>
            <a:ext cx="1047902"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Process gone</a:t>
            </a:r>
            <a:endParaRPr lang="en-US" sz="1500" dirty="0"/>
          </a:p>
        </p:txBody>
      </p:sp>
      <p:sp>
        <p:nvSpPr>
          <p:cNvPr id="14" name="Text 10"/>
          <p:cNvSpPr txBox="1"/>
          <p:nvPr/>
        </p:nvSpPr>
        <p:spPr>
          <a:xfrm>
            <a:off x="2355494" y="2834640"/>
            <a:ext cx="1047902" cy="10972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Only the store and the session id remain</a:t>
            </a:r>
            <a:endParaRPr lang="en-US" sz="1200" dirty="0"/>
          </a:p>
        </p:txBody>
      </p:sp>
      <p:sp>
        <p:nvSpPr>
          <p:cNvPr id="15" name="Shape 11"/>
          <p:cNvSpPr/>
          <p:nvPr/>
        </p:nvSpPr>
        <p:spPr>
          <a:xfrm>
            <a:off x="3604565" y="2610612"/>
            <a:ext cx="219456" cy="219456"/>
          </a:xfrm>
          <a:prstGeom prst="rightArrow">
            <a:avLst/>
          </a:prstGeom>
          <a:solidFill>
            <a:srgbClr val="F5A623"/>
          </a:solidFill>
          <a:ln w="12700">
            <a:solidFill>
              <a:srgbClr val="F5A623"/>
            </a:solidFill>
            <a:prstDash val="solid"/>
          </a:ln>
        </p:spPr>
      </p:sp>
      <p:sp>
        <p:nvSpPr>
          <p:cNvPr id="16" name="Shape 12"/>
          <p:cNvSpPr/>
          <p:nvPr/>
        </p:nvSpPr>
        <p:spPr>
          <a:xfrm>
            <a:off x="3888029" y="1417320"/>
            <a:ext cx="1367942" cy="2606040"/>
          </a:xfrm>
          <a:prstGeom prst="roundRect">
            <a:avLst>
              <a:gd name="adj" fmla="val 5348"/>
            </a:avLst>
          </a:prstGeom>
          <a:solidFill>
            <a:srgbClr val="EFEBFC"/>
          </a:solidFill>
          <a:ln w="12700">
            <a:solidFill>
              <a:srgbClr val="EFEBFC"/>
            </a:solidFill>
            <a:prstDash val="solid"/>
          </a:ln>
        </p:spPr>
      </p:sp>
      <p:sp>
        <p:nvSpPr>
          <p:cNvPr id="17" name="Shape 13"/>
          <p:cNvSpPr/>
          <p:nvPr/>
        </p:nvSpPr>
        <p:spPr>
          <a:xfrm>
            <a:off x="4070909"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4189781" y="1737360"/>
            <a:ext cx="219456" cy="219456"/>
          </a:xfrm>
          <a:prstGeom prst="rect">
            <a:avLst/>
          </a:prstGeom>
        </p:spPr>
      </p:pic>
      <p:sp>
        <p:nvSpPr>
          <p:cNvPr id="19" name="Text 14"/>
          <p:cNvSpPr txBox="1"/>
          <p:nvPr/>
        </p:nvSpPr>
        <p:spPr>
          <a:xfrm>
            <a:off x="4070909" y="2194560"/>
            <a:ext cx="1047902"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Build again</a:t>
            </a:r>
            <a:endParaRPr lang="en-US" sz="1500" dirty="0"/>
          </a:p>
        </p:txBody>
      </p:sp>
      <p:sp>
        <p:nvSpPr>
          <p:cNvPr id="20" name="Text 15"/>
          <p:cNvSpPr txBox="1"/>
          <p:nvPr/>
        </p:nvSpPr>
        <p:spPr>
          <a:xfrm>
            <a:off x="4070909" y="2834640"/>
            <a:ext cx="1047902" cy="10972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factory runs again with brand-new agents</a:t>
            </a:r>
            <a:endParaRPr lang="en-US" sz="1200" dirty="0"/>
          </a:p>
        </p:txBody>
      </p:sp>
      <p:sp>
        <p:nvSpPr>
          <p:cNvPr id="21" name="Shape 16"/>
          <p:cNvSpPr/>
          <p:nvPr/>
        </p:nvSpPr>
        <p:spPr>
          <a:xfrm>
            <a:off x="5319979" y="2610612"/>
            <a:ext cx="219456" cy="219456"/>
          </a:xfrm>
          <a:prstGeom prst="rightArrow">
            <a:avLst/>
          </a:prstGeom>
          <a:solidFill>
            <a:srgbClr val="F5A623"/>
          </a:solidFill>
          <a:ln w="12700">
            <a:solidFill>
              <a:srgbClr val="F5A623"/>
            </a:solidFill>
            <a:prstDash val="solid"/>
          </a:ln>
        </p:spPr>
      </p:sp>
      <p:sp>
        <p:nvSpPr>
          <p:cNvPr id="22" name="Shape 17"/>
          <p:cNvSpPr/>
          <p:nvPr/>
        </p:nvSpPr>
        <p:spPr>
          <a:xfrm>
            <a:off x="5603443" y="1417320"/>
            <a:ext cx="1367942" cy="2606040"/>
          </a:xfrm>
          <a:prstGeom prst="roundRect">
            <a:avLst>
              <a:gd name="adj" fmla="val 5348"/>
            </a:avLst>
          </a:prstGeom>
          <a:solidFill>
            <a:srgbClr val="512BD4"/>
          </a:solidFill>
          <a:ln w="12700">
            <a:solidFill>
              <a:srgbClr val="512BD4"/>
            </a:solidFill>
            <a:prstDash val="solid"/>
          </a:ln>
        </p:spPr>
      </p:sp>
      <p:sp>
        <p:nvSpPr>
          <p:cNvPr id="23" name="Shape 18"/>
          <p:cNvSpPr/>
          <p:nvPr/>
        </p:nvSpPr>
        <p:spPr>
          <a:xfrm>
            <a:off x="5786323"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5905195" y="1737360"/>
            <a:ext cx="219456" cy="219456"/>
          </a:xfrm>
          <a:prstGeom prst="rect">
            <a:avLst/>
          </a:prstGeom>
        </p:spPr>
      </p:pic>
      <p:sp>
        <p:nvSpPr>
          <p:cNvPr id="25" name="Text 19"/>
          <p:cNvSpPr txBox="1"/>
          <p:nvPr/>
        </p:nvSpPr>
        <p:spPr>
          <a:xfrm>
            <a:off x="5786323" y="2194560"/>
            <a:ext cx="1047902" cy="64008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ResumeAsync</a:t>
            </a:r>
            <a:endParaRPr lang="en-US" sz="1250" dirty="0"/>
          </a:p>
        </p:txBody>
      </p:sp>
      <p:sp>
        <p:nvSpPr>
          <p:cNvPr id="26" name="Text 20"/>
          <p:cNvSpPr txBox="1"/>
          <p:nvPr/>
        </p:nvSpPr>
        <p:spPr>
          <a:xfrm>
            <a:off x="5786323" y="2834640"/>
            <a:ext cx="1047902" cy="10972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Restores a Run from the checkpoint</a:t>
            </a:r>
            <a:endParaRPr lang="en-US" sz="1200" dirty="0"/>
          </a:p>
        </p:txBody>
      </p:sp>
      <p:sp>
        <p:nvSpPr>
          <p:cNvPr id="27" name="Shape 21"/>
          <p:cNvSpPr/>
          <p:nvPr/>
        </p:nvSpPr>
        <p:spPr>
          <a:xfrm>
            <a:off x="7035394" y="2610612"/>
            <a:ext cx="219456" cy="219456"/>
          </a:xfrm>
          <a:prstGeom prst="rightArrow">
            <a:avLst/>
          </a:prstGeom>
          <a:solidFill>
            <a:srgbClr val="F5A623"/>
          </a:solidFill>
          <a:ln w="12700">
            <a:solidFill>
              <a:srgbClr val="F5A623"/>
            </a:solidFill>
            <a:prstDash val="solid"/>
          </a:ln>
        </p:spPr>
      </p:sp>
      <p:sp>
        <p:nvSpPr>
          <p:cNvPr id="28" name="Shape 22"/>
          <p:cNvSpPr/>
          <p:nvPr/>
        </p:nvSpPr>
        <p:spPr>
          <a:xfrm>
            <a:off x="7318858" y="1417320"/>
            <a:ext cx="1367942" cy="2606040"/>
          </a:xfrm>
          <a:prstGeom prst="roundRect">
            <a:avLst>
              <a:gd name="adj" fmla="val 5348"/>
            </a:avLst>
          </a:prstGeom>
          <a:solidFill>
            <a:srgbClr val="EFEBFC"/>
          </a:solidFill>
          <a:ln w="12700">
            <a:solidFill>
              <a:srgbClr val="EFEBFC"/>
            </a:solidFill>
            <a:prstDash val="solid"/>
          </a:ln>
        </p:spPr>
      </p:sp>
      <p:sp>
        <p:nvSpPr>
          <p:cNvPr id="29" name="Shape 23"/>
          <p:cNvSpPr/>
          <p:nvPr/>
        </p:nvSpPr>
        <p:spPr>
          <a:xfrm>
            <a:off x="7501738" y="1618488"/>
            <a:ext cx="457200" cy="457200"/>
          </a:xfrm>
          <a:prstGeom prst="ellipse">
            <a:avLst/>
          </a:prstGeom>
          <a:solidFill>
            <a:srgbClr val="512BD4"/>
          </a:solidFill>
          <a:ln w="12700">
            <a:solidFill>
              <a:srgbClr val="512BD4"/>
            </a:solidFill>
            <a:prstDash val="solid"/>
          </a:ln>
        </p:spPr>
      </p:sp>
      <p:pic>
        <p:nvPicPr>
          <p:cNvPr id="30" name="Image 4" descr="preencoded.png">    </p:cNvPr>
          <p:cNvPicPr>
            <a:picLocks noChangeAspect="1"/>
          </p:cNvPicPr>
          <p:nvPr/>
        </p:nvPicPr>
        <p:blipFill>
          <a:blip r:embed="rId5"/>
          <a:stretch>
            <a:fillRect/>
          </a:stretch>
        </p:blipFill>
        <p:spPr>
          <a:xfrm>
            <a:off x="7620610" y="1737360"/>
            <a:ext cx="219456" cy="219456"/>
          </a:xfrm>
          <a:prstGeom prst="rect">
            <a:avLst/>
          </a:prstGeom>
        </p:spPr>
      </p:pic>
      <p:sp>
        <p:nvSpPr>
          <p:cNvPr id="31" name="Text 24"/>
          <p:cNvSpPr txBox="1"/>
          <p:nvPr/>
        </p:nvSpPr>
        <p:spPr>
          <a:xfrm>
            <a:off x="7501738" y="2194560"/>
            <a:ext cx="1047902"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Same review</a:t>
            </a:r>
            <a:endParaRPr lang="en-US" sz="1500" dirty="0"/>
          </a:p>
        </p:txBody>
      </p:sp>
      <p:sp>
        <p:nvSpPr>
          <p:cNvPr id="32" name="Text 25"/>
          <p:cNvSpPr txBox="1"/>
          <p:nvPr/>
        </p:nvSpPr>
        <p:spPr>
          <a:xfrm>
            <a:off x="7501738" y="2834640"/>
            <a:ext cx="1047902" cy="109728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Approve with Lesson 17's CreateResponse and ResumeAsync</a:t>
            </a:r>
            <a:endParaRPr lang="en-US" sz="1050" dirty="0"/>
          </a:p>
        </p:txBody>
      </p:sp>
      <p:sp>
        <p:nvSpPr>
          <p:cNvPr id="33" name="Text 26"/>
          <p:cNvSpPr txBox="1"/>
          <p:nvPr/>
        </p:nvSpPr>
        <p:spPr>
          <a:xfrm>
            <a:off x="457200" y="43434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restored run re-surfaces the identical pending plan-review request.</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18 — Checkpointing and Durability</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 restorable workflow uses stable agent ids</a:t>
            </a:r>
            <a:endParaRPr lang="en-US" sz="2800" dirty="0"/>
          </a:p>
        </p:txBody>
      </p:sp>
      <p:sp>
        <p:nvSpPr>
          <p:cNvPr id="4" name="Shape 2"/>
          <p:cNvSpPr/>
          <p:nvPr/>
        </p:nvSpPr>
        <p:spPr>
          <a:xfrm>
            <a:off x="457200" y="1371600"/>
            <a:ext cx="3931920" cy="2606040"/>
          </a:xfrm>
          <a:prstGeom prst="roundRect">
            <a:avLst>
              <a:gd name="adj" fmla="val 2807"/>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DC2626"/>
          </a:solidFill>
          <a:ln w="12700">
            <a:solidFill>
              <a:srgbClr val="DC2626"/>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No id given</a:t>
            </a:r>
            <a:endParaRPr lang="en-US" sz="1700" dirty="0"/>
          </a:p>
        </p:txBody>
      </p:sp>
      <p:sp>
        <p:nvSpPr>
          <p:cNvPr id="8" name="Text 5"/>
          <p:cNvSpPr txBox="1"/>
          <p:nvPr/>
        </p:nvSpPr>
        <p:spPr>
          <a:xfrm>
            <a:off x="685800" y="2194560"/>
            <a:ext cx="3474720" cy="36576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 new id on every construction</a:t>
            </a:r>
            <a:endParaRPr lang="en-US" sz="1300" dirty="0"/>
          </a:p>
        </p:txBody>
      </p:sp>
      <p:sp>
        <p:nvSpPr>
          <p:cNvPr id="9" name="Shape 6"/>
          <p:cNvSpPr/>
          <p:nvPr/>
        </p:nvSpPr>
        <p:spPr>
          <a:xfrm>
            <a:off x="685800" y="2633472"/>
            <a:ext cx="3474720" cy="1143000"/>
          </a:xfrm>
          <a:prstGeom prst="roundRect">
            <a:avLst>
              <a:gd name="adj" fmla="val 6400"/>
            </a:avLst>
          </a:prstGeom>
          <a:solidFill>
            <a:srgbClr val="0F1420"/>
          </a:solidFill>
          <a:ln w="12700">
            <a:solidFill>
              <a:srgbClr val="0F1420"/>
            </a:solidFill>
            <a:prstDash val="solid"/>
          </a:ln>
        </p:spPr>
      </p:sp>
      <p:sp>
        <p:nvSpPr>
          <p:cNvPr id="10" name="Text 7"/>
          <p:cNvSpPr txBox="1"/>
          <p:nvPr/>
        </p:nvSpPr>
        <p:spPr>
          <a:xfrm>
            <a:off x="868680" y="2770632"/>
            <a:ext cx="3108960" cy="868680"/>
          </a:xfrm>
          <a:prstGeom prst="rect">
            <a:avLst/>
          </a:prstGeom>
          <a:noFill/>
          <a:ln/>
        </p:spPr>
        <p:txBody>
          <a:bodyPr wrap="square" lIns="0" tIns="0" rIns="0" bIns="0" rtlCol="0" anchor="t"/>
          <a:lstStyle/>
          <a:p>
            <a:pPr indent="0" marL="0">
              <a:buNone/>
            </a:pPr>
            <a:r>
              <a:rPr lang="en-US" sz="1100" dirty="0">
                <a:solidFill>
                  <a:srgbClr val="FF9B9B"/>
                </a:solidFill>
                <a:latin typeface="Courier New" pitchFamily="34" charset="0"/>
                <a:ea typeface="Courier New" pitchFamily="34" charset="-122"/>
                <a:cs typeface="Courier New" pitchFamily="34" charset="-120"/>
              </a:rPr>
              <a:t>InvalidDataException: The</a:t>
            </a:r>
            <a:endParaRPr lang="en-US" sz="1100" dirty="0"/>
          </a:p>
          <a:p>
            <a:pPr indent="0" marL="0">
              <a:buNone/>
            </a:pPr>
            <a:r>
              <a:rPr lang="en-US" sz="1100" dirty="0">
                <a:solidFill>
                  <a:srgbClr val="FF9B9B"/>
                </a:solidFill>
                <a:latin typeface="Courier New" pitchFamily="34" charset="0"/>
                <a:ea typeface="Courier New" pitchFamily="34" charset="-122"/>
                <a:cs typeface="Courier New" pitchFamily="34" charset="-120"/>
              </a:rPr>
              <a:t>specified checkpoint is not</a:t>
            </a:r>
            <a:endParaRPr lang="en-US" sz="1100" dirty="0"/>
          </a:p>
          <a:p>
            <a:pPr indent="0" marL="0">
              <a:buNone/>
            </a:pPr>
            <a:r>
              <a:rPr lang="en-US" sz="1100" dirty="0">
                <a:solidFill>
                  <a:srgbClr val="FF9B9B"/>
                </a:solidFill>
                <a:latin typeface="Courier New" pitchFamily="34" charset="0"/>
                <a:ea typeface="Courier New" pitchFamily="34" charset="-122"/>
                <a:cs typeface="Courier New" pitchFamily="34" charset="-120"/>
              </a:rPr>
              <a:t>compatible with the workflow</a:t>
            </a:r>
            <a:endParaRPr lang="en-US" sz="1100" dirty="0"/>
          </a:p>
          <a:p>
            <a:pPr indent="0" marL="0">
              <a:buNone/>
            </a:pPr>
            <a:r>
              <a:rPr lang="en-US" sz="1100" dirty="0">
                <a:solidFill>
                  <a:srgbClr val="FF9B9B"/>
                </a:solidFill>
                <a:latin typeface="Courier New" pitchFamily="34" charset="0"/>
                <a:ea typeface="Courier New" pitchFamily="34" charset="-122"/>
                <a:cs typeface="Courier New" pitchFamily="34" charset="-120"/>
              </a:rPr>
              <a:t>associated with this runner</a:t>
            </a:r>
            <a:endParaRPr lang="en-US" sz="1100" dirty="0"/>
          </a:p>
        </p:txBody>
      </p:sp>
      <p:sp>
        <p:nvSpPr>
          <p:cNvPr id="11" name="Shape 8"/>
          <p:cNvSpPr/>
          <p:nvPr/>
        </p:nvSpPr>
        <p:spPr>
          <a:xfrm>
            <a:off x="4754880" y="1371600"/>
            <a:ext cx="3931920" cy="2606040"/>
          </a:xfrm>
          <a:prstGeom prst="roundRect">
            <a:avLst>
              <a:gd name="adj" fmla="val 2807"/>
            </a:avLst>
          </a:prstGeom>
          <a:solidFill>
            <a:srgbClr val="EFEBFC"/>
          </a:solidFill>
          <a:ln w="12700">
            <a:solidFill>
              <a:srgbClr val="EFEBFC"/>
            </a:solidFill>
            <a:prstDash val="solid"/>
          </a:ln>
        </p:spPr>
      </p:sp>
      <p:sp>
        <p:nvSpPr>
          <p:cNvPr id="12" name="Shape 9"/>
          <p:cNvSpPr/>
          <p:nvPr/>
        </p:nvSpPr>
        <p:spPr>
          <a:xfrm>
            <a:off x="4983480" y="1600200"/>
            <a:ext cx="438912" cy="438912"/>
          </a:xfrm>
          <a:prstGeom prst="ellipse">
            <a:avLst/>
          </a:prstGeom>
          <a:solidFill>
            <a:srgbClr val="16A34A"/>
          </a:solidFill>
          <a:ln w="12700">
            <a:solidFill>
              <a:srgbClr val="16A34A"/>
            </a:solidFill>
            <a:prstDash val="solid"/>
          </a:ln>
        </p:spPr>
      </p:sp>
      <p:pic>
        <p:nvPicPr>
          <p:cNvPr id="13"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4" name="Text 10"/>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ChatClientAgentOptions.Id</a:t>
            </a:r>
            <a:endParaRPr lang="en-US" sz="1700" dirty="0"/>
          </a:p>
        </p:txBody>
      </p:sp>
      <p:sp>
        <p:nvSpPr>
          <p:cNvPr id="15" name="Text 11"/>
          <p:cNvSpPr txBox="1"/>
          <p:nvPr/>
        </p:nvSpPr>
        <p:spPr>
          <a:xfrm>
            <a:off x="498348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Fixed: "research-agent"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Identical on every build</a:t>
            </a:r>
            <a:endParaRPr lang="en-US" sz="1300" dirty="0"/>
          </a:p>
        </p:txBody>
      </p:sp>
      <p:sp>
        <p:nvSpPr>
          <p:cNvPr id="16" name="Shape 12"/>
          <p:cNvSpPr/>
          <p:nvPr/>
        </p:nvSpPr>
        <p:spPr>
          <a:xfrm>
            <a:off x="4983480" y="2907792"/>
            <a:ext cx="3474720" cy="868680"/>
          </a:xfrm>
          <a:prstGeom prst="roundRect">
            <a:avLst>
              <a:gd name="adj" fmla="val 8421"/>
            </a:avLst>
          </a:prstGeom>
          <a:solidFill>
            <a:srgbClr val="0F1420"/>
          </a:solidFill>
          <a:ln w="12700">
            <a:solidFill>
              <a:srgbClr val="0F1420"/>
            </a:solidFill>
            <a:prstDash val="solid"/>
          </a:ln>
        </p:spPr>
      </p:sp>
      <p:sp>
        <p:nvSpPr>
          <p:cNvPr id="17" name="Text 13"/>
          <p:cNvSpPr txBox="1"/>
          <p:nvPr/>
        </p:nvSpPr>
        <p:spPr>
          <a:xfrm>
            <a:off x="5166360" y="3044952"/>
            <a:ext cx="3108960" cy="59436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executor id:</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ResearchAgent_research-agent</a:t>
            </a:r>
            <a:endParaRPr lang="en-US" sz="1100" dirty="0"/>
          </a:p>
        </p:txBody>
      </p:sp>
      <p:sp>
        <p:nvSpPr>
          <p:cNvPr id="18" name="Text 14"/>
          <p:cNvSpPr txBox="1"/>
          <p:nvPr/>
        </p:nvSpPr>
        <p:spPr>
          <a:xfrm>
            <a:off x="457200" y="42519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AgentFactory.CreateAgent takes an id parameter for exactly this reason.</a:t>
            </a:r>
            <a:endParaRPr lang="en-US" sz="1400" dirty="0"/>
          </a:p>
        </p:txBody>
      </p:sp>
      <p:sp>
        <p:nvSpPr>
          <p:cNvPr id="19"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18 — Checkpointing and Durability</a:t>
            </a:r>
            <a:endParaRPr lang="en-US" sz="900" dirty="0"/>
          </a:p>
        </p:txBody>
      </p:sp>
      <p:sp>
        <p:nvSpPr>
          <p:cNvPr id="20"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checkpointing does not do for you</a:t>
            </a:r>
            <a:endParaRPr lang="en-US" sz="2800" dirty="0"/>
          </a:p>
        </p:txBody>
      </p:sp>
      <p:sp>
        <p:nvSpPr>
          <p:cNvPr id="4" name="Shape 2"/>
          <p:cNvSpPr/>
          <p:nvPr/>
        </p:nvSpPr>
        <p:spPr>
          <a:xfrm>
            <a:off x="457200" y="1371600"/>
            <a:ext cx="3977640" cy="1188720"/>
          </a:xfrm>
          <a:prstGeom prst="roundRect">
            <a:avLst>
              <a:gd name="adj" fmla="val 6154"/>
            </a:avLst>
          </a:prstGeom>
          <a:solidFill>
            <a:srgbClr val="512BD4"/>
          </a:solidFill>
          <a:ln w="12700">
            <a:solidFill>
              <a:srgbClr val="512BD4"/>
            </a:solidFill>
            <a:prstDash val="solid"/>
          </a:ln>
        </p:spPr>
      </p:sp>
      <p:sp>
        <p:nvSpPr>
          <p:cNvPr id="5" name="Shape 3"/>
          <p:cNvSpPr/>
          <p:nvPr/>
        </p:nvSpPr>
        <p:spPr>
          <a:xfrm>
            <a:off x="640080" y="1554480"/>
            <a:ext cx="384048" cy="384048"/>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It saves state</a:t>
            </a:r>
            <a:endParaRPr lang="en-US" sz="1500" dirty="0"/>
          </a:p>
        </p:txBody>
      </p:sp>
      <p:sp>
        <p:nvSpPr>
          <p:cNvPr id="8" name="Text 5"/>
          <p:cNvSpPr txBox="1"/>
          <p:nvPr/>
        </p:nvSpPr>
        <p:spPr>
          <a:xfrm>
            <a:off x="640080" y="2057400"/>
            <a:ext cx="3611880" cy="4114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Persists what the workflow already knew</a:t>
            </a:r>
            <a:endParaRPr lang="en-US" sz="1200" dirty="0"/>
          </a:p>
        </p:txBody>
      </p:sp>
      <p:sp>
        <p:nvSpPr>
          <p:cNvPr id="9" name="Shape 6"/>
          <p:cNvSpPr/>
          <p:nvPr/>
        </p:nvSpPr>
        <p:spPr>
          <a:xfrm>
            <a:off x="4709160" y="1371600"/>
            <a:ext cx="3977640" cy="1188720"/>
          </a:xfrm>
          <a:prstGeom prst="roundRect">
            <a:avLst>
              <a:gd name="adj" fmla="val 6154"/>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Detect a crash</a:t>
            </a:r>
            <a:endParaRPr lang="en-US" sz="1500" dirty="0"/>
          </a:p>
        </p:txBody>
      </p:sp>
      <p:sp>
        <p:nvSpPr>
          <p:cNvPr id="13" name="Text 9"/>
          <p:cNvSpPr txBox="1"/>
          <p:nvPr/>
        </p:nvSpPr>
        <p:spPr>
          <a:xfrm>
            <a:off x="4892040" y="2057400"/>
            <a:ext cx="3611880" cy="4114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Noticing a restore is needed is your job</a:t>
            </a:r>
            <a:endParaRPr lang="en-US" sz="1200" dirty="0"/>
          </a:p>
        </p:txBody>
      </p:sp>
      <p:sp>
        <p:nvSpPr>
          <p:cNvPr id="14" name="Shape 10"/>
          <p:cNvSpPr/>
          <p:nvPr/>
        </p:nvSpPr>
        <p:spPr>
          <a:xfrm>
            <a:off x="457200" y="2788920"/>
            <a:ext cx="3977640" cy="1188720"/>
          </a:xfrm>
          <a:prstGeom prst="roundRect">
            <a:avLst>
              <a:gd name="adj" fmla="val 6154"/>
            </a:avLst>
          </a:prstGeom>
          <a:solidFill>
            <a:srgbClr val="EFEBFC"/>
          </a:solidFill>
          <a:ln w="12700">
            <a:solidFill>
              <a:srgbClr val="EFEBFC"/>
            </a:solidFill>
            <a:prstDash val="solid"/>
          </a:ln>
        </p:spPr>
      </p:sp>
      <p:sp>
        <p:nvSpPr>
          <p:cNvPr id="15" name="Shape 11"/>
          <p:cNvSpPr/>
          <p:nvPr/>
        </p:nvSpPr>
        <p:spPr>
          <a:xfrm>
            <a:off x="640080" y="297180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3071652"/>
            <a:ext cx="184343" cy="184343"/>
          </a:xfrm>
          <a:prstGeom prst="rect">
            <a:avLst/>
          </a:prstGeom>
        </p:spPr>
      </p:pic>
      <p:sp>
        <p:nvSpPr>
          <p:cNvPr id="17" name="Text 12"/>
          <p:cNvSpPr txBox="1"/>
          <p:nvPr/>
        </p:nvSpPr>
        <p:spPr>
          <a:xfrm>
            <a:off x="1143000" y="2971800"/>
            <a:ext cx="3154680" cy="384048"/>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Decide when</a:t>
            </a:r>
            <a:endParaRPr lang="en-US" sz="1500" dirty="0"/>
          </a:p>
        </p:txBody>
      </p:sp>
      <p:sp>
        <p:nvSpPr>
          <p:cNvPr id="18" name="Text 13"/>
          <p:cNvSpPr txBox="1"/>
          <p:nvPr/>
        </p:nvSpPr>
        <p:spPr>
          <a:xfrm>
            <a:off x="640080" y="3474720"/>
            <a:ext cx="3611880" cy="4114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Choosing when to attempt a restore is your job</a:t>
            </a:r>
            <a:endParaRPr lang="en-US" sz="1200" dirty="0"/>
          </a:p>
        </p:txBody>
      </p:sp>
      <p:sp>
        <p:nvSpPr>
          <p:cNvPr id="19" name="Shape 14"/>
          <p:cNvSpPr/>
          <p:nvPr/>
        </p:nvSpPr>
        <p:spPr>
          <a:xfrm>
            <a:off x="4709160" y="2788920"/>
            <a:ext cx="3977640" cy="1188720"/>
          </a:xfrm>
          <a:prstGeom prst="roundRect">
            <a:avLst>
              <a:gd name="adj" fmla="val 6154"/>
            </a:avLst>
          </a:prstGeom>
          <a:solidFill>
            <a:srgbClr val="EFEBFC"/>
          </a:solidFill>
          <a:ln w="12700">
            <a:solidFill>
              <a:srgbClr val="EFEBFC"/>
            </a:solidFill>
            <a:prstDash val="solid"/>
          </a:ln>
        </p:spPr>
      </p:sp>
      <p:sp>
        <p:nvSpPr>
          <p:cNvPr id="20" name="Shape 15"/>
          <p:cNvSpPr/>
          <p:nvPr/>
        </p:nvSpPr>
        <p:spPr>
          <a:xfrm>
            <a:off x="4892040" y="297180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071652"/>
            <a:ext cx="184343" cy="184343"/>
          </a:xfrm>
          <a:prstGeom prst="rect">
            <a:avLst/>
          </a:prstGeom>
        </p:spPr>
      </p:pic>
      <p:sp>
        <p:nvSpPr>
          <p:cNvPr id="22" name="Text 16"/>
          <p:cNvSpPr txBox="1"/>
          <p:nvPr/>
        </p:nvSpPr>
        <p:spPr>
          <a:xfrm>
            <a:off x="5394960" y="2971800"/>
            <a:ext cx="3154680" cy="384048"/>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Guard duplicates</a:t>
            </a:r>
            <a:endParaRPr lang="en-US" sz="1500" dirty="0"/>
          </a:p>
        </p:txBody>
      </p:sp>
      <p:sp>
        <p:nvSpPr>
          <p:cNvPr id="23" name="Text 17"/>
          <p:cNvSpPr txBox="1"/>
          <p:nvPr/>
        </p:nvSpPr>
        <p:spPr>
          <a:xfrm>
            <a:off x="4892040" y="3474720"/>
            <a:ext cx="3611880" cy="4114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Restoring twice, and re-running side effects, is yours to prevent</a:t>
            </a:r>
            <a:endParaRPr lang="en-US" sz="1200" dirty="0"/>
          </a:p>
        </p:txBody>
      </p:sp>
      <p:sp>
        <p:nvSpPr>
          <p:cNvPr id="24" name="Text 18"/>
          <p:cNvSpPr txBox="1"/>
          <p:nvPr/>
        </p:nvSpPr>
        <p:spPr>
          <a:xfrm>
            <a:off x="457200" y="42062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framework does not watch for crashes or dedupe retries on your behalf.</a:t>
            </a:r>
            <a:endParaRPr lang="en-US" sz="1400" dirty="0"/>
          </a:p>
        </p:txBody>
      </p:sp>
      <p:sp>
        <p:nvSpPr>
          <p:cNvPr id="25"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18 — Checkpointing and Durability</a:t>
            </a:r>
            <a:endParaRPr lang="en-US" sz="900" dirty="0"/>
          </a:p>
        </p:txBody>
      </p:sp>
      <p:sp>
        <p:nvSpPr>
          <p:cNvPr id="26"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Pause, restart, restore, approve</a:t>
            </a:r>
            <a:endParaRPr lang="en-US" sz="2800" dirty="0"/>
          </a:p>
        </p:txBody>
      </p:sp>
      <p:sp>
        <p:nvSpPr>
          <p:cNvPr id="4" name="Shape 2"/>
          <p:cNvSpPr/>
          <p:nvPr/>
        </p:nvSpPr>
        <p:spPr>
          <a:xfrm>
            <a:off x="457200" y="1325880"/>
            <a:ext cx="5257800" cy="2849880"/>
          </a:xfrm>
          <a:prstGeom prst="roundRect">
            <a:avLst>
              <a:gd name="adj" fmla="val 2567"/>
            </a:avLst>
          </a:prstGeom>
          <a:solidFill>
            <a:srgbClr val="0F1420"/>
          </a:solidFill>
          <a:ln w="12700">
            <a:solidFill>
              <a:srgbClr val="0F1420"/>
            </a:solidFill>
            <a:prstDash val="solid"/>
          </a:ln>
        </p:spPr>
      </p:sp>
      <p:sp>
        <p:nvSpPr>
          <p:cNvPr id="5" name="Text 3"/>
          <p:cNvSpPr txBox="1"/>
          <p:nvPr/>
        </p:nvSpPr>
        <p:spPr>
          <a:xfrm>
            <a:off x="640080" y="1463040"/>
            <a:ext cx="4892040" cy="2575560"/>
          </a:xfrm>
          <a:prstGeom prst="rect">
            <a:avLst/>
          </a:prstGeom>
          <a:noFill/>
          <a:ln/>
        </p:spPr>
        <p:txBody>
          <a:bodyPr wrap="square" lIns="0" tIns="0" rIns="0" bIns="0" rtlCol="0" anchor="t"/>
          <a:lstStyle/>
          <a:p>
            <a:pPr indent="0" marL="0">
              <a:buNone/>
            </a:pPr>
            <a:r>
              <a:rPr lang="en-US" sz="1000" dirty="0">
                <a:solidFill>
                  <a:srgbClr val="D7E3F4"/>
                </a:solidFill>
                <a:latin typeface="Courier New" pitchFamily="34" charset="0"/>
                <a:ea typeface="Courier New" pitchFamily="34" charset="-122"/>
                <a:cs typeface="Courier New" pitchFamily="34" charset="-120"/>
              </a:rPr>
              <a:t>=== Phase 1: start a checkpointed run, let it pause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IsCheckpointingEnabled: True</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Checkpoints captured so far: 1</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Latest checkpoint: CheckpointInfo(SessionId:</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saturn-report-session, CheckpointId: 775c0596...)</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 Simulating a process restart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Phase 2: restore from disk and complete the run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GetLatestCheckpointAsync("saturn-report-session") -&gt;</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CheckpointInfo(... CheckpointId: 775c0596...)</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Restored plan-review request, identical to Phase 1's</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pause ---</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Approving and resuming...</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Final answer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[ManagerAgent] Here is the short, engaging paragraph ...</a:t>
            </a:r>
            <a:endParaRPr lang="en-US" sz="10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Phase 1</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Checkpointing on, run paused</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Same id</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Phase 2 finds the same checkpoint</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Completed</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Approved after the restart</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18 — Checkpointing and Durability</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48056"/>
          </a:xfrm>
          <a:prstGeom prst="roundRect">
            <a:avLst>
              <a:gd name="adj" fmla="val 16327"/>
            </a:avLst>
          </a:prstGeom>
          <a:solidFill>
            <a:srgbClr val="1F2943"/>
          </a:solidFill>
          <a:ln w="12700">
            <a:solidFill>
              <a:srgbClr val="1F2943"/>
            </a:solidFill>
            <a:prstDash val="solid"/>
          </a:ln>
        </p:spPr>
      </p:sp>
      <p:sp>
        <p:nvSpPr>
          <p:cNvPr id="5" name="Text 3"/>
          <p:cNvSpPr txBox="1"/>
          <p:nvPr/>
        </p:nvSpPr>
        <p:spPr>
          <a:xfrm>
            <a:off x="621792" y="1234440"/>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Swappable checkpoint storage</a:t>
            </a:r>
            <a:endParaRPr lang="en-US" sz="1300" dirty="0"/>
          </a:p>
        </p:txBody>
      </p:sp>
      <p:sp>
        <p:nvSpPr>
          <p:cNvPr id="6" name="Shape 4"/>
          <p:cNvSpPr/>
          <p:nvPr/>
        </p:nvSpPr>
        <p:spPr>
          <a:xfrm>
            <a:off x="3493008" y="136702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21  </a:t>
            </a:r>
            <a:pPr indent="0" marL="0">
              <a:buNone/>
            </a:pPr>
            <a:r>
              <a:rPr lang="en-US" sz="1250" dirty="0">
                <a:solidFill>
                  <a:srgbClr val="FFFFFF"/>
                </a:solidFill>
                <a:latin typeface="Calibri" pitchFamily="34" charset="0"/>
                <a:ea typeface="Calibri" pitchFamily="34" charset="-122"/>
                <a:cs typeface="Calibri" pitchFamily="34" charset="-120"/>
              </a:rPr>
              <a:t>Hosting checkpoints for you; pass your own durable store</a:t>
            </a:r>
            <a:endParaRPr lang="en-US" sz="1250" dirty="0"/>
          </a:p>
        </p:txBody>
      </p:sp>
      <p:sp>
        <p:nvSpPr>
          <p:cNvPr id="8" name="Shape 6"/>
          <p:cNvSpPr/>
          <p:nvPr/>
        </p:nvSpPr>
        <p:spPr>
          <a:xfrm>
            <a:off x="457200" y="1792224"/>
            <a:ext cx="2926080" cy="448056"/>
          </a:xfrm>
          <a:prstGeom prst="roundRect">
            <a:avLst>
              <a:gd name="adj" fmla="val 16327"/>
            </a:avLst>
          </a:prstGeom>
          <a:solidFill>
            <a:srgbClr val="1F2943"/>
          </a:solidFill>
          <a:ln w="12700">
            <a:solidFill>
              <a:srgbClr val="1F2943"/>
            </a:solidFill>
            <a:prstDash val="solid"/>
          </a:ln>
        </p:spPr>
      </p:sp>
      <p:sp>
        <p:nvSpPr>
          <p:cNvPr id="9" name="Text 7"/>
          <p:cNvSpPr txBox="1"/>
          <p:nvPr/>
        </p:nvSpPr>
        <p:spPr>
          <a:xfrm>
            <a:off x="621792" y="1792224"/>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Stable ids on every build</a:t>
            </a:r>
            <a:endParaRPr lang="en-US" sz="1300" dirty="0"/>
          </a:p>
        </p:txBody>
      </p:sp>
      <p:sp>
        <p:nvSpPr>
          <p:cNvPr id="10" name="Shape 8"/>
          <p:cNvSpPr/>
          <p:nvPr/>
        </p:nvSpPr>
        <p:spPr>
          <a:xfrm>
            <a:off x="3493008" y="192481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792224"/>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22  </a:t>
            </a:r>
            <a:pPr indent="0" marL="0">
              <a:buNone/>
            </a:pPr>
            <a:r>
              <a:rPr lang="en-US" sz="1250" dirty="0">
                <a:solidFill>
                  <a:srgbClr val="FFFFFF"/>
                </a:solidFill>
                <a:latin typeface="Calibri" pitchFamily="34" charset="0"/>
                <a:ea typeface="Calibri" pitchFamily="34" charset="-122"/>
                <a:cs typeface="Calibri" pitchFamily="34" charset="-120"/>
              </a:rPr>
              <a:t>Fixes the capstone's node ids so checkpoints restore</a:t>
            </a:r>
            <a:endParaRPr lang="en-US" sz="1250" dirty="0"/>
          </a:p>
        </p:txBody>
      </p:sp>
      <p:sp>
        <p:nvSpPr>
          <p:cNvPr id="12" name="Shape 10"/>
          <p:cNvSpPr/>
          <p:nvPr/>
        </p:nvSpPr>
        <p:spPr>
          <a:xfrm>
            <a:off x="457200" y="2350008"/>
            <a:ext cx="2926080" cy="448056"/>
          </a:xfrm>
          <a:prstGeom prst="roundRect">
            <a:avLst>
              <a:gd name="adj" fmla="val 16327"/>
            </a:avLst>
          </a:prstGeom>
          <a:solidFill>
            <a:srgbClr val="1F2943"/>
          </a:solidFill>
          <a:ln w="12700">
            <a:solidFill>
              <a:srgbClr val="1F2943"/>
            </a:solidFill>
            <a:prstDash val="solid"/>
          </a:ln>
        </p:spPr>
      </p:sp>
      <p:sp>
        <p:nvSpPr>
          <p:cNvPr id="13" name="Text 11"/>
          <p:cNvSpPr txBox="1"/>
          <p:nvPr/>
        </p:nvSpPr>
        <p:spPr>
          <a:xfrm>
            <a:off x="621792" y="2350008"/>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Restore a paused run in a new process</a:t>
            </a:r>
            <a:endParaRPr lang="en-US" sz="1300" dirty="0"/>
          </a:p>
        </p:txBody>
      </p:sp>
      <p:sp>
        <p:nvSpPr>
          <p:cNvPr id="14" name="Shape 12"/>
          <p:cNvSpPr/>
          <p:nvPr/>
        </p:nvSpPr>
        <p:spPr>
          <a:xfrm>
            <a:off x="3493008" y="24825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350008"/>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23  </a:t>
            </a:r>
            <a:pPr indent="0" marL="0">
              <a:buNone/>
            </a:pPr>
            <a:r>
              <a:rPr lang="en-US" sz="1250" dirty="0">
                <a:solidFill>
                  <a:srgbClr val="FFFFFF"/>
                </a:solidFill>
                <a:latin typeface="Calibri" pitchFamily="34" charset="0"/>
                <a:ea typeface="Calibri" pitchFamily="34" charset="-122"/>
                <a:cs typeface="Calibri" pitchFamily="34" charset="-120"/>
              </a:rPr>
              <a:t>dotnet run -- resume answers the pending approval</a:t>
            </a:r>
            <a:endParaRPr lang="en-US" sz="1250" dirty="0"/>
          </a:p>
        </p:txBody>
      </p:sp>
      <p:sp>
        <p:nvSpPr>
          <p:cNvPr id="16" name="Shape 14"/>
          <p:cNvSpPr/>
          <p:nvPr/>
        </p:nvSpPr>
        <p:spPr>
          <a:xfrm>
            <a:off x="457200" y="2907792"/>
            <a:ext cx="2926080" cy="448056"/>
          </a:xfrm>
          <a:prstGeom prst="roundRect">
            <a:avLst>
              <a:gd name="adj" fmla="val 16327"/>
            </a:avLst>
          </a:prstGeom>
          <a:solidFill>
            <a:srgbClr val="1F2943"/>
          </a:solidFill>
          <a:ln w="12700">
            <a:solidFill>
              <a:srgbClr val="1F2943"/>
            </a:solidFill>
            <a:prstDash val="solid"/>
          </a:ln>
        </p:spPr>
      </p:sp>
      <p:sp>
        <p:nvSpPr>
          <p:cNvPr id="17" name="Text 15"/>
          <p:cNvSpPr txBox="1"/>
          <p:nvPr/>
        </p:nvSpPr>
        <p:spPr>
          <a:xfrm>
            <a:off x="621792" y="2907792"/>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Restore safety is the app's job</a:t>
            </a:r>
            <a:endParaRPr lang="en-US" sz="1300" dirty="0"/>
          </a:p>
        </p:txBody>
      </p:sp>
      <p:sp>
        <p:nvSpPr>
          <p:cNvPr id="18" name="Shape 16"/>
          <p:cNvSpPr/>
          <p:nvPr/>
        </p:nvSpPr>
        <p:spPr>
          <a:xfrm>
            <a:off x="3493008" y="304038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2907792"/>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23  </a:t>
            </a:r>
            <a:pPr indent="0" marL="0">
              <a:buNone/>
            </a:pPr>
            <a:r>
              <a:rPr lang="en-US" sz="1250" dirty="0">
                <a:solidFill>
                  <a:srgbClr val="FFFFFF"/>
                </a:solidFill>
                <a:latin typeface="Calibri" pitchFamily="34" charset="0"/>
                <a:ea typeface="Calibri" pitchFamily="34" charset="-122"/>
                <a:cs typeface="Calibri" pitchFamily="34" charset="-120"/>
              </a:rPr>
              <a:t>Clears checkpoints so one approval is answered once</a:t>
            </a:r>
            <a:endParaRPr lang="en-US" sz="1250" dirty="0"/>
          </a:p>
        </p:txBody>
      </p:sp>
      <p:sp>
        <p:nvSpPr>
          <p:cNvPr id="20" name="Shape 18"/>
          <p:cNvSpPr/>
          <p:nvPr/>
        </p:nvSpPr>
        <p:spPr>
          <a:xfrm>
            <a:off x="457200" y="3465576"/>
            <a:ext cx="2926080" cy="448056"/>
          </a:xfrm>
          <a:prstGeom prst="roundRect">
            <a:avLst>
              <a:gd name="adj" fmla="val 16327"/>
            </a:avLst>
          </a:prstGeom>
          <a:solidFill>
            <a:srgbClr val="1F2943"/>
          </a:solidFill>
          <a:ln w="12700">
            <a:solidFill>
              <a:srgbClr val="1F2943"/>
            </a:solidFill>
            <a:prstDash val="solid"/>
          </a:ln>
        </p:spPr>
      </p:sp>
      <p:sp>
        <p:nvSpPr>
          <p:cNvPr id="21" name="Text 19"/>
          <p:cNvSpPr txBox="1"/>
          <p:nvPr/>
        </p:nvSpPr>
        <p:spPr>
          <a:xfrm>
            <a:off x="621792" y="3465576"/>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pause that survives a restart</a:t>
            </a:r>
            <a:endParaRPr lang="en-US" sz="1300" dirty="0"/>
          </a:p>
        </p:txBody>
      </p:sp>
      <p:sp>
        <p:nvSpPr>
          <p:cNvPr id="22" name="Shape 20"/>
          <p:cNvSpPr/>
          <p:nvPr/>
        </p:nvSpPr>
        <p:spPr>
          <a:xfrm>
            <a:off x="3493008" y="3598164"/>
            <a:ext cx="329184" cy="182880"/>
          </a:xfrm>
          <a:prstGeom prst="rightArrow">
            <a:avLst/>
          </a:prstGeom>
          <a:solidFill>
            <a:srgbClr val="F5A623"/>
          </a:solidFill>
          <a:ln w="12700">
            <a:solidFill>
              <a:srgbClr val="F5A623"/>
            </a:solidFill>
            <a:prstDash val="solid"/>
          </a:ln>
        </p:spPr>
      </p:sp>
      <p:sp>
        <p:nvSpPr>
          <p:cNvPr id="23" name="Text 21"/>
          <p:cNvSpPr txBox="1"/>
          <p:nvPr/>
        </p:nvSpPr>
        <p:spPr>
          <a:xfrm>
            <a:off x="3977640" y="3465576"/>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24  </a:t>
            </a:r>
            <a:pPr indent="0" marL="0">
              <a:buNone/>
            </a:pPr>
            <a:r>
              <a:rPr lang="en-US" sz="1250" dirty="0">
                <a:solidFill>
                  <a:srgbClr val="FFFFFF"/>
                </a:solidFill>
                <a:latin typeface="Calibri" pitchFamily="34" charset="0"/>
                <a:ea typeface="Calibri" pitchFamily="34" charset="-122"/>
                <a:cs typeface="Calibri" pitchFamily="34" charset="-120"/>
              </a:rPr>
              <a:t>The host checkpoints the run; a restarted host continues it</a:t>
            </a:r>
            <a:endParaRPr lang="en-US" sz="1250" dirty="0"/>
          </a:p>
        </p:txBody>
      </p:sp>
      <p:sp>
        <p:nvSpPr>
          <p:cNvPr id="24" name="Text 22"/>
          <p:cNvSpPr txBox="1"/>
          <p:nvPr/>
        </p:nvSpPr>
        <p:spPr>
          <a:xfrm>
            <a:off x="457200" y="4206240"/>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Lessons 22–24 Capstone — Research-and-Report Pipeline</a:t>
            </a:r>
            <a:endParaRPr lang="en-US" sz="1300" dirty="0"/>
          </a:p>
        </p:txBody>
      </p:sp>
      <p:sp>
        <p:nvSpPr>
          <p:cNvPr id="25" name="Text 2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Lesson 18 — Checkpointing and Durability</a:t>
            </a:r>
            <a:endParaRPr lang="en-US" sz="900" dirty="0"/>
          </a:p>
        </p:txBody>
      </p:sp>
      <p:sp>
        <p:nvSpPr>
          <p:cNvPr id="26" name="Text 2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18 — Checkpointing and Durability</dc:title>
  <dc:subject>PptxGenJS Presentation</dc:subject>
  <dc:creator>Applied Agentic Orchestration with Microsoft Agent Framework</dc:creator>
  <cp:lastModifiedBy>Applied Agentic Orchestration with Microsoft Agent Framework</cp:lastModifiedBy>
  <cp:revision>1</cp:revision>
  <dcterms:created xsi:type="dcterms:W3CDTF">2026-10-07T23:53:46Z</dcterms:created>
  <dcterms:modified xsi:type="dcterms:W3CDTF">2026-10-07T23:53:46Z</dcterms:modified>
</cp:coreProperties>
</file>