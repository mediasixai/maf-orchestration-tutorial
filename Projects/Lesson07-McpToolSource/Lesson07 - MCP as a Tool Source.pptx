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a GameMasterAgent gets its tools from an entirely external source: a small Model Context Protocol server, launched as a separate process and spoken to over stdio, exposing a roll_dice and a flip_coin tool. The agent never sees these tools' C# implementations. It discovers them at run time from the server and calls them through the exact same function-calling pipeline as Lesson 2's local tools. That is the mechanism that lets an agent use tools it wasn't explicitly coded against, which is the whole point of treating MCP as a universal tool interface. We assume Lessons 1 and 2: IChatClient, ChatClientAgent, RunAsync, and function tools. The lesson is otherwise standalone, and ships a second, companion project, the MCP server, alongside the main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two projects in one solution. DiceRollerMcpServer is the MCP server: a small console app that exposes two tools over stdio. It uses ModelContextProtocol 2.2.0 for server hosting and Microsoft.Extensions.Hosting 10.0.12 for the generic host. You never run it directly; the client launches it as a subprocess. McpToolSource is the lesson proper: Microsoft.Agents.AI 1.24.0, Microsoft.Extensions.AI.OpenAI 10.10.1, OpenAI 2.14.0, and the same ModelContextProtocol package for the client side. Opening McpToolSource.slnx loads both projects, so Build Solution builds both. Build the server before running the client, with dotnet build src/DiceRollerMcpServer, because the client launches the server's built DLL. That is the usual way to launch a stdio MCP server: dotnet run can print restore and build progress to standard output, and standard output is where the MCP JSON-RPC stream lives. Connecting to the server: the client is created with the static McpClient.CreateAsync method, which starts the transport, performs the MCP handshake and returns a connected McpClient. Each tool the server advertises comes back from ListToolsAsync as an McpClientTool, which can be handed to an agent as an AITool. Environment: OPENAI_API_KEY plus the required MAF_LLM and MAF_MODEL, OPENAI and gpt-4.1-mini for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is a protocol, not a MAF feature. The Model Context Protocol is an open standard for how any application exposes tools and other context to any LLM-calling client. Microsoft didn't invent it; MAF just speaks it. That's why both projects reference the same ModelContextProtocol package any other MCP integration would use. And a server and a client are two independent processes. Unlike Lesson 2's tools, which lived in the agent's process, DiceRollerMcpServer runs as its own subprocess over standard input and output. The transport could just as easily be HTTP for a remote server; stdio is simply the local case. The server project has no model provider, no IChatClient and no agent anywhere: an MCP server is model-agnostic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discovery is dynamic, not hand-coded. This project never references RollDice or FlipCoin by name anywhere in its own source. ListToolsAsync returns whatever the server happens to expose right now, and the agent's tool list is built from that response, not from a fixed list the developer wrote. Add a third tool to the server and this client picks it up with zero code changes. When you run the lesson, watch the line that prints the discovered tools: those names come from the server's own advertisement.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McpClientTool is already an AIFunction. ListToolsAsync returns an IList of McpClientTool, and McpClientTool derives from Microsoft.Extensions.AI.AIFunction, the exact base type AIFunctionFactory.Create produced in Lesson 2. Casting to AITool and handing the list to AgentFactory.CreateAgent is the entire bridge between tools discovered over a protocol and tools a ChatClientAgent can call. There's no manual JSON-schema wiring or invocation glue. Once the agent is built, RunAsync behaves exactly as it did with local tools: the model decides to call roll_dice or flip_coin, ChatClientAgent's built-in FunctionInvokingChatClient executes the call, which transparently round-trips over stdio to the subprocess, and feeds the result back to produce the final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declares its tools with attributes, not manual registration. McpServerToolType on DiceTools marks it as a tool container. McpServerTool plus Description on each method is enough for WithToolsFromAssembly to find and advertise both methods by reflection at startup. The server's Program.cs is a generic host: Host.CreateApplicationBuilder plus AddMcpServer, WithStdioServerTransport and WithToolsFromAssembly. And note the names. RollDice and FlipCoin are C# PascalCase method names, but the server advertises them as roll_dice and flip_coin, as this lesson's own console output confirms. The model sees and calls the protocol name, not the C# identifier.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output is sacred on the server side. MCP's JSON-RPC messages ride on stdout when you use the stdio transport. DiceRollerMcpServer's Program.cs redirects all logging to standard error so nothing else ever writes to stdout. A single stray Console.WriteLine in the server would corrupt the protocol stream from the client's point of view. It is also why the client launches the server's built DLL, with dotnet and the DLL path, rather than dotnet run --project: dotnet run can print restore and build progress to standard output, which is exactly where the JSON-RPC stream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Locating the sibling server's DLL must not depend on the current working directory. Directory.GetCurrentDirectory depends on how you launched: dotnet run from inside McpToolSource sets it to the project folder, while running the built EXE or DLL directly sets it to wherever you happened to be. McpServerConnectionFactory.ConnectAsync anchors to AppContext.BaseDirectory instead, which is always the folder holding the running assembly, so the same path resolves whether you start the lesson with dotnet run, the built DLL, or VS2026. It checks that the DLL exists, with a clear error pointing at the fix if not, then passes Command dotnet and the DLL path into StdioClientTransport, and McpClient.CreateAsync starts the process and performs the handshake. Finally, await using matters: McpClient owns a live subprocess and open stdio streams. await using guarantees the subprocess is torn down when Main exits, even if an exception is thrown partway through, so no orphaned dotnet process is left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server first, then run the client. The first line lists the two tools discovered by name from the server, in their protocol form. Then the two prompts: roll two six-sided dice and tell me the total, and flip a coin to decide who goes first. The dice values and coin result come from Random in the live server process, so the exact numbers and heads or tails will vary between runs. What won't vary is the shape: two tools discovered by name, and both prompts answered by an actual tool call rather than the model inventing a number. On the slide the first line is wrapped after the colon; no words were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each piece goes. MCP tools on a ChatClientAgent: the Lesson 22 capstone design gives MCP tool access to the Researcher and only the Researcher. The companion server project: Lesson 23's ResearchMcpServer is a straight copy of today's shape, retargeted to one research tool. The AppContext.BaseDirectory-anchored McpServerConnectionFactory comes back in Lesson 23 with an optional explicit path override. The two-project layout is reused by Lesson 19's A2A lesson. And because the connection is stdio-based, Lesson 24's deployment has to containerize a host that launches the MCP server as a subprocess. All of it ships in the Lessons 22 to 24 capstone, the research-and-report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7  ·  PHASE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MCP as a Tool Source</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Tools the agent discovers at run time</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 2's function tools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Lesson07-McpToolSource/</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MCP is a protocol, not a MAF feature</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Running an MCP server as its own process over stdio</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Discovering tools at run time with ListToolsAsync</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an MCP tool is already an AIFunction</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Keeping the server's stdout clean</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7 — MCP as a Tool Source</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projects, one solution</a:t>
            </a:r>
            <a:endParaRPr lang="en-US" sz="2800" dirty="0"/>
          </a:p>
        </p:txBody>
      </p:sp>
      <p:sp>
        <p:nvSpPr>
          <p:cNvPr id="4" name="Shape 2"/>
          <p:cNvSpPr/>
          <p:nvPr/>
        </p:nvSpPr>
        <p:spPr>
          <a:xfrm>
            <a:off x="457200" y="1371600"/>
            <a:ext cx="2560320" cy="2011680"/>
          </a:xfrm>
          <a:prstGeom prst="roundRect">
            <a:avLst>
              <a:gd name="adj" fmla="val 363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DiceRollerMcpServer</a:t>
            </a:r>
            <a:endParaRPr lang="en-US" sz="1200" dirty="0"/>
          </a:p>
        </p:txBody>
      </p:sp>
      <p:sp>
        <p:nvSpPr>
          <p:cNvPr id="8" name="Text 5"/>
          <p:cNvSpPr txBox="1"/>
          <p:nvPr/>
        </p:nvSpPr>
        <p:spPr>
          <a:xfrm>
            <a:off x="640080" y="2057400"/>
            <a:ext cx="2194560" cy="123444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ModelContextProtocol 2.2.0</a:t>
            </a:r>
            <a:endParaRPr lang="en-US" sz="1100" dirty="0"/>
          </a:p>
          <a:p>
            <a:pPr indent="0" marL="0">
              <a:buNone/>
            </a:pPr>
            <a:r>
              <a:rPr lang="en-US" sz="1100" dirty="0">
                <a:solidFill>
                  <a:srgbClr val="6B7280"/>
                </a:solidFill>
                <a:latin typeface="Calibri" pitchFamily="34" charset="0"/>
                <a:ea typeface="Calibri" pitchFamily="34" charset="-122"/>
                <a:cs typeface="Calibri" pitchFamily="34" charset="-120"/>
              </a:rPr>
              <a:t>Microsoft.Extensions.Hosting 10.0.12</a:t>
            </a:r>
            <a:endParaRPr lang="en-US" sz="1100" dirty="0"/>
          </a:p>
          <a:p>
            <a:pPr indent="0" marL="0">
              <a:buNone/>
            </a:pPr>
            <a:r>
              <a:rPr lang="en-US" sz="1100" dirty="0">
                <a:solidFill>
                  <a:srgbClr val="6B7280"/>
                </a:solidFill>
                <a:latin typeface="Calibri" pitchFamily="34" charset="0"/>
                <a:ea typeface="Calibri" pitchFamily="34" charset="-122"/>
                <a:cs typeface="Calibri" pitchFamily="34" charset="-120"/>
              </a:rPr>
              <a:t>Never run directly</a:t>
            </a:r>
            <a:endParaRPr lang="en-US" sz="1100" dirty="0"/>
          </a:p>
        </p:txBody>
      </p:sp>
      <p:sp>
        <p:nvSpPr>
          <p:cNvPr id="9" name="Shape 6"/>
          <p:cNvSpPr/>
          <p:nvPr/>
        </p:nvSpPr>
        <p:spPr>
          <a:xfrm>
            <a:off x="3291840" y="1371600"/>
            <a:ext cx="25603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McpToolSource</a:t>
            </a:r>
            <a:endParaRPr lang="en-US" sz="1400" dirty="0"/>
          </a:p>
        </p:txBody>
      </p:sp>
      <p:sp>
        <p:nvSpPr>
          <p:cNvPr id="13" name="Text 9"/>
          <p:cNvSpPr txBox="1"/>
          <p:nvPr/>
        </p:nvSpPr>
        <p:spPr>
          <a:xfrm>
            <a:off x="3474720" y="2057400"/>
            <a:ext cx="2194560" cy="123444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Microsoft.Agents.AI 1.24.0</a:t>
            </a:r>
            <a:endParaRPr lang="en-US" sz="1000" dirty="0"/>
          </a:p>
          <a:p>
            <a:pPr indent="0" marL="0">
              <a:buNone/>
            </a:pPr>
            <a:r>
              <a:rPr lang="en-US" sz="1000" dirty="0">
                <a:solidFill>
                  <a:srgbClr val="6B7280"/>
                </a:solidFill>
                <a:latin typeface="Calibri" pitchFamily="34" charset="0"/>
                <a:ea typeface="Calibri" pitchFamily="34" charset="-122"/>
                <a:cs typeface="Calibri" pitchFamily="34" charset="-120"/>
              </a:rPr>
              <a:t>Microsoft.Extensions.AI.OpenAI 10.10.1</a:t>
            </a:r>
            <a:endParaRPr lang="en-US" sz="1000" dirty="0"/>
          </a:p>
          <a:p>
            <a:pPr indent="0" marL="0">
              <a:buNone/>
            </a:pPr>
            <a:r>
              <a:rPr lang="en-US" sz="1000" dirty="0">
                <a:solidFill>
                  <a:srgbClr val="6B7280"/>
                </a:solidFill>
                <a:latin typeface="Calibri" pitchFamily="34" charset="0"/>
                <a:ea typeface="Calibri" pitchFamily="34" charset="-122"/>
                <a:cs typeface="Calibri" pitchFamily="34" charset="-120"/>
              </a:rPr>
              <a:t>ModelContextProtocol 2.2.0</a:t>
            </a:r>
            <a:endParaRPr lang="en-US" sz="1000" dirty="0"/>
          </a:p>
        </p:txBody>
      </p:sp>
      <p:sp>
        <p:nvSpPr>
          <p:cNvPr id="14" name="Shape 10"/>
          <p:cNvSpPr/>
          <p:nvPr/>
        </p:nvSpPr>
        <p:spPr>
          <a:xfrm>
            <a:off x="6126480" y="1371600"/>
            <a:ext cx="2560320" cy="2011680"/>
          </a:xfrm>
          <a:prstGeom prst="roundRect">
            <a:avLst>
              <a:gd name="adj" fmla="val 3636"/>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Build the server first</a:t>
            </a:r>
            <a:endParaRPr lang="en-US" sz="1300" dirty="0"/>
          </a:p>
        </p:txBody>
      </p:sp>
      <p:sp>
        <p:nvSpPr>
          <p:cNvPr id="18" name="Text 13"/>
          <p:cNvSpPr txBox="1"/>
          <p:nvPr/>
        </p:nvSpPr>
        <p:spPr>
          <a:xfrm>
            <a:off x="6309360" y="2057400"/>
            <a:ext cx="2194560" cy="12344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client launches its built DLL, not dotnet run</a:t>
            </a:r>
            <a:endParaRPr lang="en-US" sz="1200" dirty="0"/>
          </a:p>
        </p:txBody>
      </p:sp>
      <p:sp>
        <p:nvSpPr>
          <p:cNvPr id="19" name="Text 14"/>
          <p:cNvSpPr txBox="1"/>
          <p:nvPr/>
        </p:nvSpPr>
        <p:spPr>
          <a:xfrm>
            <a:off x="457200" y="361188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McpClient.CreateAsync starts the transport, does the handshake and returns a client.</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7 — MCP as a Tool Source</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processes, one open protocol</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250" b="1" dirty="0">
                <a:solidFill>
                  <a:srgbClr val="1F2937"/>
                </a:solidFill>
                <a:latin typeface="Calibri" pitchFamily="34" charset="0"/>
                <a:ea typeface="Calibri" pitchFamily="34" charset="-122"/>
                <a:cs typeface="Calibri" pitchFamily="34" charset="-120"/>
              </a:rPr>
              <a:t>GameMasterAgent</a:t>
            </a:r>
            <a:endParaRPr lang="en-US" sz="125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agent, in McpToolSource</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McpClient</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Starts the server and performs the MCP handshake</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stdio JSON-RPC</a:t>
            </a:r>
            <a:endParaRPr lang="en-US" sz="14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local transport. A remote server would use HTTP.</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MCP server</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Its own process. No model, no agent.</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MCP is an open standard. MAF just knows how to speak it.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7 — MCP as a Tool Source</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Tools discovered, not hand-coded</a:t>
            </a:r>
            <a:endParaRPr lang="en-US" sz="2800" dirty="0"/>
          </a:p>
        </p:txBody>
      </p:sp>
      <p:sp>
        <p:nvSpPr>
          <p:cNvPr id="4" name="Shape 2"/>
          <p:cNvSpPr/>
          <p:nvPr/>
        </p:nvSpPr>
        <p:spPr>
          <a:xfrm>
            <a:off x="457200" y="1371600"/>
            <a:ext cx="3931920" cy="2103120"/>
          </a:xfrm>
          <a:prstGeom prst="roundRect">
            <a:avLst>
              <a:gd name="adj" fmla="val 3478"/>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 local tools</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Each tool named in your own source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new tool means a code change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Runs inside the agent's process</a:t>
            </a:r>
            <a:endParaRPr lang="en-US" sz="1300" dirty="0"/>
          </a:p>
        </p:txBody>
      </p:sp>
      <p:sp>
        <p:nvSpPr>
          <p:cNvPr id="9" name="Shape 6"/>
          <p:cNvSpPr/>
          <p:nvPr/>
        </p:nvSpPr>
        <p:spPr>
          <a:xfrm>
            <a:off x="4754880" y="1371600"/>
            <a:ext cx="3931920" cy="2103120"/>
          </a:xfrm>
          <a:prstGeom prst="roundRect">
            <a:avLst>
              <a:gd name="adj" fmla="val 3478"/>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7: MCP tools</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ListToolsAsync returns what the server exposes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tool named anywhere in the client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Add a server tool: zero client changes</a:t>
            </a:r>
            <a:endParaRPr lang="en-US" sz="1300" dirty="0"/>
          </a:p>
        </p:txBody>
      </p:sp>
      <p:sp>
        <p:nvSpPr>
          <p:cNvPr id="14" name="Text 10"/>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agent's tool list is built from the server's answer.</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7 — MCP as a Tool Source</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McpClientTool is already an AIFunction</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McpClientTool</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Returned by ListToolsAsync. The agent can't tell it from a local tool.</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Same base</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Derives from AIFunction, like AIFunctionFactory.Create's output</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One cast</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Cast&lt;AITool&gt;() into the agent's tools. No schema wiring.</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Same loop</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FunctionInvokingChatClient calls it, round-tripping over stdio</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From here it is the ordinary Lesson 2 function-calling loop.</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7 — MCP as a Tool Source</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server advertises by attribute</a:t>
            </a:r>
            <a:endParaRPr lang="en-US" sz="2800" dirty="0"/>
          </a:p>
        </p:txBody>
      </p:sp>
      <p:sp>
        <p:nvSpPr>
          <p:cNvPr id="4" name="Shape 2"/>
          <p:cNvSpPr/>
          <p:nvPr/>
        </p:nvSpPr>
        <p:spPr>
          <a:xfrm>
            <a:off x="457200" y="1371600"/>
            <a:ext cx="2560320" cy="2011680"/>
          </a:xfrm>
          <a:prstGeom prst="roundRect">
            <a:avLst>
              <a:gd name="adj" fmla="val 363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150" b="1" dirty="0">
                <a:solidFill>
                  <a:srgbClr val="1F2937"/>
                </a:solidFill>
                <a:latin typeface="Courier New" pitchFamily="34" charset="0"/>
                <a:ea typeface="Courier New" pitchFamily="34" charset="-122"/>
                <a:cs typeface="Courier New" pitchFamily="34" charset="-120"/>
              </a:rPr>
              <a:t>[McpServerToolType]</a:t>
            </a:r>
            <a:endParaRPr lang="en-US" sz="1150" dirty="0"/>
          </a:p>
        </p:txBody>
      </p:sp>
      <p:sp>
        <p:nvSpPr>
          <p:cNvPr id="8" name="Text 5"/>
          <p:cNvSpPr txBox="1"/>
          <p:nvPr/>
        </p:nvSpPr>
        <p:spPr>
          <a:xfrm>
            <a:off x="64008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Marks DiceTools as a tool container</a:t>
            </a:r>
            <a:endParaRPr lang="en-US" sz="1200" dirty="0"/>
          </a:p>
        </p:txBody>
      </p:sp>
      <p:sp>
        <p:nvSpPr>
          <p:cNvPr id="9" name="Shape 6"/>
          <p:cNvSpPr/>
          <p:nvPr/>
        </p:nvSpPr>
        <p:spPr>
          <a:xfrm>
            <a:off x="3291840" y="1371600"/>
            <a:ext cx="25603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200" b="1" dirty="0">
                <a:solidFill>
                  <a:srgbClr val="1F2937"/>
                </a:solidFill>
                <a:latin typeface="Courier New" pitchFamily="34" charset="0"/>
                <a:ea typeface="Courier New" pitchFamily="34" charset="-122"/>
                <a:cs typeface="Courier New" pitchFamily="34" charset="-120"/>
              </a:rPr>
              <a:t>[McpServerTool]</a:t>
            </a:r>
            <a:endParaRPr lang="en-US" sz="1200" dirty="0"/>
          </a:p>
        </p:txBody>
      </p:sp>
      <p:sp>
        <p:nvSpPr>
          <p:cNvPr id="13" name="Text 9"/>
          <p:cNvSpPr txBox="1"/>
          <p:nvPr/>
        </p:nvSpPr>
        <p:spPr>
          <a:xfrm>
            <a:off x="347472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Plus [Description] on each method. WithToolsFromAssembly finds them.</a:t>
            </a:r>
            <a:endParaRPr lang="en-US" sz="1200" dirty="0"/>
          </a:p>
        </p:txBody>
      </p:sp>
      <p:sp>
        <p:nvSpPr>
          <p:cNvPr id="14" name="Shape 10"/>
          <p:cNvSpPr/>
          <p:nvPr/>
        </p:nvSpPr>
        <p:spPr>
          <a:xfrm>
            <a:off x="6126480" y="1371600"/>
            <a:ext cx="2560320" cy="2011680"/>
          </a:xfrm>
          <a:prstGeom prst="roundRect">
            <a:avLst>
              <a:gd name="adj" fmla="val 3636"/>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RollDice → roll_dice</a:t>
            </a:r>
            <a:endParaRPr lang="en-US" sz="1200" dirty="0"/>
          </a:p>
        </p:txBody>
      </p:sp>
      <p:sp>
        <p:nvSpPr>
          <p:cNvPr id="18" name="Text 13"/>
          <p:cNvSpPr txBox="1"/>
          <p:nvPr/>
        </p:nvSpPr>
        <p:spPr>
          <a:xfrm>
            <a:off x="6309360" y="2057400"/>
            <a:ext cx="2194560" cy="12344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model sees and calls the protocol name, not the C# method name</a:t>
            </a:r>
            <a:endParaRPr lang="en-US" sz="1200" dirty="0"/>
          </a:p>
        </p:txBody>
      </p:sp>
      <p:sp>
        <p:nvSpPr>
          <p:cNvPr id="19" name="Text 14"/>
          <p:cNvSpPr txBox="1"/>
          <p:nvPr/>
        </p:nvSpPr>
        <p:spPr>
          <a:xfrm>
            <a:off x="457200" y="361188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code anywhere lists the tools by name. The assembly scan does that.</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7 — MCP as a Tool Source</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Standard output is sacred</a:t>
            </a:r>
            <a:endParaRPr lang="en-US" sz="2800" dirty="0"/>
          </a:p>
        </p:txBody>
      </p:sp>
      <p:sp>
        <p:nvSpPr>
          <p:cNvPr id="4" name="Shape 2"/>
          <p:cNvSpPr/>
          <p:nvPr/>
        </p:nvSpPr>
        <p:spPr>
          <a:xfrm>
            <a:off x="457200" y="1371600"/>
            <a:ext cx="3931920" cy="2103120"/>
          </a:xfrm>
          <a:prstGeom prst="roundRect">
            <a:avLst>
              <a:gd name="adj" fmla="val 3478"/>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Corrupts the stream</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stray Console.WriteLine in the server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dotnet run's build output on stdout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Both land where JSON-RPC lives</a:t>
            </a:r>
            <a:endParaRPr lang="en-US" sz="1300" dirty="0"/>
          </a:p>
        </p:txBody>
      </p:sp>
      <p:sp>
        <p:nvSpPr>
          <p:cNvPr id="9" name="Shape 6"/>
          <p:cNvSpPr/>
          <p:nvPr/>
        </p:nvSpPr>
        <p:spPr>
          <a:xfrm>
            <a:off x="4754880" y="1371600"/>
            <a:ext cx="3931920" cy="2103120"/>
          </a:xfrm>
          <a:prstGeom prst="roundRect">
            <a:avLst>
              <a:gd name="adj" fmla="val 3478"/>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16A34A"/>
          </a:solidFill>
          <a:ln w="12700">
            <a:solidFill>
              <a:srgbClr val="16A34A"/>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Keeps it clean</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Server logging goes to standard error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client runs the built DLL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stdout carries only the protocol</a:t>
            </a:r>
            <a:endParaRPr lang="en-US" sz="1300" dirty="0"/>
          </a:p>
        </p:txBody>
      </p:sp>
      <p:sp>
        <p:nvSpPr>
          <p:cNvPr id="14" name="Text 10"/>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Over stdio, stdout belongs to MCP and nothing else.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7 — MCP as a Tool Source</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Find, launch and clean up the server</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450" b="1" dirty="0">
                <a:solidFill>
                  <a:srgbClr val="1F2937"/>
                </a:solidFill>
                <a:latin typeface="Calibri" pitchFamily="34" charset="0"/>
                <a:ea typeface="Calibri" pitchFamily="34" charset="-122"/>
                <a:cs typeface="Calibri" pitchFamily="34" charset="-120"/>
              </a:rPr>
              <a:t>BaseDirectory</a:t>
            </a:r>
            <a:endParaRPr lang="en-US" sz="145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AppContext.</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BaseDirectory, not the current directory</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Check the DLL</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clear error pointing at the fix if it's missing</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CreateAsync</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StdioClientTransport runs dotnet &lt;dll&gt;</a:t>
            </a:r>
            <a:endParaRPr lang="en-US" sz="105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await using</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DisposeAsync stops the subprocess, even on error</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Same result whether you use dotnet run, the built DLL or VS2026.</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7 — MCP as a Tool Source</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tools discovered, two tools called</a:t>
            </a:r>
            <a:endParaRPr lang="en-US" sz="2800" dirty="0"/>
          </a:p>
        </p:txBody>
      </p:sp>
      <p:sp>
        <p:nvSpPr>
          <p:cNvPr id="4" name="Shape 2"/>
          <p:cNvSpPr/>
          <p:nvPr/>
        </p:nvSpPr>
        <p:spPr>
          <a:xfrm>
            <a:off x="457200" y="1325880"/>
            <a:ext cx="5257800" cy="1630680"/>
          </a:xfrm>
          <a:prstGeom prst="roundRect">
            <a:avLst>
              <a:gd name="adj" fmla="val 4486"/>
            </a:avLst>
          </a:prstGeom>
          <a:solidFill>
            <a:srgbClr val="0F1420"/>
          </a:solidFill>
          <a:ln w="12700">
            <a:solidFill>
              <a:srgbClr val="0F1420"/>
            </a:solidFill>
            <a:prstDash val="solid"/>
          </a:ln>
        </p:spPr>
      </p:sp>
      <p:sp>
        <p:nvSpPr>
          <p:cNvPr id="5" name="Text 3"/>
          <p:cNvSpPr txBox="1"/>
          <p:nvPr/>
        </p:nvSpPr>
        <p:spPr>
          <a:xfrm>
            <a:off x="640080" y="1463040"/>
            <a:ext cx="4892040" cy="13563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Discovered 2 tool(s) from the MCP server:</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flip_coin, roll_dice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Prompt 1: roll dice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You rolled a 1 and a 3, for a total of 4.</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Prompt 2: flip a coin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The coin landed on Heads. You go first!</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Discovery</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Names come from the server, in protocol form</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Real calls</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Values vary per run; the shape doesn't</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7 — MCP as a Tool Source</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MCP tools on a ChatClientAgent</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22  </a:t>
            </a:r>
            <a:pPr indent="0" marL="0">
              <a:buNone/>
            </a:pPr>
            <a:r>
              <a:rPr lang="en-US" sz="1250" dirty="0">
                <a:solidFill>
                  <a:srgbClr val="FFFFFF"/>
                </a:solidFill>
                <a:latin typeface="Calibri" pitchFamily="34" charset="0"/>
                <a:ea typeface="Calibri" pitchFamily="34" charset="-122"/>
                <a:cs typeface="Calibri" pitchFamily="34" charset="-120"/>
              </a:rPr>
              <a:t>The capstone design gives MCP access to the Researcher only</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companion MCP server project</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ResearchMcpServer follows the same shape with one research tool</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BaseDirectory-anchored connection</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McpServerConnectionFactory gains an optional path override</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Two projects, one solution</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19  </a:t>
            </a:r>
            <a:pPr indent="0" marL="0">
              <a:buNone/>
            </a:pPr>
            <a:r>
              <a:rPr lang="en-US" sz="1250" dirty="0">
                <a:solidFill>
                  <a:srgbClr val="FFFFFF"/>
                </a:solidFill>
                <a:latin typeface="Calibri" pitchFamily="34" charset="0"/>
                <a:ea typeface="Calibri" pitchFamily="34" charset="-122"/>
                <a:cs typeface="Calibri" pitchFamily="34" charset="-120"/>
              </a:rPr>
              <a:t>The A2A lesson reuses the host plus companion layout</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stdio subprocess server</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The container ships the MCP server alongside the host</a:t>
            </a:r>
            <a:endParaRPr lang="en-US" sz="1250" dirty="0"/>
          </a:p>
        </p:txBody>
      </p:sp>
      <p:sp>
        <p:nvSpPr>
          <p:cNvPr id="24" name="Text 22"/>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7 — MCP as a Tool Source</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7 — MCP as a Tool Source</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2026-10-07T23:53:43Z</dcterms:created>
  <dcterms:modified xsi:type="dcterms:W3CDTF">2026-10-07T23:53:43Z</dcterms:modified>
</cp:coreProperties>
</file>