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lesson takes Lesson 23's graph, Researcher, Analyst, approval port, Writer, and serves it as one agent over the Responses protocol. Workflow.AsAIAgent turns the graph into an AIAgent, and AddFoundryResponses with MapFoundryResponses expose it at POST /responses in an ASP.NET Core host that runs locally with no Azure resources. A plain HttpClient console client starts a run, receives the pending approval as an mcp_approval_request, answers it, and gets the report. Because hosting checkpoints the run, the host can be restarted while the approval is pending. The lesson then packages the host for a container and reviews where every lesson in the series lands in the finished system. Prerequisites: Lesson 23, whose graph this lesson hosts unchanged: the same executors, port, agents and shared pieces. Lesson 21, AddFoundryResponses, MapFoundryResponses and the Responses protocol. And Lesson 19, A2A, the other way the series exposes an agent. The solution itself is standalone.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we are. Lesson 21 introduced AddFoundryResponses and MapFoundryResponses with a ChatClientAgent; today the same hosting is given a workflow agent. Lesson 22 designed the graph, where the approval port sits and the contracts every capstone lesson shares. Lesson 23 built the graph and ran and resumed it in-process. Today hosts that same graph over the Responses protocol, drives it from an HTTP client, packages it for a container, and reviews the series. Lesson 19's A2A is the other way the series exposes an agent, and Lesson 20's observability and evaluation is the natural next production step for the finished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projects, in this order. ResearchMcpServer is identical to Lesson 23's companion server, with ModelContextProtocol 2.2.0 and Microsoft.Extensions.Hosting 10.0.12; building the solution builds it. CapstoneDeployAndReview is the Responses host. It references Microsoft.Agents.AI 1.24.0, Microsoft.Agents.AI.Workflows 1.24.0 for the graph and Workflow.AsAIAgent, Microsoft.Agents.AI.Workflows.Generators 1.24.0 for MessageHandler source generation, Microsoft.Agents.AI.Foundry.Hosting 1.24.0-preview.261006.1 for AddFoundryResponses and MapFoundryResponses, a preview package and the same one as Lesson 21, Microsoft.Extensions.AI.OpenAI 10.10.1, ModelContextProtocol 2.2.0 and OpenAI 2.14.0. CapstoneDeployAndReviewClient is a console client with no packages: the Responses protocol is JSON over HTTP, so it uses HttpClient and System.Text.Json from the base library. The host reads OPENAI_API_KEY and the required MAF_LLM and MAF_MODEL; the client needs none. Host settings: CAPSTONE_LISTEN_URL, optional, defaults to http://localhost:5200, and the Dockerfile sets http://+:5200. CAPSTONE_MCP_SERVER_PATH optionally points at ResearchMcpServer.dll. The topic comes from the client's command-line arguments, or the deep sea anglerfish when there are none. Run it in two terminals: build the solution, start the host, and after it prints Waiting for requests, run the client in the second terminal. The host listens on a fixed address set in code with UseUrls, because a new ASP.NET Core project's launchSettings.json otherwise picks its own port, the same behaviour Lessons 19 and 21 set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Workflow.AsAIAgent, with an id, a name and a description, returns an AIAgent whose runs drive the workflow: each run sends the incoming messages to the start node, followed by a TurnToken. Lesson 23's ResearchExecutor is a ChatProtocolExecutor for exactly this reason, so the graph is hosted without changes. Whatever the Writer yields becomes the agent's reply text. Here the id is capstone-pipeline and the name CapstonePipeline. AddFoundryResponses of that agent, plus MapFoundryResponses, serve it over the Responses protocol. This is Lesson 21's hosting, given a workflow agent instead of a ChatClientAgent. MapFoundryResponses maps POST /responses and the /readiness probe hosting uses, and POST /responses with an input string starts a run. Nothing here calls Azure. In the code, everything from ChatClientFactory to CapstoneWorkflowFactory is Lesson 23's code in this project's namespace. The host connects to the MCP server once, in Main, before it starts listening, and keeps the connection for the life of the process with await using: a host serves many runs, unlike Lesson 23's one-run console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run reaches the approval port, the ToolApprovalRequestContent it carries comes back as an output item of type mcp_approval_request, with an id, a name, publish_report, server_label agent_framework, and the action's arguments as a JSON string: the topic, summary and findings ReportApprovalRequest.Create put there. The client answers with a second POST /responses whose previous_response_id is the first reply's id and whose input is one mcp_approval_response item, with approval_request_id set to the request item's id and approve set to true. The hosting layer turns that back into a ToolApprovalResponseContent, delivers it to the port, and the same run continues to the Writer, or, on a rejection, the Writer yields the rejection notice. Neither the graph nor the host contains any code for this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executor invocation appears as a workflow_action output item, with the node id in action_id and a status of in_progress or completed. The client's PrintSteps lists the completed ones. In the first reply, research completes twice: once when it receives the chat messages, once when it takes its turn. Then analysis, then report-approval, where the run pauses. In the second reply, research appears once more: after delivering the approval response, the session sends the start node a turn with no new messages, which ResearchExecutor skips. Then the writer runs. These step lists are fixed lines from the lesson's Expected Output, rewrapped to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AddFoundryResponses gives a workflow agent checkpointing automatically, and stores the agent session between requests: on a developer machine in the local state store under your user profile's .agentserver folder, percent USERPROFILE percent backslash .agentserver on Windows, and in Foundry's durable state store when deployed as a Foundry Hosted Agent, Lesson 21. The pending approval is part of that saved state, so a restarted host continues the run from the previous_response_id alone. To see it: when the client stops at Approve this analysis for the final report, press Ctrl+C in the host's terminal, run dotnet run there again, wait for Waiting for requests, then answer y in the client's terminal. The restarted host resumes the same run, and the client's output does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ResponsesRequests builds the two request bodies, and ResponsesReader pulls out what the client needs: the reply id, the completed steps, the mcp_approval_request, and the output_text of assistant messages. Any client that speaks the OpenAI Responses API format can drive the same endpoint. The flow: the client's first POST /responses sends the topic as input. The host runs the graph until the approval port and replies with the workflow_action items and the mcp_approval_request. PrintSteps lists the completed steps; FindApprovalRequest returns the request item, an ApprovalRequestItem, and Describe prints its action name and each argument. The client asks for the decision at the console, and while it waits the run is saved by the host. The second POST answers the request: CreateApprovalReply quotes the first reply's id as previous_response_id and the request item's id as approval_request_id, with approve set from the console answer. Finally ReadOutputText collects the output_text of the reply's assistant message, the Writer's report, and the client prints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19's A2A hosting is the other way to expose an agent, and it also accepts any AIAgent. This lesson serves the capstone over the Responses protocol because its approval pause maps directly onto the standard mcp_approval_request and mcp_approval_response items that any Responses client already understands.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 it means one image with two programs. The host launches the MCP server as a subprocess over stdio, Lesson 7's pattern, so the Dockerfile builds both projects in an SDK stage and copies both outputs into one ASP.NET runtime image. It points the host at the server with CAPSTONE_MCP_SERVER_PATH, set to /app/mcp-server/ResearchMcpServer.dll, because the dev-time sibling-project path, AppContext.BaseDirectory plus a fixed number of parent folders, does not exist in a container layout. It also sets CAPSTONE_LISTEN_URL to http://+:5200, because a host bound to localhost inside a container is unreachable from outside it even with the port published. Those two environment variables are the only container-specific settings; the code is identical locally and in a container. Build from the lesson's src folder with docker build, using the Dockerfile in CapstoneDeployAndReview, and run it with port 5200 published and OPENAI_API_KEY passed in. One caveat: inside a container the host's local state lives in the container's filesystem, so a pending approval survives a host restart but not the container being replaced. Deployed as a Foundry Hosted Agent, Lesson 21, Foundry's durable store holds it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output for this lesson is pending re-capture: it has not yet been run with an API key, so the panel's first line says so, and it shows only the client's fixed lines from the lesson, rewrapped to fit. The model-written parts are cut at the dots: the Analyst's topic, summary and two key findings after the action line, and the Writer's report after Result. The lesson also prints a note before the prompt that the pending run is checkpointed by the host, so you can stop and restart the host and the answer still resumes the same run; it is cut here too. The host prints three fixed lines on startup: Research tools: search_research_notes, CapstonePipeline is served over the Responses protocol at http://localhost:5200/responses, and Waiting for requests. Run CapstoneDeployAndReviewClient in another terminal, or press Ctrl+C to stop. ASP.NET Core and the Responses server then log their own info lines, including Now listening on http://localhost:5200. What the lesson describes for a live run: the findings are the MCP server's anglerfish facts in the Analyst's words, each citing the Encyclopedia of Marine Biology, and the result is two or three short paragraphs of prose with no visible JSON. Restarting the host at the approval prompt does not change the client's output. Answering anything other than y sends approve false, the steps are the same, and the result is The analysis was rejected, so no report was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lesson in the series lands somewhere in the finished system, most as code it runs, a few as the next step it is ready for. Lessons 1 to 9: ChatClientAgent with persona instructions for all three roles, built through AgentFactory on ChatClientFactory, the one place the model provider is chosen; Lesson 2's tools mechanism that the Researcher's MCP tool plugs into; Lesson 3's prompt contract for AnalysisResult, read by AnalysisParser; Lesson 4's session, which the host saves between the two requests, selected by previous_response_id; Lesson 7's SearchResearchNotes from ResearchMcpServer over stdio; and Lesson 9's ToolApprovalRequestContent and ToolApprovalResponseContent, now carried by a workflow port. Lessons 10 to 12: the WorkflowBuilder graph with four nodes, typed edges and WithOutputFrom; ResearchExecutor, AnalysisExecutor and WriterExecutor as custom nodes, two of them partial with MessageHandler; and the sequential shape, each step consuming the previous one's output. Lessons 17 and 18: the report-approval RequestPort, and checkpointing, by hand in Lesson 23 and automatic in the host here. Lessons 19 to 21: A2A as the other way to expose an AIAgent, and AddFoundryResponses, the hosting used here with a workflow agent. Ready, not used: Lesson 5's context providers for the Researcher, Lesson 6's middleware for logging or guardrails on the Writer's output, Lesson 8's hosted web search alongside the MCP tool, Lesson 13's concurrent Researchers merged before the Analyst, and Lesson 20's OpenTelemetry on the shared chat client with quality evaluators on the Analyst's and Writer's output. Not needed: Lesson 14's handoff, because the roles are fixed rather than delegated at run time; Lesson 15's group chat, because the agents hand off typed results rather than sharing a conversation; and Lesson 16's Magentic-One, because a planner suits open-ended goals and this pipeline's steps are known in advance. Lessons 22 and 23 are the design and the graph itself, hosted here unchanged. Each layer was added without rewriting the one beneath it: Lesson 23's graph runs in a console, and Lesson 24 hosts the same graph by wrapping it, not by changing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last lesson, so instead of pointing forward, each row maps a concept to the lesson that introduced it and to where it lives in the finished pipeline. Lesson 1's ChatClientAgent and persona pattern is every role, built through AgentFactory on ChatClientFactory. Lesson 7's MCP tool source is the Researcher's SearchResearchNotes, shipped inside the same container image. Lesson 9's ToolApprovalRequestContent and ToolApprovalResponseContent are exactly what the report-approval port carries, and what the host turns into mcp_approval_request and mcp_approval_response items. Lessons 10 and 11 are the WorkflowBuilder graph: four nodes, typed edges, and two partial executors with MessageHandler. Lessons 17 and 18 are the RequestPort where the run pauses for a person, and the checkpoints that let it resume, in a fresh process in Lesson 23 and after a host restart here. And Lesson 21's AddFoundryResponses serves the whole graph as one workflow agent. Lesson 19's A2A remains the other way to expose it, and Lesson 20's observability and evaluation is the natural next production step. All of it ships as the finished Lessons 22 to 24 capstone: the research-and-report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24  ·  PHASE 3 CAPSTONE</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Capstone Deploy and Review</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Lesson 23's graph, served as one agent over the Responses protocol</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 23's graph, unchanged</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Lesson24-CapstoneDeployAndReview/</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Workflow.AsAIAgent() and AddFoundryResponses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An approval as mcp_approval_request / _response</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pending run that survives a host restart</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One container image with two programs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Where every lesson lands in the finished system</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24 — Capstone Deploy and Review</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WHERE WE ARE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Phase 3, and the hosting option beside it</a:t>
            </a:r>
            <a:endParaRPr lang="en-US" sz="2800" dirty="0"/>
          </a:p>
        </p:txBody>
      </p:sp>
      <p:sp>
        <p:nvSpPr>
          <p:cNvPr id="4" name="Shape 2"/>
          <p:cNvSpPr/>
          <p:nvPr/>
        </p:nvSpPr>
        <p:spPr>
          <a:xfrm>
            <a:off x="457200" y="1371600"/>
            <a:ext cx="2560320" cy="1188720"/>
          </a:xfrm>
          <a:prstGeom prst="roundRect">
            <a:avLst>
              <a:gd name="adj" fmla="val 6154"/>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Lesson 19 · A2A</a:t>
            </a:r>
            <a:endParaRPr lang="en-US" sz="1500" dirty="0"/>
          </a:p>
        </p:txBody>
      </p:sp>
      <p:sp>
        <p:nvSpPr>
          <p:cNvPr id="8" name="Text 5"/>
          <p:cNvSpPr txBox="1"/>
          <p:nvPr/>
        </p:nvSpPr>
        <p:spPr>
          <a:xfrm>
            <a:off x="64008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other way to expose an AIAgent</a:t>
            </a:r>
            <a:endParaRPr lang="en-US" sz="1200" dirty="0"/>
          </a:p>
        </p:txBody>
      </p:sp>
      <p:sp>
        <p:nvSpPr>
          <p:cNvPr id="9" name="Shape 6"/>
          <p:cNvSpPr/>
          <p:nvPr/>
        </p:nvSpPr>
        <p:spPr>
          <a:xfrm>
            <a:off x="3291840" y="1371600"/>
            <a:ext cx="2560320" cy="1188720"/>
          </a:xfrm>
          <a:prstGeom prst="roundRect">
            <a:avLst>
              <a:gd name="adj" fmla="val 6154"/>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Lesson 20 · Observe</a:t>
            </a:r>
            <a:endParaRPr lang="en-US" sz="1400" dirty="0"/>
          </a:p>
        </p:txBody>
      </p:sp>
      <p:sp>
        <p:nvSpPr>
          <p:cNvPr id="13" name="Text 9"/>
          <p:cNvSpPr txBox="1"/>
          <p:nvPr/>
        </p:nvSpPr>
        <p:spPr>
          <a:xfrm>
            <a:off x="347472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Tracing and evaluation: the next production step</a:t>
            </a:r>
            <a:endParaRPr lang="en-US" sz="1200" dirty="0"/>
          </a:p>
        </p:txBody>
      </p:sp>
      <p:sp>
        <p:nvSpPr>
          <p:cNvPr id="14" name="Shape 10"/>
          <p:cNvSpPr/>
          <p:nvPr/>
        </p:nvSpPr>
        <p:spPr>
          <a:xfrm>
            <a:off x="6126480" y="1371600"/>
            <a:ext cx="2560320" cy="1188720"/>
          </a:xfrm>
          <a:prstGeom prst="roundRect">
            <a:avLst>
              <a:gd name="adj" fmla="val 6154"/>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Lesson 21 · Hosting</a:t>
            </a:r>
            <a:endParaRPr lang="en-US" sz="1400" dirty="0"/>
          </a:p>
        </p:txBody>
      </p:sp>
      <p:sp>
        <p:nvSpPr>
          <p:cNvPr id="18" name="Text 13"/>
          <p:cNvSpPr txBox="1"/>
          <p:nvPr/>
        </p:nvSpPr>
        <p:spPr>
          <a:xfrm>
            <a:off x="630936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AddFoundryResponses, now with a workflow agent</a:t>
            </a:r>
            <a:endParaRPr lang="en-US" sz="1200" dirty="0"/>
          </a:p>
        </p:txBody>
      </p:sp>
      <p:sp>
        <p:nvSpPr>
          <p:cNvPr id="19" name="Shape 14"/>
          <p:cNvSpPr/>
          <p:nvPr/>
        </p:nvSpPr>
        <p:spPr>
          <a:xfrm>
            <a:off x="457200" y="2788920"/>
            <a:ext cx="2560320" cy="1188720"/>
          </a:xfrm>
          <a:prstGeom prst="roundRect">
            <a:avLst>
              <a:gd name="adj" fmla="val 6154"/>
            </a:avLst>
          </a:prstGeom>
          <a:solidFill>
            <a:srgbClr val="EFEBFC"/>
          </a:solidFill>
          <a:ln w="12700">
            <a:solidFill>
              <a:srgbClr val="EFEBFC"/>
            </a:solidFill>
            <a:prstDash val="solid"/>
          </a:ln>
        </p:spPr>
      </p:sp>
      <p:sp>
        <p:nvSpPr>
          <p:cNvPr id="20" name="Shape 15"/>
          <p:cNvSpPr/>
          <p:nvPr/>
        </p:nvSpPr>
        <p:spPr>
          <a:xfrm>
            <a:off x="640080" y="297180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39932" y="3071652"/>
            <a:ext cx="184343" cy="184343"/>
          </a:xfrm>
          <a:prstGeom prst="rect">
            <a:avLst/>
          </a:prstGeom>
        </p:spPr>
      </p:pic>
      <p:sp>
        <p:nvSpPr>
          <p:cNvPr id="22" name="Text 16"/>
          <p:cNvSpPr txBox="1"/>
          <p:nvPr/>
        </p:nvSpPr>
        <p:spPr>
          <a:xfrm>
            <a:off x="1143000" y="297180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Lesson 22 · Design</a:t>
            </a:r>
            <a:endParaRPr lang="en-US" sz="1400" dirty="0"/>
          </a:p>
        </p:txBody>
      </p:sp>
      <p:sp>
        <p:nvSpPr>
          <p:cNvPr id="23" name="Text 17"/>
          <p:cNvSpPr txBox="1"/>
          <p:nvPr/>
        </p:nvSpPr>
        <p:spPr>
          <a:xfrm>
            <a:off x="640080" y="347472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graph, the port, the shared contracts</a:t>
            </a:r>
            <a:endParaRPr lang="en-US" sz="1200" dirty="0"/>
          </a:p>
        </p:txBody>
      </p:sp>
      <p:sp>
        <p:nvSpPr>
          <p:cNvPr id="24" name="Shape 18"/>
          <p:cNvSpPr/>
          <p:nvPr/>
        </p:nvSpPr>
        <p:spPr>
          <a:xfrm>
            <a:off x="3291840" y="2788920"/>
            <a:ext cx="2560320" cy="1188720"/>
          </a:xfrm>
          <a:prstGeom prst="roundRect">
            <a:avLst>
              <a:gd name="adj" fmla="val 6154"/>
            </a:avLst>
          </a:prstGeom>
          <a:solidFill>
            <a:srgbClr val="EFEBFC"/>
          </a:solidFill>
          <a:ln w="12700">
            <a:solidFill>
              <a:srgbClr val="EFEBFC"/>
            </a:solidFill>
            <a:prstDash val="solid"/>
          </a:ln>
        </p:spPr>
      </p:sp>
      <p:sp>
        <p:nvSpPr>
          <p:cNvPr id="25" name="Shape 19"/>
          <p:cNvSpPr/>
          <p:nvPr/>
        </p:nvSpPr>
        <p:spPr>
          <a:xfrm>
            <a:off x="3474720" y="2971800"/>
            <a:ext cx="384048" cy="384048"/>
          </a:xfrm>
          <a:prstGeom prst="ellipse">
            <a:avLst/>
          </a:prstGeom>
          <a:solidFill>
            <a:srgbClr val="512BD4"/>
          </a:solidFill>
          <a:ln w="12700">
            <a:solidFill>
              <a:srgbClr val="512BD4"/>
            </a:solidFill>
            <a:prstDash val="solid"/>
          </a:ln>
        </p:spPr>
      </p:sp>
      <p:pic>
        <p:nvPicPr>
          <p:cNvPr id="26" name="Image 4" descr="preencoded.png">    </p:cNvPr>
          <p:cNvPicPr>
            <a:picLocks noChangeAspect="1"/>
          </p:cNvPicPr>
          <p:nvPr/>
        </p:nvPicPr>
        <p:blipFill>
          <a:blip r:embed="rId5"/>
          <a:stretch>
            <a:fillRect/>
          </a:stretch>
        </p:blipFill>
        <p:spPr>
          <a:xfrm>
            <a:off x="3574572" y="3071652"/>
            <a:ext cx="184343" cy="184343"/>
          </a:xfrm>
          <a:prstGeom prst="rect">
            <a:avLst/>
          </a:prstGeom>
        </p:spPr>
      </p:pic>
      <p:sp>
        <p:nvSpPr>
          <p:cNvPr id="27" name="Text 20"/>
          <p:cNvSpPr txBox="1"/>
          <p:nvPr/>
        </p:nvSpPr>
        <p:spPr>
          <a:xfrm>
            <a:off x="3977640" y="297180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Lesson 23 · Build</a:t>
            </a:r>
            <a:endParaRPr lang="en-US" sz="1400" dirty="0"/>
          </a:p>
        </p:txBody>
      </p:sp>
      <p:sp>
        <p:nvSpPr>
          <p:cNvPr id="28" name="Text 21"/>
          <p:cNvSpPr txBox="1"/>
          <p:nvPr/>
        </p:nvSpPr>
        <p:spPr>
          <a:xfrm>
            <a:off x="3474720" y="347472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graph, run and resumed in-process</a:t>
            </a:r>
            <a:endParaRPr lang="en-US" sz="1200" dirty="0"/>
          </a:p>
        </p:txBody>
      </p:sp>
      <p:sp>
        <p:nvSpPr>
          <p:cNvPr id="29" name="Shape 22"/>
          <p:cNvSpPr/>
          <p:nvPr/>
        </p:nvSpPr>
        <p:spPr>
          <a:xfrm>
            <a:off x="6126480" y="2788920"/>
            <a:ext cx="2560320" cy="1188720"/>
          </a:xfrm>
          <a:prstGeom prst="roundRect">
            <a:avLst>
              <a:gd name="adj" fmla="val 6154"/>
            </a:avLst>
          </a:prstGeom>
          <a:solidFill>
            <a:srgbClr val="512BD4"/>
          </a:solidFill>
          <a:ln w="12700">
            <a:solidFill>
              <a:srgbClr val="512BD4"/>
            </a:solidFill>
            <a:prstDash val="solid"/>
          </a:ln>
        </p:spPr>
      </p:sp>
      <p:sp>
        <p:nvSpPr>
          <p:cNvPr id="30" name="Shape 23"/>
          <p:cNvSpPr/>
          <p:nvPr/>
        </p:nvSpPr>
        <p:spPr>
          <a:xfrm>
            <a:off x="6309360" y="2971800"/>
            <a:ext cx="384048" cy="384048"/>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6409212" y="3071652"/>
            <a:ext cx="184343" cy="184343"/>
          </a:xfrm>
          <a:prstGeom prst="rect">
            <a:avLst/>
          </a:prstGeom>
        </p:spPr>
      </p:pic>
      <p:sp>
        <p:nvSpPr>
          <p:cNvPr id="32" name="Text 24"/>
          <p:cNvSpPr txBox="1"/>
          <p:nvPr/>
        </p:nvSpPr>
        <p:spPr>
          <a:xfrm>
            <a:off x="6812280" y="2971800"/>
            <a:ext cx="173736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Lesson 24 · Deploy</a:t>
            </a:r>
            <a:endParaRPr lang="en-US" sz="1400" dirty="0"/>
          </a:p>
        </p:txBody>
      </p:sp>
      <p:sp>
        <p:nvSpPr>
          <p:cNvPr id="33" name="Text 25"/>
          <p:cNvSpPr txBox="1"/>
          <p:nvPr/>
        </p:nvSpPr>
        <p:spPr>
          <a:xfrm>
            <a:off x="6309360" y="3474720"/>
            <a:ext cx="219456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Host it, drive it over HTTP, ship it</a:t>
            </a:r>
            <a:endParaRPr lang="en-US" sz="1200" dirty="0"/>
          </a:p>
        </p:txBody>
      </p:sp>
      <p:sp>
        <p:nvSpPr>
          <p:cNvPr id="34" name="Text 26"/>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Today wraps the graph. It does not change it.</a:t>
            </a:r>
            <a:endParaRPr lang="en-US" sz="1400" dirty="0"/>
          </a:p>
        </p:txBody>
      </p:sp>
      <p:sp>
        <p:nvSpPr>
          <p:cNvPr id="35"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24 — Capstone Deploy and Review</a:t>
            </a:r>
            <a:endParaRPr lang="en-US" sz="900" dirty="0"/>
          </a:p>
        </p:txBody>
      </p:sp>
      <p:sp>
        <p:nvSpPr>
          <p:cNvPr id="36"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projects, two terminals</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ResearchMcpServer</a:t>
            </a:r>
            <a:endParaRPr lang="en-US" sz="13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Identical to Lesson 23's. Building the solution builds it</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Foundry.Hosting preview</a:t>
            </a:r>
            <a:endParaRPr lang="en-US" sz="14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1.24.0-preview.261006.1, the same package as Lesson 21</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CAPSTONE_LISTEN_URL</a:t>
            </a:r>
            <a:endParaRPr lang="en-US" sz="13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Optional. Defaults to http://localhost:5200</a:t>
            </a:r>
            <a:endParaRPr lang="en-US" sz="1200" dirty="0"/>
          </a:p>
        </p:txBody>
      </p:sp>
      <p:sp>
        <p:nvSpPr>
          <p:cNvPr id="19" name="Shape 14"/>
          <p:cNvSpPr/>
          <p:nvPr/>
        </p:nvSpPr>
        <p:spPr>
          <a:xfrm>
            <a:off x="4709160" y="2994660"/>
            <a:ext cx="3977640" cy="1394460"/>
          </a:xfrm>
          <a:prstGeom prst="roundRect">
            <a:avLst>
              <a:gd name="adj" fmla="val 5246"/>
            </a:avLst>
          </a:prstGeom>
          <a:solidFill>
            <a:srgbClr val="512BD4"/>
          </a:solidFill>
          <a:ln w="12700">
            <a:solidFill>
              <a:srgbClr val="512BD4"/>
            </a:solidFill>
            <a:prstDash val="solid"/>
          </a:ln>
        </p:spPr>
      </p:sp>
      <p:sp>
        <p:nvSpPr>
          <p:cNvPr id="20" name="Shape 15"/>
          <p:cNvSpPr/>
          <p:nvPr/>
        </p:nvSpPr>
        <p:spPr>
          <a:xfrm>
            <a:off x="4892040" y="317754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client with no packages</a:t>
            </a:r>
            <a:endParaRPr lang="en-US" sz="14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HttpClient and System.Text.Json only</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24 — Capstone Deploy and Review</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One graph becomes one agent, served at /responses</a:t>
            </a:r>
            <a:endParaRPr lang="en-US" sz="25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The graph</a:t>
            </a:r>
            <a:endParaRPr lang="en-US" sz="15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CapstoneWorkflow</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Factory.Build, as in Lesson 23</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AsAIAgent()</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AIAgent: messages, then a TurnToken</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AddFoundry</a:t>
            </a:r>
            <a:endParaRPr lang="en-US" sz="1500" dirty="0"/>
          </a:p>
          <a:p>
            <a:pPr indent="0" marL="0">
              <a:buNone/>
            </a:pPr>
            <a:r>
              <a:rPr lang="en-US" sz="1500" b="1" dirty="0">
                <a:solidFill>
                  <a:srgbClr val="1F2937"/>
                </a:solidFill>
                <a:latin typeface="Calibri" pitchFamily="34" charset="0"/>
                <a:ea typeface="Calibri" pitchFamily="34" charset="-122"/>
                <a:cs typeface="Calibri" pitchFamily="34" charset="-120"/>
              </a:rPr>
              <a:t>Responses</a:t>
            </a:r>
            <a:endParaRPr lang="en-US" sz="15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Registers the workflow agent</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POST /responses</a:t>
            </a:r>
            <a:endParaRPr lang="en-US" sz="14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{"input": topic} starts a run. No Azure</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Whatever the Writer yields becomes the agent's reply text.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24 — Capstone Deploy and Review</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The approval travels as a standard Responses item</a:t>
            </a:r>
            <a:endParaRPr lang="en-US" sz="25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report-approval</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No translation code in the graph or the host.</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325880" cy="27432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mcp_approval_</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request</a:t>
            </a:r>
            <a:endParaRPr lang="en-US" sz="13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id, name publish_report, arguments as JSON</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previous_</a:t>
            </a:r>
            <a:endParaRPr lang="en-US" sz="1500" dirty="0"/>
          </a:p>
          <a:p>
            <a:pPr indent="0" marL="0">
              <a:buNone/>
            </a:pPr>
            <a:r>
              <a:rPr lang="en-US" sz="1500" b="1" dirty="0">
                <a:solidFill>
                  <a:srgbClr val="1F2937"/>
                </a:solidFill>
                <a:latin typeface="Calibri" pitchFamily="34" charset="0"/>
                <a:ea typeface="Calibri" pitchFamily="34" charset="-122"/>
                <a:cs typeface="Calibri" pitchFamily="34" charset="-120"/>
              </a:rPr>
              <a:t>response_id</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second POST quotes the first reply's id</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325880" cy="27432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mcp_approval_</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response</a:t>
            </a:r>
            <a:endParaRPr lang="en-US" sz="13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approval_request_id, and approve true or false</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Same run</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Delivered to the port, then on to the Writer</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24 — Capstone Deploy and Review</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workflow_action items show the graph running</a:t>
            </a:r>
            <a:endParaRPr lang="en-US" sz="2800" dirty="0"/>
          </a:p>
        </p:txBody>
      </p:sp>
      <p:sp>
        <p:nvSpPr>
          <p:cNvPr id="4" name="Shape 2"/>
          <p:cNvSpPr/>
          <p:nvPr/>
        </p:nvSpPr>
        <p:spPr>
          <a:xfrm>
            <a:off x="457200" y="1371600"/>
            <a:ext cx="3931920" cy="2011680"/>
          </a:xfrm>
          <a:prstGeom prst="roundRect">
            <a:avLst>
              <a:gd name="adj" fmla="val 3636"/>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First reply</a:t>
            </a:r>
            <a:endParaRPr lang="en-US" sz="1700" dirty="0"/>
          </a:p>
        </p:txBody>
      </p:sp>
      <p:sp>
        <p:nvSpPr>
          <p:cNvPr id="8" name="Shape 5"/>
          <p:cNvSpPr/>
          <p:nvPr/>
        </p:nvSpPr>
        <p:spPr>
          <a:xfrm>
            <a:off x="685800" y="2194560"/>
            <a:ext cx="3474720" cy="987552"/>
          </a:xfrm>
          <a:prstGeom prst="roundRect">
            <a:avLst>
              <a:gd name="adj" fmla="val 7407"/>
            </a:avLst>
          </a:prstGeom>
          <a:solidFill>
            <a:srgbClr val="0F1420"/>
          </a:solidFill>
          <a:ln w="12700">
            <a:solidFill>
              <a:srgbClr val="0F1420"/>
            </a:solidFill>
            <a:prstDash val="solid"/>
          </a:ln>
        </p:spPr>
      </p:sp>
      <p:sp>
        <p:nvSpPr>
          <p:cNvPr id="9" name="Text 6"/>
          <p:cNvSpPr txBox="1"/>
          <p:nvPr/>
        </p:nvSpPr>
        <p:spPr>
          <a:xfrm>
            <a:off x="868680" y="2331720"/>
            <a:ext cx="3108960" cy="713232"/>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Steps completed:</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research -&gt; research -&gt;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analysis -&gt; report-approval</a:t>
            </a:r>
            <a:endParaRPr lang="en-US" sz="1100" dirty="0"/>
          </a:p>
        </p:txBody>
      </p:sp>
      <p:sp>
        <p:nvSpPr>
          <p:cNvPr id="10" name="Shape 7"/>
          <p:cNvSpPr/>
          <p:nvPr/>
        </p:nvSpPr>
        <p:spPr>
          <a:xfrm>
            <a:off x="4754880" y="1371600"/>
            <a:ext cx="3931920" cy="2011680"/>
          </a:xfrm>
          <a:prstGeom prst="roundRect">
            <a:avLst>
              <a:gd name="adj" fmla="val 3636"/>
            </a:avLst>
          </a:prstGeom>
          <a:solidFill>
            <a:srgbClr val="EFEBFC"/>
          </a:solidFill>
          <a:ln w="12700">
            <a:solidFill>
              <a:srgbClr val="EFEBFC"/>
            </a:solidFill>
            <a:prstDash val="solid"/>
          </a:ln>
        </p:spPr>
      </p:sp>
      <p:sp>
        <p:nvSpPr>
          <p:cNvPr id="11" name="Shape 8"/>
          <p:cNvSpPr/>
          <p:nvPr/>
        </p:nvSpPr>
        <p:spPr>
          <a:xfrm>
            <a:off x="4983480" y="1600200"/>
            <a:ext cx="438912" cy="438912"/>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3" name="Text 9"/>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Second reply</a:t>
            </a:r>
            <a:endParaRPr lang="en-US" sz="1700" dirty="0"/>
          </a:p>
        </p:txBody>
      </p:sp>
      <p:sp>
        <p:nvSpPr>
          <p:cNvPr id="14" name="Shape 10"/>
          <p:cNvSpPr/>
          <p:nvPr/>
        </p:nvSpPr>
        <p:spPr>
          <a:xfrm>
            <a:off x="4983480" y="2194560"/>
            <a:ext cx="3474720" cy="987552"/>
          </a:xfrm>
          <a:prstGeom prst="roundRect">
            <a:avLst>
              <a:gd name="adj" fmla="val 7407"/>
            </a:avLst>
          </a:prstGeom>
          <a:solidFill>
            <a:srgbClr val="0F1420"/>
          </a:solidFill>
          <a:ln w="12700">
            <a:solidFill>
              <a:srgbClr val="0F1420"/>
            </a:solidFill>
            <a:prstDash val="solid"/>
          </a:ln>
        </p:spPr>
      </p:sp>
      <p:sp>
        <p:nvSpPr>
          <p:cNvPr id="15" name="Text 11"/>
          <p:cNvSpPr txBox="1"/>
          <p:nvPr/>
        </p:nvSpPr>
        <p:spPr>
          <a:xfrm>
            <a:off x="5166360" y="2331720"/>
            <a:ext cx="3108960" cy="713232"/>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Steps completed:</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report-approval -&gt; research</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-&gt; writer</a:t>
            </a:r>
            <a:endParaRPr lang="en-US" sz="1100" dirty="0"/>
          </a:p>
        </p:txBody>
      </p:sp>
      <p:sp>
        <p:nvSpPr>
          <p:cNvPr id="16" name="Text 12"/>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research runs twice, then once more for an empty turn it skips.</a:t>
            </a:r>
            <a:endParaRPr lang="en-US" sz="1400" dirty="0"/>
          </a:p>
        </p:txBody>
      </p:sp>
      <p:sp>
        <p:nvSpPr>
          <p:cNvPr id="17"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24 — Capstone Deploy and Review</a:t>
            </a:r>
            <a:endParaRPr lang="en-US" sz="900" dirty="0"/>
          </a:p>
        </p:txBody>
      </p:sp>
      <p:sp>
        <p:nvSpPr>
          <p:cNvPr id="18"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Restart the host while the approval waits</a:t>
            </a:r>
            <a:endParaRPr lang="en-US" sz="2800" dirty="0"/>
          </a:p>
        </p:txBody>
      </p:sp>
      <p:sp>
        <p:nvSpPr>
          <p:cNvPr id="4" name="Shape 2"/>
          <p:cNvSpPr/>
          <p:nvPr/>
        </p:nvSpPr>
        <p:spPr>
          <a:xfrm>
            <a:off x="457200" y="1417320"/>
            <a:ext cx="1796796" cy="1801368"/>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Client waits</a:t>
            </a:r>
            <a:endParaRPr lang="en-US" sz="1500" dirty="0"/>
          </a:p>
        </p:txBody>
      </p:sp>
      <p:sp>
        <p:nvSpPr>
          <p:cNvPr id="8" name="Text 5"/>
          <p:cNvSpPr txBox="1"/>
          <p:nvPr/>
        </p:nvSpPr>
        <p:spPr>
          <a:xfrm>
            <a:off x="640080" y="26060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At Approve this analysis? [y/N]</a:t>
            </a:r>
            <a:endParaRPr lang="en-US" sz="1200" dirty="0"/>
          </a:p>
        </p:txBody>
      </p:sp>
      <p:sp>
        <p:nvSpPr>
          <p:cNvPr id="9" name="Shape 6"/>
          <p:cNvSpPr/>
          <p:nvPr/>
        </p:nvSpPr>
        <p:spPr>
          <a:xfrm>
            <a:off x="2318004"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801368"/>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Ctrl+C the host</a:t>
            </a:r>
            <a:endParaRPr lang="en-US" sz="1400" dirty="0"/>
          </a:p>
        </p:txBody>
      </p:sp>
      <p:sp>
        <p:nvSpPr>
          <p:cNvPr id="14" name="Text 10"/>
          <p:cNvSpPr txBox="1"/>
          <p:nvPr/>
        </p:nvSpPr>
        <p:spPr>
          <a:xfrm>
            <a:off x="2784348" y="26060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session is already saved</a:t>
            </a:r>
            <a:endParaRPr lang="en-US" sz="1200" dirty="0"/>
          </a:p>
        </p:txBody>
      </p:sp>
      <p:sp>
        <p:nvSpPr>
          <p:cNvPr id="15" name="Shape 11"/>
          <p:cNvSpPr/>
          <p:nvPr/>
        </p:nvSpPr>
        <p:spPr>
          <a:xfrm>
            <a:off x="4462272"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801368"/>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Start it again</a:t>
            </a:r>
            <a:endParaRPr lang="en-US" sz="1400" dirty="0"/>
          </a:p>
        </p:txBody>
      </p:sp>
      <p:sp>
        <p:nvSpPr>
          <p:cNvPr id="20" name="Text 15"/>
          <p:cNvSpPr txBox="1"/>
          <p:nvPr/>
        </p:nvSpPr>
        <p:spPr>
          <a:xfrm>
            <a:off x="4928616" y="2606040"/>
            <a:ext cx="1476756"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Wait for Waiting for requests</a:t>
            </a:r>
            <a:endParaRPr lang="en-US" sz="1200" dirty="0"/>
          </a:p>
        </p:txBody>
      </p:sp>
      <p:sp>
        <p:nvSpPr>
          <p:cNvPr id="21" name="Shape 16"/>
          <p:cNvSpPr/>
          <p:nvPr/>
        </p:nvSpPr>
        <p:spPr>
          <a:xfrm>
            <a:off x="6606540" y="2208276"/>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801368"/>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Answer y</a:t>
            </a:r>
            <a:endParaRPr lang="en-US" sz="1500" dirty="0"/>
          </a:p>
        </p:txBody>
      </p:sp>
      <p:sp>
        <p:nvSpPr>
          <p:cNvPr id="26" name="Text 20"/>
          <p:cNvSpPr txBox="1"/>
          <p:nvPr/>
        </p:nvSpPr>
        <p:spPr>
          <a:xfrm>
            <a:off x="7072884" y="2606040"/>
            <a:ext cx="1476756"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new host resumes the same run</a:t>
            </a:r>
            <a:endParaRPr lang="en-US" sz="1200" dirty="0"/>
          </a:p>
        </p:txBody>
      </p:sp>
      <p:sp>
        <p:nvSpPr>
          <p:cNvPr id="27" name="Text 21"/>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previous_response_id alone is enough to find the paused run.</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24 — Capstone Deploy and Review</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plain HTTP client is enough</a:t>
            </a:r>
            <a:endParaRPr lang="en-US" sz="2800" dirty="0"/>
          </a:p>
        </p:txBody>
      </p:sp>
      <p:sp>
        <p:nvSpPr>
          <p:cNvPr id="4" name="Shape 2"/>
          <p:cNvSpPr/>
          <p:nvPr/>
        </p:nvSpPr>
        <p:spPr>
          <a:xfrm>
            <a:off x="457200" y="1371600"/>
            <a:ext cx="2560320" cy="2606040"/>
          </a:xfrm>
          <a:prstGeom prst="roundRect">
            <a:avLst>
              <a:gd name="adj" fmla="val 2857"/>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100" b="1" dirty="0">
                <a:solidFill>
                  <a:srgbClr val="1F2937"/>
                </a:solidFill>
                <a:latin typeface="Courier New" pitchFamily="34" charset="0"/>
                <a:ea typeface="Courier New" pitchFamily="34" charset="-122"/>
                <a:cs typeface="Courier New" pitchFamily="34" charset="-120"/>
              </a:rPr>
              <a:t>ResponsesRequests</a:t>
            </a:r>
            <a:endParaRPr lang="en-US" sz="1100" dirty="0"/>
          </a:p>
        </p:txBody>
      </p:sp>
      <p:sp>
        <p:nvSpPr>
          <p:cNvPr id="8" name="Text 5"/>
          <p:cNvSpPr txBox="1"/>
          <p:nvPr/>
        </p:nvSpPr>
        <p:spPr>
          <a:xfrm>
            <a:off x="640080" y="2057400"/>
            <a:ext cx="2194560" cy="1828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Builds the two request bodies</a:t>
            </a:r>
            <a:endParaRPr lang="en-US" sz="1200" dirty="0"/>
          </a:p>
        </p:txBody>
      </p:sp>
      <p:sp>
        <p:nvSpPr>
          <p:cNvPr id="9" name="Shape 6"/>
          <p:cNvSpPr/>
          <p:nvPr/>
        </p:nvSpPr>
        <p:spPr>
          <a:xfrm>
            <a:off x="3291840" y="1371600"/>
            <a:ext cx="2560320" cy="2606040"/>
          </a:xfrm>
          <a:prstGeom prst="roundRect">
            <a:avLst>
              <a:gd name="adj" fmla="val 2857"/>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200" b="1" dirty="0">
                <a:solidFill>
                  <a:srgbClr val="1F2937"/>
                </a:solidFill>
                <a:latin typeface="Courier New" pitchFamily="34" charset="0"/>
                <a:ea typeface="Courier New" pitchFamily="34" charset="-122"/>
                <a:cs typeface="Courier New" pitchFamily="34" charset="-120"/>
              </a:rPr>
              <a:t>ResponsesReader</a:t>
            </a:r>
            <a:endParaRPr lang="en-US" sz="1200" dirty="0"/>
          </a:p>
        </p:txBody>
      </p:sp>
      <p:sp>
        <p:nvSpPr>
          <p:cNvPr id="13" name="Text 9"/>
          <p:cNvSpPr txBox="1"/>
          <p:nvPr/>
        </p:nvSpPr>
        <p:spPr>
          <a:xfrm>
            <a:off x="3474720" y="2057400"/>
            <a:ext cx="2194560" cy="1828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reply id, the steps, the approval request, the output text</a:t>
            </a:r>
            <a:endParaRPr lang="en-US" sz="1200" dirty="0"/>
          </a:p>
        </p:txBody>
      </p:sp>
      <p:sp>
        <p:nvSpPr>
          <p:cNvPr id="14" name="Shape 10"/>
          <p:cNvSpPr/>
          <p:nvPr/>
        </p:nvSpPr>
        <p:spPr>
          <a:xfrm>
            <a:off x="6126480" y="1371600"/>
            <a:ext cx="2560320" cy="2606040"/>
          </a:xfrm>
          <a:prstGeom prst="roundRect">
            <a:avLst>
              <a:gd name="adj" fmla="val 2857"/>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Any Responses client</a:t>
            </a:r>
            <a:endParaRPr lang="en-US" sz="1300" dirty="0"/>
          </a:p>
        </p:txBody>
      </p:sp>
      <p:sp>
        <p:nvSpPr>
          <p:cNvPr id="18" name="Text 13"/>
          <p:cNvSpPr txBox="1"/>
          <p:nvPr/>
        </p:nvSpPr>
        <p:spPr>
          <a:xfrm>
            <a:off x="6309360" y="2057400"/>
            <a:ext cx="2194560" cy="18288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Anything that speaks the OpenAI Responses format can drive it</a:t>
            </a:r>
            <a:endParaRPr lang="en-US" sz="1200" dirty="0"/>
          </a:p>
        </p:txBody>
      </p:sp>
      <p:sp>
        <p:nvSpPr>
          <p:cNvPr id="19" name="Text 14"/>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client asks for the decision at the console, then posts it.</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24 — Capstone Deploy and Review</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ALTERNATIVE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Responses here; A2A is the other option</a:t>
            </a:r>
            <a:endParaRPr lang="en-US" sz="2800" dirty="0"/>
          </a:p>
        </p:txBody>
      </p:sp>
      <p:sp>
        <p:nvSpPr>
          <p:cNvPr id="4" name="Shape 2"/>
          <p:cNvSpPr/>
          <p:nvPr/>
        </p:nvSpPr>
        <p:spPr>
          <a:xfrm>
            <a:off x="457200" y="1371600"/>
            <a:ext cx="3931920" cy="2011680"/>
          </a:xfrm>
          <a:prstGeom prst="roundRect">
            <a:avLst>
              <a:gd name="adj" fmla="val 3636"/>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Responses protocol</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Accepts any AIAgent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approval maps onto standard items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Chosen for the capstone</a:t>
            </a:r>
            <a:endParaRPr lang="en-US" sz="1300" dirty="0"/>
          </a:p>
        </p:txBody>
      </p:sp>
      <p:sp>
        <p:nvSpPr>
          <p:cNvPr id="9" name="Shape 6"/>
          <p:cNvSpPr/>
          <p:nvPr/>
        </p:nvSpPr>
        <p:spPr>
          <a:xfrm>
            <a:off x="4754880" y="1371600"/>
            <a:ext cx="3931920" cy="2011680"/>
          </a:xfrm>
          <a:prstGeom prst="roundRect">
            <a:avLst>
              <a:gd name="adj" fmla="val 3636"/>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6B7280"/>
          </a:solidFill>
          <a:ln w="12700">
            <a:solidFill>
              <a:srgbClr val="6B7280"/>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A2A (Lesson 19)</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Also accepts any AIAgent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Agent cards and A2A clients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other way to expose it</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Same AIAgent either way; the protocol is a hosting choice.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24 — Capstone Deploy and Review</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DEPLOY</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image, two programs</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Multi-stage build</a:t>
            </a:r>
            <a:endParaRPr lang="en-US" sz="14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SDK stage publishes both projects; one ASP.NET runtime image</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lstStyle/>
          <a:p>
            <a:pPr indent="0" marL="0">
              <a:buNone/>
            </a:pPr>
            <a:r>
              <a:rPr lang="en-US" sz="1100" b="1" dirty="0">
                <a:solidFill>
                  <a:srgbClr val="1F2937"/>
                </a:solidFill>
                <a:latin typeface="Courier New" pitchFamily="34" charset="0"/>
                <a:ea typeface="Courier New" pitchFamily="34" charset="-122"/>
                <a:cs typeface="Courier New" pitchFamily="34" charset="-120"/>
              </a:rPr>
              <a:t>CAPSTONE_MCP_</a:t>
            </a:r>
            <a:endParaRPr lang="en-US" sz="1100" dirty="0"/>
          </a:p>
          <a:p>
            <a:pPr indent="0" marL="0">
              <a:buNone/>
            </a:pPr>
            <a:r>
              <a:rPr lang="en-US" sz="1100" b="1" dirty="0">
                <a:solidFill>
                  <a:srgbClr val="1F2937"/>
                </a:solidFill>
                <a:latin typeface="Courier New" pitchFamily="34" charset="0"/>
                <a:ea typeface="Courier New" pitchFamily="34" charset="-122"/>
                <a:cs typeface="Courier New" pitchFamily="34" charset="-120"/>
              </a:rPr>
              <a:t>SERVER_PATH</a:t>
            </a:r>
            <a:endParaRPr lang="en-US" sz="11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Points at /app/mcp-server. The dev-time sibling path is gone</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lstStyle/>
          <a:p>
            <a:pPr indent="0" marL="0">
              <a:buNone/>
            </a:pPr>
            <a:r>
              <a:rPr lang="en-US" sz="1200" b="1" dirty="0">
                <a:solidFill>
                  <a:srgbClr val="1F2937"/>
                </a:solidFill>
                <a:latin typeface="Courier New" pitchFamily="34" charset="0"/>
                <a:ea typeface="Courier New" pitchFamily="34" charset="-122"/>
                <a:cs typeface="Courier New" pitchFamily="34" charset="-120"/>
              </a:rPr>
              <a:t>CAPSTONE_LISTEN_URL</a:t>
            </a:r>
            <a:endParaRPr lang="en-US" sz="12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http://+:5200, since localhost is unreachable from outside</a:t>
            </a:r>
            <a:endParaRPr lang="en-US" sz="1200" dirty="0"/>
          </a:p>
        </p:txBody>
      </p:sp>
      <p:sp>
        <p:nvSpPr>
          <p:cNvPr id="19" name="Shape 14"/>
          <p:cNvSpPr/>
          <p:nvPr/>
        </p:nvSpPr>
        <p:spPr>
          <a:xfrm>
            <a:off x="4709160" y="2994660"/>
            <a:ext cx="3977640" cy="1394460"/>
          </a:xfrm>
          <a:prstGeom prst="roundRect">
            <a:avLst>
              <a:gd name="adj" fmla="val 5246"/>
            </a:avLst>
          </a:prstGeom>
          <a:solidFill>
            <a:srgbClr val="512BD4"/>
          </a:solidFill>
          <a:ln w="12700">
            <a:solidFill>
              <a:srgbClr val="512BD4"/>
            </a:solidFill>
            <a:prstDash val="solid"/>
          </a:ln>
        </p:spPr>
      </p:sp>
      <p:sp>
        <p:nvSpPr>
          <p:cNvPr id="20" name="Shape 15"/>
          <p:cNvSpPr/>
          <p:nvPr/>
        </p:nvSpPr>
        <p:spPr>
          <a:xfrm>
            <a:off x="4892040" y="317754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Where state lives</a:t>
            </a:r>
            <a:endParaRPr lang="en-US" sz="14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Survives a host restart, not a replaced container</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24 — Capstone Deploy and Review</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client: pause, approve, result</a:t>
            </a:r>
            <a:endParaRPr lang="en-US" sz="2800" dirty="0"/>
          </a:p>
        </p:txBody>
      </p:sp>
      <p:sp>
        <p:nvSpPr>
          <p:cNvPr id="4" name="Shape 2"/>
          <p:cNvSpPr/>
          <p:nvPr/>
        </p:nvSpPr>
        <p:spPr>
          <a:xfrm>
            <a:off x="457200" y="1325880"/>
            <a:ext cx="5257800" cy="2697480"/>
          </a:xfrm>
          <a:prstGeom prst="roundRect">
            <a:avLst>
              <a:gd name="adj" fmla="val 2712"/>
            </a:avLst>
          </a:prstGeom>
          <a:solidFill>
            <a:srgbClr val="0F1420"/>
          </a:solidFill>
          <a:ln w="12700">
            <a:solidFill>
              <a:srgbClr val="0F1420"/>
            </a:solidFill>
            <a:prstDash val="solid"/>
          </a:ln>
        </p:spPr>
      </p:sp>
      <p:sp>
        <p:nvSpPr>
          <p:cNvPr id="5" name="Text 3"/>
          <p:cNvSpPr txBox="1"/>
          <p:nvPr/>
        </p:nvSpPr>
        <p:spPr>
          <a:xfrm>
            <a:off x="640080" y="1463040"/>
            <a:ext cx="4892040" cy="24231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Re-capture pending: run with OPENAI_API_KEY set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POST /responses: research 'the deep sea</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anglerfish'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Steps completed: research -&gt; research -&gt; analysis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-&gt; report-approval</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Paused for approval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Action awaiting approval: publish_report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Approve this analysis for the final report? [y/N] y</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POST /responses: answer the approval request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(approve)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Steps completed: report-approval -&gt; research</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-&gt; writer</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Result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Host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Research tools, the /responses address, then Waiting for requests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Restart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Restarting the host at the prompt changes nothing here</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Reject</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Same steps; the result says no report was written</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24 — Capstone Deploy and Review</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SERIES REVIEW</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capstone is the series in miniature</a:t>
            </a:r>
            <a:endParaRPr lang="en-US" sz="2800" dirty="0"/>
          </a:p>
        </p:txBody>
      </p:sp>
      <p:sp>
        <p:nvSpPr>
          <p:cNvPr id="4" name="Shape 2"/>
          <p:cNvSpPr/>
          <p:nvPr/>
        </p:nvSpPr>
        <p:spPr>
          <a:xfrm>
            <a:off x="457200" y="1371600"/>
            <a:ext cx="2560320" cy="1188720"/>
          </a:xfrm>
          <a:prstGeom prst="roundRect">
            <a:avLst>
              <a:gd name="adj" fmla="val 6154"/>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Lessons 1–9</a:t>
            </a:r>
            <a:endParaRPr lang="en-US" sz="1500" dirty="0"/>
          </a:p>
        </p:txBody>
      </p:sp>
      <p:sp>
        <p:nvSpPr>
          <p:cNvPr id="8" name="Text 5"/>
          <p:cNvSpPr txBox="1"/>
          <p:nvPr/>
        </p:nvSpPr>
        <p:spPr>
          <a:xfrm>
            <a:off x="64008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Agents with personas, tools, MCP and approval contents</a:t>
            </a:r>
            <a:endParaRPr lang="en-US" sz="1200" dirty="0"/>
          </a:p>
        </p:txBody>
      </p:sp>
      <p:sp>
        <p:nvSpPr>
          <p:cNvPr id="9" name="Shape 6"/>
          <p:cNvSpPr/>
          <p:nvPr/>
        </p:nvSpPr>
        <p:spPr>
          <a:xfrm>
            <a:off x="3291840" y="1371600"/>
            <a:ext cx="2560320" cy="1188720"/>
          </a:xfrm>
          <a:prstGeom prst="roundRect">
            <a:avLst>
              <a:gd name="adj" fmla="val 6154"/>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Lessons 10–12</a:t>
            </a:r>
            <a:endParaRPr lang="en-US" sz="1500" dirty="0"/>
          </a:p>
        </p:txBody>
      </p:sp>
      <p:sp>
        <p:nvSpPr>
          <p:cNvPr id="13" name="Text 9"/>
          <p:cNvSpPr txBox="1"/>
          <p:nvPr/>
        </p:nvSpPr>
        <p:spPr>
          <a:xfrm>
            <a:off x="347472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graph of custom executors in a fixed order</a:t>
            </a:r>
            <a:endParaRPr lang="en-US" sz="1200" dirty="0"/>
          </a:p>
        </p:txBody>
      </p:sp>
      <p:sp>
        <p:nvSpPr>
          <p:cNvPr id="14" name="Shape 10"/>
          <p:cNvSpPr/>
          <p:nvPr/>
        </p:nvSpPr>
        <p:spPr>
          <a:xfrm>
            <a:off x="6126480" y="1371600"/>
            <a:ext cx="2560320" cy="1188720"/>
          </a:xfrm>
          <a:prstGeom prst="roundRect">
            <a:avLst>
              <a:gd name="adj" fmla="val 6154"/>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Lessons 17–18</a:t>
            </a:r>
            <a:endParaRPr lang="en-US" sz="1500" dirty="0"/>
          </a:p>
        </p:txBody>
      </p:sp>
      <p:sp>
        <p:nvSpPr>
          <p:cNvPr id="18" name="Text 13"/>
          <p:cNvSpPr txBox="1"/>
          <p:nvPr/>
        </p:nvSpPr>
        <p:spPr>
          <a:xfrm>
            <a:off x="6309360" y="2057400"/>
            <a:ext cx="219456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Paused for a person, and made durable</a:t>
            </a:r>
            <a:endParaRPr lang="en-US" sz="1200" dirty="0"/>
          </a:p>
        </p:txBody>
      </p:sp>
      <p:sp>
        <p:nvSpPr>
          <p:cNvPr id="19" name="Shape 14"/>
          <p:cNvSpPr/>
          <p:nvPr/>
        </p:nvSpPr>
        <p:spPr>
          <a:xfrm>
            <a:off x="457200" y="2788920"/>
            <a:ext cx="2560320" cy="1188720"/>
          </a:xfrm>
          <a:prstGeom prst="roundRect">
            <a:avLst>
              <a:gd name="adj" fmla="val 6154"/>
            </a:avLst>
          </a:prstGeom>
          <a:solidFill>
            <a:srgbClr val="EFEBFC"/>
          </a:solidFill>
          <a:ln w="12700">
            <a:solidFill>
              <a:srgbClr val="EFEBFC"/>
            </a:solidFill>
            <a:prstDash val="solid"/>
          </a:ln>
        </p:spPr>
      </p:sp>
      <p:sp>
        <p:nvSpPr>
          <p:cNvPr id="20" name="Shape 15"/>
          <p:cNvSpPr/>
          <p:nvPr/>
        </p:nvSpPr>
        <p:spPr>
          <a:xfrm>
            <a:off x="640080" y="297180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39932" y="3071652"/>
            <a:ext cx="184343" cy="184343"/>
          </a:xfrm>
          <a:prstGeom prst="rect">
            <a:avLst/>
          </a:prstGeom>
        </p:spPr>
      </p:pic>
      <p:sp>
        <p:nvSpPr>
          <p:cNvPr id="22" name="Text 16"/>
          <p:cNvSpPr txBox="1"/>
          <p:nvPr/>
        </p:nvSpPr>
        <p:spPr>
          <a:xfrm>
            <a:off x="1143000" y="297180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Lessons 19–21</a:t>
            </a:r>
            <a:endParaRPr lang="en-US" sz="1500" dirty="0"/>
          </a:p>
        </p:txBody>
      </p:sp>
      <p:sp>
        <p:nvSpPr>
          <p:cNvPr id="23" name="Text 17"/>
          <p:cNvSpPr txBox="1"/>
          <p:nvPr/>
        </p:nvSpPr>
        <p:spPr>
          <a:xfrm>
            <a:off x="640080" y="347472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Served to clients over a standard protocol</a:t>
            </a:r>
            <a:endParaRPr lang="en-US" sz="1200" dirty="0"/>
          </a:p>
        </p:txBody>
      </p:sp>
      <p:sp>
        <p:nvSpPr>
          <p:cNvPr id="24" name="Shape 18"/>
          <p:cNvSpPr/>
          <p:nvPr/>
        </p:nvSpPr>
        <p:spPr>
          <a:xfrm>
            <a:off x="3291840" y="2788920"/>
            <a:ext cx="2560320" cy="1188720"/>
          </a:xfrm>
          <a:prstGeom prst="roundRect">
            <a:avLst>
              <a:gd name="adj" fmla="val 6154"/>
            </a:avLst>
          </a:prstGeom>
          <a:solidFill>
            <a:srgbClr val="EFEBFC"/>
          </a:solidFill>
          <a:ln w="12700">
            <a:solidFill>
              <a:srgbClr val="EFEBFC"/>
            </a:solidFill>
            <a:prstDash val="solid"/>
          </a:ln>
        </p:spPr>
      </p:sp>
      <p:sp>
        <p:nvSpPr>
          <p:cNvPr id="25" name="Shape 19"/>
          <p:cNvSpPr/>
          <p:nvPr/>
        </p:nvSpPr>
        <p:spPr>
          <a:xfrm>
            <a:off x="3474720" y="2971800"/>
            <a:ext cx="384048" cy="384048"/>
          </a:xfrm>
          <a:prstGeom prst="ellipse">
            <a:avLst/>
          </a:prstGeom>
          <a:solidFill>
            <a:srgbClr val="512BD4"/>
          </a:solidFill>
          <a:ln w="12700">
            <a:solidFill>
              <a:srgbClr val="512BD4"/>
            </a:solidFill>
            <a:prstDash val="solid"/>
          </a:ln>
        </p:spPr>
      </p:sp>
      <p:pic>
        <p:nvPicPr>
          <p:cNvPr id="26" name="Image 4" descr="preencoded.png">    </p:cNvPr>
          <p:cNvPicPr>
            <a:picLocks noChangeAspect="1"/>
          </p:cNvPicPr>
          <p:nvPr/>
        </p:nvPicPr>
        <p:blipFill>
          <a:blip r:embed="rId5"/>
          <a:stretch>
            <a:fillRect/>
          </a:stretch>
        </p:blipFill>
        <p:spPr>
          <a:xfrm>
            <a:off x="3574572" y="3071652"/>
            <a:ext cx="184343" cy="184343"/>
          </a:xfrm>
          <a:prstGeom prst="rect">
            <a:avLst/>
          </a:prstGeom>
        </p:spPr>
      </p:pic>
      <p:sp>
        <p:nvSpPr>
          <p:cNvPr id="27" name="Text 20"/>
          <p:cNvSpPr txBox="1"/>
          <p:nvPr/>
        </p:nvSpPr>
        <p:spPr>
          <a:xfrm>
            <a:off x="3977640" y="297180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Ready, not used</a:t>
            </a:r>
            <a:endParaRPr lang="en-US" sz="1400" dirty="0"/>
          </a:p>
        </p:txBody>
      </p:sp>
      <p:sp>
        <p:nvSpPr>
          <p:cNvPr id="28" name="Text 21"/>
          <p:cNvSpPr txBox="1"/>
          <p:nvPr/>
        </p:nvSpPr>
        <p:spPr>
          <a:xfrm>
            <a:off x="3474720" y="347472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5, 6, 8, 13 and 20 slot in next</a:t>
            </a:r>
            <a:endParaRPr lang="en-US" sz="1200" dirty="0"/>
          </a:p>
        </p:txBody>
      </p:sp>
      <p:sp>
        <p:nvSpPr>
          <p:cNvPr id="29" name="Shape 22"/>
          <p:cNvSpPr/>
          <p:nvPr/>
        </p:nvSpPr>
        <p:spPr>
          <a:xfrm>
            <a:off x="6126480" y="2788920"/>
            <a:ext cx="2560320" cy="1188720"/>
          </a:xfrm>
          <a:prstGeom prst="roundRect">
            <a:avLst>
              <a:gd name="adj" fmla="val 6154"/>
            </a:avLst>
          </a:prstGeom>
          <a:solidFill>
            <a:srgbClr val="EFEBFC"/>
          </a:solidFill>
          <a:ln w="12700">
            <a:solidFill>
              <a:srgbClr val="EFEBFC"/>
            </a:solidFill>
            <a:prstDash val="solid"/>
          </a:ln>
        </p:spPr>
      </p:sp>
      <p:sp>
        <p:nvSpPr>
          <p:cNvPr id="30" name="Shape 23"/>
          <p:cNvSpPr/>
          <p:nvPr/>
        </p:nvSpPr>
        <p:spPr>
          <a:xfrm>
            <a:off x="6309360" y="2971800"/>
            <a:ext cx="384048" cy="384048"/>
          </a:xfrm>
          <a:prstGeom prst="ellipse">
            <a:avLst/>
          </a:prstGeom>
          <a:solidFill>
            <a:srgbClr val="512BD4"/>
          </a:solidFill>
          <a:ln w="12700">
            <a:solidFill>
              <a:srgbClr val="512BD4"/>
            </a:solidFill>
            <a:prstDash val="solid"/>
          </a:ln>
        </p:spPr>
      </p:sp>
      <p:pic>
        <p:nvPicPr>
          <p:cNvPr id="31" name="Image 5" descr="preencoded.png">    </p:cNvPr>
          <p:cNvPicPr>
            <a:picLocks noChangeAspect="1"/>
          </p:cNvPicPr>
          <p:nvPr/>
        </p:nvPicPr>
        <p:blipFill>
          <a:blip r:embed="rId6"/>
          <a:stretch>
            <a:fillRect/>
          </a:stretch>
        </p:blipFill>
        <p:spPr>
          <a:xfrm>
            <a:off x="6409212" y="3071652"/>
            <a:ext cx="184343" cy="184343"/>
          </a:xfrm>
          <a:prstGeom prst="rect">
            <a:avLst/>
          </a:prstGeom>
        </p:spPr>
      </p:pic>
      <p:sp>
        <p:nvSpPr>
          <p:cNvPr id="32" name="Text 24"/>
          <p:cNvSpPr txBox="1"/>
          <p:nvPr/>
        </p:nvSpPr>
        <p:spPr>
          <a:xfrm>
            <a:off x="6812280" y="297180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Not needed</a:t>
            </a:r>
            <a:endParaRPr lang="en-US" sz="1500" dirty="0"/>
          </a:p>
        </p:txBody>
      </p:sp>
      <p:sp>
        <p:nvSpPr>
          <p:cNvPr id="33" name="Text 25"/>
          <p:cNvSpPr txBox="1"/>
          <p:nvPr/>
        </p:nvSpPr>
        <p:spPr>
          <a:xfrm>
            <a:off x="6309360" y="347472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14, 15, 16: the roles are fixed, not delegated</a:t>
            </a:r>
            <a:endParaRPr lang="en-US" sz="1200" dirty="0"/>
          </a:p>
        </p:txBody>
      </p:sp>
      <p:sp>
        <p:nvSpPr>
          <p:cNvPr id="34" name="Text 26"/>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Each layer was added without rewriting the one beneath it.</a:t>
            </a:r>
            <a:endParaRPr lang="en-US" sz="1400" dirty="0"/>
          </a:p>
        </p:txBody>
      </p:sp>
      <p:sp>
        <p:nvSpPr>
          <p:cNvPr id="35"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24 — Capstone Deploy and Review</a:t>
            </a:r>
            <a:endParaRPr lang="en-US" sz="900" dirty="0"/>
          </a:p>
        </p:txBody>
      </p:sp>
      <p:sp>
        <p:nvSpPr>
          <p:cNvPr id="36"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lives</a:t>
            </a:r>
            <a:endParaRPr lang="en-US" sz="2600" dirty="0"/>
          </a:p>
        </p:txBody>
      </p:sp>
      <p:sp>
        <p:nvSpPr>
          <p:cNvPr id="4" name="Shape 2"/>
          <p:cNvSpPr/>
          <p:nvPr/>
        </p:nvSpPr>
        <p:spPr>
          <a:xfrm>
            <a:off x="457200" y="1234440"/>
            <a:ext cx="2926080" cy="355092"/>
          </a:xfrm>
          <a:prstGeom prst="roundRect">
            <a:avLst>
              <a:gd name="adj" fmla="val 20601"/>
            </a:avLst>
          </a:prstGeom>
          <a:solidFill>
            <a:srgbClr val="1F2943"/>
          </a:solidFill>
          <a:ln w="12700">
            <a:solidFill>
              <a:srgbClr val="1F2943"/>
            </a:solidFill>
            <a:prstDash val="solid"/>
          </a:ln>
        </p:spPr>
      </p:sp>
      <p:sp>
        <p:nvSpPr>
          <p:cNvPr id="5" name="Text 3"/>
          <p:cNvSpPr txBox="1"/>
          <p:nvPr/>
        </p:nvSpPr>
        <p:spPr>
          <a:xfrm>
            <a:off x="621792" y="12344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ChatClientAgent + personas</a:t>
            </a:r>
            <a:endParaRPr lang="en-US" sz="1300" dirty="0"/>
          </a:p>
        </p:txBody>
      </p:sp>
      <p:sp>
        <p:nvSpPr>
          <p:cNvPr id="6" name="Shape 4"/>
          <p:cNvSpPr/>
          <p:nvPr/>
        </p:nvSpPr>
        <p:spPr>
          <a:xfrm>
            <a:off x="3493008" y="132054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  </a:t>
            </a:r>
            <a:pPr indent="0" marL="0">
              <a:buNone/>
            </a:pPr>
            <a:r>
              <a:rPr lang="en-US" sz="1250" dirty="0">
                <a:solidFill>
                  <a:srgbClr val="FFFFFF"/>
                </a:solidFill>
                <a:latin typeface="Calibri" pitchFamily="34" charset="0"/>
                <a:ea typeface="Calibri" pitchFamily="34" charset="-122"/>
                <a:cs typeface="Calibri" pitchFamily="34" charset="-120"/>
              </a:rPr>
              <a:t>All three roles, built on one ChatClientFactory</a:t>
            </a:r>
            <a:endParaRPr lang="en-US" sz="1250" dirty="0"/>
          </a:p>
        </p:txBody>
      </p:sp>
      <p:sp>
        <p:nvSpPr>
          <p:cNvPr id="8" name="Shape 6"/>
          <p:cNvSpPr/>
          <p:nvPr/>
        </p:nvSpPr>
        <p:spPr>
          <a:xfrm>
            <a:off x="457200" y="1699260"/>
            <a:ext cx="2926080" cy="355092"/>
          </a:xfrm>
          <a:prstGeom prst="roundRect">
            <a:avLst>
              <a:gd name="adj" fmla="val 20601"/>
            </a:avLst>
          </a:prstGeom>
          <a:solidFill>
            <a:srgbClr val="1F2943"/>
          </a:solidFill>
          <a:ln w="12700">
            <a:solidFill>
              <a:srgbClr val="1F2943"/>
            </a:solidFill>
            <a:prstDash val="solid"/>
          </a:ln>
        </p:spPr>
      </p:sp>
      <p:sp>
        <p:nvSpPr>
          <p:cNvPr id="9" name="Text 7"/>
          <p:cNvSpPr txBox="1"/>
          <p:nvPr/>
        </p:nvSpPr>
        <p:spPr>
          <a:xfrm>
            <a:off x="621792" y="169926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MCP as a tool source</a:t>
            </a:r>
            <a:endParaRPr lang="en-US" sz="1300" dirty="0"/>
          </a:p>
        </p:txBody>
      </p:sp>
      <p:sp>
        <p:nvSpPr>
          <p:cNvPr id="10" name="Shape 8"/>
          <p:cNvSpPr/>
          <p:nvPr/>
        </p:nvSpPr>
        <p:spPr>
          <a:xfrm>
            <a:off x="3493008" y="178536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69926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7  </a:t>
            </a:r>
            <a:pPr indent="0" marL="0">
              <a:buNone/>
            </a:pPr>
            <a:r>
              <a:rPr lang="en-US" sz="1250" dirty="0">
                <a:solidFill>
                  <a:srgbClr val="FFFFFF"/>
                </a:solidFill>
                <a:latin typeface="Calibri" pitchFamily="34" charset="0"/>
                <a:ea typeface="Calibri" pitchFamily="34" charset="-122"/>
                <a:cs typeface="Calibri" pitchFamily="34" charset="-120"/>
              </a:rPr>
              <a:t>The Researcher's SearchResearchNotes, in the same image</a:t>
            </a:r>
            <a:endParaRPr lang="en-US" sz="1250" dirty="0"/>
          </a:p>
        </p:txBody>
      </p:sp>
      <p:sp>
        <p:nvSpPr>
          <p:cNvPr id="12" name="Shape 10"/>
          <p:cNvSpPr/>
          <p:nvPr/>
        </p:nvSpPr>
        <p:spPr>
          <a:xfrm>
            <a:off x="457200" y="2164080"/>
            <a:ext cx="2926080" cy="355092"/>
          </a:xfrm>
          <a:prstGeom prst="roundRect">
            <a:avLst>
              <a:gd name="adj" fmla="val 20601"/>
            </a:avLst>
          </a:prstGeom>
          <a:solidFill>
            <a:srgbClr val="1F2943"/>
          </a:solidFill>
          <a:ln w="12700">
            <a:solidFill>
              <a:srgbClr val="1F2943"/>
            </a:solidFill>
            <a:prstDash val="solid"/>
          </a:ln>
        </p:spPr>
      </p:sp>
      <p:sp>
        <p:nvSpPr>
          <p:cNvPr id="13" name="Text 11"/>
          <p:cNvSpPr txBox="1"/>
          <p:nvPr/>
        </p:nvSpPr>
        <p:spPr>
          <a:xfrm>
            <a:off x="621792" y="216408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Approval contents</a:t>
            </a:r>
            <a:endParaRPr lang="en-US" sz="1300" dirty="0"/>
          </a:p>
        </p:txBody>
      </p:sp>
      <p:sp>
        <p:nvSpPr>
          <p:cNvPr id="14" name="Shape 12"/>
          <p:cNvSpPr/>
          <p:nvPr/>
        </p:nvSpPr>
        <p:spPr>
          <a:xfrm>
            <a:off x="3493008" y="225018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16408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9  </a:t>
            </a:r>
            <a:pPr indent="0" marL="0">
              <a:buNone/>
            </a:pPr>
            <a:r>
              <a:rPr lang="en-US" sz="1250" dirty="0">
                <a:solidFill>
                  <a:srgbClr val="FFFFFF"/>
                </a:solidFill>
                <a:latin typeface="Calibri" pitchFamily="34" charset="0"/>
                <a:ea typeface="Calibri" pitchFamily="34" charset="-122"/>
                <a:cs typeface="Calibri" pitchFamily="34" charset="-120"/>
              </a:rPr>
              <a:t>What the report-approval port carries</a:t>
            </a:r>
            <a:endParaRPr lang="en-US" sz="1250" dirty="0"/>
          </a:p>
        </p:txBody>
      </p:sp>
      <p:sp>
        <p:nvSpPr>
          <p:cNvPr id="16" name="Shape 14"/>
          <p:cNvSpPr/>
          <p:nvPr/>
        </p:nvSpPr>
        <p:spPr>
          <a:xfrm>
            <a:off x="457200" y="2628900"/>
            <a:ext cx="2926080" cy="355092"/>
          </a:xfrm>
          <a:prstGeom prst="roundRect">
            <a:avLst>
              <a:gd name="adj" fmla="val 20601"/>
            </a:avLst>
          </a:prstGeom>
          <a:solidFill>
            <a:srgbClr val="1F2943"/>
          </a:solidFill>
          <a:ln w="12700">
            <a:solidFill>
              <a:srgbClr val="1F2943"/>
            </a:solidFill>
            <a:prstDash val="solid"/>
          </a:ln>
        </p:spPr>
      </p:sp>
      <p:sp>
        <p:nvSpPr>
          <p:cNvPr id="17" name="Text 15"/>
          <p:cNvSpPr txBox="1"/>
          <p:nvPr/>
        </p:nvSpPr>
        <p:spPr>
          <a:xfrm>
            <a:off x="621792" y="262890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Graphs and executors</a:t>
            </a:r>
            <a:endParaRPr lang="en-US" sz="1300" dirty="0"/>
          </a:p>
        </p:txBody>
      </p:sp>
      <p:sp>
        <p:nvSpPr>
          <p:cNvPr id="18" name="Shape 16"/>
          <p:cNvSpPr/>
          <p:nvPr/>
        </p:nvSpPr>
        <p:spPr>
          <a:xfrm>
            <a:off x="3493008" y="2715006"/>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62890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Lessons 10–11  </a:t>
            </a:r>
            <a:pPr indent="0" marL="0">
              <a:buNone/>
            </a:pPr>
            <a:r>
              <a:rPr lang="en-US" sz="1250" dirty="0">
                <a:solidFill>
                  <a:srgbClr val="FFFFFF"/>
                </a:solidFill>
                <a:latin typeface="Calibri" pitchFamily="34" charset="0"/>
                <a:ea typeface="Calibri" pitchFamily="34" charset="-122"/>
                <a:cs typeface="Calibri" pitchFamily="34" charset="-120"/>
              </a:rPr>
              <a:t>Four nodes with typed edges and [MessageHandler]</a:t>
            </a:r>
            <a:endParaRPr lang="en-US" sz="1250" dirty="0"/>
          </a:p>
        </p:txBody>
      </p:sp>
      <p:sp>
        <p:nvSpPr>
          <p:cNvPr id="20" name="Shape 18"/>
          <p:cNvSpPr/>
          <p:nvPr/>
        </p:nvSpPr>
        <p:spPr>
          <a:xfrm>
            <a:off x="457200" y="3093720"/>
            <a:ext cx="2926080" cy="355092"/>
          </a:xfrm>
          <a:prstGeom prst="roundRect">
            <a:avLst>
              <a:gd name="adj" fmla="val 20601"/>
            </a:avLst>
          </a:prstGeom>
          <a:solidFill>
            <a:srgbClr val="1F2943"/>
          </a:solidFill>
          <a:ln w="12700">
            <a:solidFill>
              <a:srgbClr val="1F2943"/>
            </a:solidFill>
            <a:prstDash val="solid"/>
          </a:ln>
        </p:spPr>
      </p:sp>
      <p:sp>
        <p:nvSpPr>
          <p:cNvPr id="21" name="Text 19"/>
          <p:cNvSpPr txBox="1"/>
          <p:nvPr/>
        </p:nvSpPr>
        <p:spPr>
          <a:xfrm>
            <a:off x="621792" y="309372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Human-in-the-Loop, durability</a:t>
            </a:r>
            <a:endParaRPr lang="en-US" sz="1300" dirty="0"/>
          </a:p>
        </p:txBody>
      </p:sp>
      <p:sp>
        <p:nvSpPr>
          <p:cNvPr id="22" name="Shape 20"/>
          <p:cNvSpPr/>
          <p:nvPr/>
        </p:nvSpPr>
        <p:spPr>
          <a:xfrm>
            <a:off x="3493008" y="3179826"/>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09372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Lessons 17–18  </a:t>
            </a:r>
            <a:pPr indent="0" marL="0">
              <a:buNone/>
            </a:pPr>
            <a:r>
              <a:rPr lang="en-US" sz="1250" dirty="0">
                <a:solidFill>
                  <a:srgbClr val="FFFFFF"/>
                </a:solidFill>
                <a:latin typeface="Calibri" pitchFamily="34" charset="0"/>
                <a:ea typeface="Calibri" pitchFamily="34" charset="-122"/>
                <a:cs typeface="Calibri" pitchFamily="34" charset="-120"/>
              </a:rPr>
              <a:t>The paused run, checkpointed and resumable</a:t>
            </a:r>
            <a:endParaRPr lang="en-US" sz="1250" dirty="0"/>
          </a:p>
        </p:txBody>
      </p:sp>
      <p:sp>
        <p:nvSpPr>
          <p:cNvPr id="24" name="Shape 22"/>
          <p:cNvSpPr/>
          <p:nvPr/>
        </p:nvSpPr>
        <p:spPr>
          <a:xfrm>
            <a:off x="457200" y="3558540"/>
            <a:ext cx="2926080" cy="355092"/>
          </a:xfrm>
          <a:prstGeom prst="roundRect">
            <a:avLst>
              <a:gd name="adj" fmla="val 20601"/>
            </a:avLst>
          </a:prstGeom>
          <a:solidFill>
            <a:srgbClr val="1F2943"/>
          </a:solidFill>
          <a:ln w="12700">
            <a:solidFill>
              <a:srgbClr val="1F2943"/>
            </a:solidFill>
            <a:prstDash val="solid"/>
          </a:ln>
        </p:spPr>
      </p:sp>
      <p:sp>
        <p:nvSpPr>
          <p:cNvPr id="25" name="Text 23"/>
          <p:cNvSpPr txBox="1"/>
          <p:nvPr/>
        </p:nvSpPr>
        <p:spPr>
          <a:xfrm>
            <a:off x="621792" y="35585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Hosting an AIAgent</a:t>
            </a:r>
            <a:endParaRPr lang="en-US" sz="1300" dirty="0"/>
          </a:p>
        </p:txBody>
      </p:sp>
      <p:sp>
        <p:nvSpPr>
          <p:cNvPr id="26" name="Shape 24"/>
          <p:cNvSpPr/>
          <p:nvPr/>
        </p:nvSpPr>
        <p:spPr>
          <a:xfrm>
            <a:off x="3493008" y="3644646"/>
            <a:ext cx="329184" cy="182880"/>
          </a:xfrm>
          <a:prstGeom prst="rightArrow">
            <a:avLst/>
          </a:prstGeom>
          <a:solidFill>
            <a:srgbClr val="F5A623"/>
          </a:solidFill>
          <a:ln w="12700">
            <a:solidFill>
              <a:srgbClr val="F5A623"/>
            </a:solidFill>
            <a:prstDash val="solid"/>
          </a:ln>
        </p:spPr>
      </p:sp>
      <p:sp>
        <p:nvSpPr>
          <p:cNvPr id="27" name="Text 25"/>
          <p:cNvSpPr txBox="1"/>
          <p:nvPr/>
        </p:nvSpPr>
        <p:spPr>
          <a:xfrm>
            <a:off x="3977640" y="35585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21  </a:t>
            </a:r>
            <a:pPr indent="0" marL="0">
              <a:buNone/>
            </a:pPr>
            <a:r>
              <a:rPr lang="en-US" sz="1250" dirty="0">
                <a:solidFill>
                  <a:srgbClr val="FFFFFF"/>
                </a:solidFill>
                <a:latin typeface="Calibri" pitchFamily="34" charset="0"/>
                <a:ea typeface="Calibri" pitchFamily="34" charset="-122"/>
                <a:cs typeface="Calibri" pitchFamily="34" charset="-120"/>
              </a:rPr>
              <a:t>AddFoundryResponses serving the workflow agent</a:t>
            </a:r>
            <a:endParaRPr lang="en-US" sz="1250" dirty="0"/>
          </a:p>
        </p:txBody>
      </p:sp>
      <p:sp>
        <p:nvSpPr>
          <p:cNvPr id="28" name="Text 26"/>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 (finished)</a:t>
            </a:r>
            <a:endParaRPr lang="en-US" sz="1300" dirty="0"/>
          </a:p>
        </p:txBody>
      </p:sp>
      <p:sp>
        <p:nvSpPr>
          <p:cNvPr id="29"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24 — Capstone Deploy and Review</a:t>
            </a:r>
            <a:endParaRPr lang="en-US" sz="900" dirty="0"/>
          </a:p>
        </p:txBody>
      </p:sp>
      <p:sp>
        <p:nvSpPr>
          <p:cNvPr id="30"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24 — Capstone Deploy and Review</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2026-10-07T23:53:48Z</dcterms:created>
  <dcterms:modified xsi:type="dcterms:W3CDTF">2026-10-07T23:53:48Z</dcterms:modified>
</cp:coreProperties>
</file>