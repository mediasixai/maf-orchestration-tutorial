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builds Lesson 22's design as one running graph workflow: a Researcher agent with real MCP tool access, an Analyst agent that produces a typed AnalysisResult, a request port where the run pauses for a human decision, and a Writer agent that drafts the report once the analysis is approved. The run is checkpointed to disk, so dotnet run can stop at the approval port and exit, and dotnet run -- resume, a completely fresh process, restores the paused run, takes the decision at the console, and finishes it. A pause that survives the process ending is what makes a human-approval step usable in a real system, where review can take hours. Prerequisites: Lesson 22, the design and the shared pieces reused here: AgentInstructions, ResearchFinding, AnalysisResult, AnalysisParser, JsonFenceStripper, ReportApprovalRequest and PipelineConfig. Lesson 7, MCP as a tool source, with the same two-project host and server layout. Lessons 10 and 11, custom executors and MessageHandler. Lesson 17, RequestPort. Lesson 18, CheckpointManager and FileSystemJsonCheckpointStore. The solution itself is standalone.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today's build composes. Lesson 22's design gives the contracts: the personas, AnalysisResult, AnalysisParser with JsonFenceStripper, ReportApprovalRequest and PipelineConfig. Lesson 7's MCP pattern gives the Researcher's tool source, a companion ResearchMcpServer in the same two-project host and server layout. Lessons 10 and 11 give custom executors and MessageHandler. Lesson 17 gives the RequestPort where the run pauses for a person. Lesson 18 gives CheckpointManager and FileSystemJsonCheckpointStore. And Lesson 24 hosts this same graph, without changing it. The new code today is the executors, the graph factory and the program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projects, following Lesson 7's layout. ResearchMcpServer is a minimal MCP server exposing one tool, SearchResearchNotes, over a small fixed knowledge base: ModelContextProtocol 2.2.0 and Microsoft.Extensions.Hosting 10.0.12. The pipeline launches it as a subprocess; you do not run it directly. CapstoneBuild is the pipeline itself. Build the solution, or the server project, first, so the server's DLL exists when the pipeline starts it. CapstoneBuild references Microsoft.Agents.AI 1.24.0, Microsoft.Agents.AI.Workflows 1.24.0 for WorkflowBuilder, ChatProtocolExecutor, RequestPort, InProcessExecution, CheckpointManager and FileSystemJsonCheckpointStore, Microsoft.Agents.AI.Workflows.Generators 1.24.0, the source generator for MessageHandler methods, build-time only with PrivateAssets all, Microsoft.Extensions.AI.OpenAI 10.10.1, ModelContextProtocol 2.2.0 as the client, and OpenAI 2.14.0. Set OPENAI_API_KEY; MAF_LLM and MAF_MODEL are required as in every lesson; the demos use OPENAI and gpt-4.1-mini. CAPSTONE_RESEARCH_TOPIC is optional and defaults to the deep sea anglerfish; CAPSTONE_MCP_SERVER_PATH optionally points at ResearchMcpServer.dll and defaults to the sibling project's build output. The research tool has real notes for three demo topics, anglerfish, octopus and narwhal; any other topic still runs end to end, and the tool says it has no dedicated notes. Run two commands, in order, from src/CapstoneBuild: dotnet run, then dotnet run --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CapstoneWorkflowFactory.Build wires research, analysis, report-approval and writer with WorkflowBuilder.AddEdge, and WithOutputFrom of the writer marks the Writer's yielded text as the workflow's output. Each agent runs inside the executor that owns its step, so each edge carries one typed message: ResearchNotes, then ToolApprovalRequestContent, then ToolApprovalResponseContent. In the program, BuildWorkflowAsync lists the MCP server's tools, gives them to the Researcher through AgentFactory's tools overload, builds the tool-free Analyst and Writer, and hands all three to CapstoneWorkflowFactory.Build. Both modes, start and resume, call it, so both build the identical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 node is a ChatProtocolExecutor. It collects incoming chat messages and acts when it receives a TurnToken, the same input shape Workflow.AsAIAgent sends in Lesson 24. Its TakeTurnAsync override joins the user text into the topic, runs the Researcher, and sends ResearchNotes with context.SendMessageAsync; ConfigureProtocol declares that extra message type with SendsMessage of ResearchNotes. AutoSendTurnToken is false because the next node takes ResearchNotes, not a turn. A turn with no user text is skipped: a hosted session takes one such turn after it delivers the approval response. AnalysisExecutor and WriterExecutor are partial classes whose MessageHandler methods call agent.RunAsync. The Microsoft.Agents.AI.Workflows.Generators package generates the routing code that connects each handler's parameter type to the messages arriving on the executor's edges. A handler's return value is sent along the outgoing edge: AnalysisExecutor returns the ToolApprovalRequestContent, which is exactly what the approval port accepts.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ResearchMcpServer follows Lesson 7's shape: a McpServerToolType static class, discovered by WithToolsFromAssembly, hosted over stdio, exposing one tool, SearchResearchNotes. Logging is sent to standard error so it never corrupts the protocol stream on standard output. On the pipeline side, McpServerConnectionFactory anchors to AppContext.BaseDirectory, never Directory.GetCurrentDirectory, to find the sibling server's build output however the pipeline is launched, and accepts CAPSTONE_MCP_SERVER_PATH as an override. Both modes connect, because both build the full graph; the server is only called while the Researcher runs. The tool's name, as the MCP client lists it, is search_research_notes.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RequestPort.Create of ToolApprovalRequestContent and ToolApprovalResponseContent, with the id report-approval, is a node that forwards whatever reaches it out of the workflow as a request, and sends the matching response on to the next node. When the request goes out, the run raises a RequestInfoEvent and its status becomes PendingRequests. The caller reads the request with TryGetDataAs of ToolApprovalRequestContent, builds the decision with request.CreateResponse, passing approved and a reason, wraps it for the port with pending.Request.CreateResponse of that decision, and resumes with run.ResumeAsync. The WriterExecutor handler then receives the ToolApprovalResponseContent. Approved: it reads the AnalysisResult from workflow state, runs the Writer on it, and yields the report. Rejected: it yields a notice with the reason. At the console, y approves; anything else rejects with the reason Rejected at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AnalysisExecutor stores the AnalysisResult with context.QueueStateUpdateAsync, passing a key, the value and a scope, and WriterExecutor reads it back with context.ReadStateAsync of AnalysisResult with the same key and scope. Workflow state is saved in every checkpoint, so the analysis is there for the Writer whether it runs a second later or in another process the next day. ReportErrors prints any ExecutorFailedEvent or WorkflowErrorEvent along the way, so a malformed Analyst reply is reported rather than silently stopping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CheckpointManager.CreateJson over a new FileSystemJsonCheckpointStore for a directory writes a JSON checkpoint at the end of every superstep, each round of message delivery through the graph, keyed by the session id passed to InProcessExecution.RunAsync with the workflow, the input, the checkpoint manager and the session id. run.LastCheckpoint is the checkpoint taken when the run paused. One decision per run: starting a run deletes old checkpoints first, and a finished resume deletes them afterwards, so the same approval cannot be answered twice. Running dotnet run -- resume again prints No paused run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StartAsync clears old checkpoints and opens the checkpoint store, then starts the run with the topic as a user message and the checkpoint manager attached. run.ResumeAsync with a new TurnToken, emitEvents false, sends the TurnToken that tells the start node to take its turn. The graph runs until the approval port: ResearchExecutor runs the Researcher, which calls SearchResearchNotes, and sends ResearchNotes; AnalysisExecutor runs the Analyst, parses the reply, stores the AnalysisResult in workflow state, and returns the ToolApprovalRequestContent; the port forwards it out of the workflow and the run stops with status PendingRequests. StartAsync finds the RequestInfoEvent in run.NewEvents, prints the request, shows the checkpoint id, and returns; the using declarations dispose the run, the MCP connection and the store, and the process exits with the run paused on disk. dotnet run -- resume runs in a new process. It builds the graph again from scratch, with the same node ids so the checkpoint fits, finds the newest checkpoint with GetLatestCheckpointAsync for capstone-run, and restores it with InProcessExecution.ResumeAsync of the workflow, the checkpoint and the checkpoint manager. The restored run re-raises the pending RequestInfoEvent, carrying the same ToolApprovalRequestContent, its arguments now restored from JSON, which Describe reads the same way. After the decision, ResumeAsync prints the WorkflowOutputEvent, then deletes the checkpoint folder, because the finished run has nothing left to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output for this lesson is pending re-capture: it has not yet been run with an API key, so the panel's first line says so, and it shows only the fixed lines the lesson prints in its two output blocks, rewrapped to fit, with the rest cut at the dots. The command lines are added to show which process prints what. No model text appears on the slide. What the lesson describes for the first command: after the three fixed lines, the run prints Paused for human approval and the request, Topic, Summary, and Key findings with one fact line per finding citing the Encyclopedia of Marine Biology, the facts coming from the MCP server's anglerfish notes, worded by the Analyst. It ends with Status: PendingRequests, Checkpoint saved with a 32-character checkpoint id, and the instruction to run dotnet run -- resume. The process exits. For the second command: the first line names the checkpoint the first process saved. It prints the same Topic, Summary and Key findings block, restored from the checkpoint, not regenerated, then asks Approve this analysis for the final report, y or N. After y, it prints Final report followed by two or three short paragraphs of prose with no visible JSON, then Status: Idle. After any other answer it prints Result and The analysis was rejected, so no report was written. Reason: Rejected at the console. Running resume again prints No paused run found. Start one first with dotnet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today's build goes in Lesson 24, which hosts this graph without changing it. The chat-protocol start node is driven by Workflow.AsAIAgent, which sends the incoming messages followed by a TurnToken. Skipping a turn with no user text matters there: after delivering the approval response, the hosted session sends the start node a turn with no new messages, which ResearchExecutor skips. The ToolApprovalRequestContent the port forwards comes back as an mcp_approval_request output item. The decision typed at the console today becomes an mcp_approval_response input item, sent in a follow-up request whose previous_response_id is the first reply's id. The file checkpoints we managed by hand become automatic: AddFoundryResponses checkpoints a workflow agent and stores its session between requests. And the two-project stdio MCP layout means Lesson 24's Dockerfile publishes both projects into one image, pointed at the server with CAPSTONE_MCP_SERVER_PATH. It all ships in the Lessons 22 to 24 capstone, the research-and-report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23  ·  PHASE 3 CAPSTONE</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Capstone Build</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One graph, paused at the approval port, resumed in a new process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22's design and contracts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Lesson23-CapstoneBuild/</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Agents inside custom executors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chat-protocol start node</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Pausing at a RequestPort for a person</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Checkpoints on disk, and workflow state</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Resuming in a completely fresh process</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23 — Capstone Build</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WHERE WE ARE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the build composes</a:t>
            </a:r>
            <a:endParaRPr lang="en-US" sz="2800" dirty="0"/>
          </a:p>
        </p:txBody>
      </p:sp>
      <p:sp>
        <p:nvSpPr>
          <p:cNvPr id="4" name="Shape 2"/>
          <p:cNvSpPr/>
          <p:nvPr/>
        </p:nvSpPr>
        <p:spPr>
          <a:xfrm>
            <a:off x="457200" y="1371600"/>
            <a:ext cx="2560320" cy="1188720"/>
          </a:xfrm>
          <a:prstGeom prst="roundRect">
            <a:avLst>
              <a:gd name="adj" fmla="val 6154"/>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Lesson 22 · Design</a:t>
            </a:r>
            <a:endParaRPr lang="en-US" sz="1400" dirty="0"/>
          </a:p>
        </p:txBody>
      </p:sp>
      <p:sp>
        <p:nvSpPr>
          <p:cNvPr id="8" name="Text 5"/>
          <p:cNvSpPr txBox="1"/>
          <p:nvPr/>
        </p:nvSpPr>
        <p:spPr>
          <a:xfrm>
            <a:off x="640080" y="2057400"/>
            <a:ext cx="219456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Personas, AnalysisResult, parser, approval request</a:t>
            </a:r>
            <a:endParaRPr lang="en-US" sz="1200" dirty="0"/>
          </a:p>
        </p:txBody>
      </p:sp>
      <p:sp>
        <p:nvSpPr>
          <p:cNvPr id="9" name="Shape 6"/>
          <p:cNvSpPr/>
          <p:nvPr/>
        </p:nvSpPr>
        <p:spPr>
          <a:xfrm>
            <a:off x="3291840" y="1371600"/>
            <a:ext cx="2560320" cy="1188720"/>
          </a:xfrm>
          <a:prstGeom prst="roundRect">
            <a:avLst>
              <a:gd name="adj" fmla="val 6154"/>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Lesson 7 · MCP</a:t>
            </a:r>
            <a:endParaRPr lang="en-US" sz="1500" dirty="0"/>
          </a:p>
        </p:txBody>
      </p:sp>
      <p:sp>
        <p:nvSpPr>
          <p:cNvPr id="13" name="Text 9"/>
          <p:cNvSpPr txBox="1"/>
          <p:nvPr/>
        </p:nvSpPr>
        <p:spPr>
          <a:xfrm>
            <a:off x="347472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ResearchMcpServer, same host and server layout</a:t>
            </a:r>
            <a:endParaRPr lang="en-US" sz="1200" dirty="0"/>
          </a:p>
        </p:txBody>
      </p:sp>
      <p:sp>
        <p:nvSpPr>
          <p:cNvPr id="14" name="Shape 10"/>
          <p:cNvSpPr/>
          <p:nvPr/>
        </p:nvSpPr>
        <p:spPr>
          <a:xfrm>
            <a:off x="6126480" y="1371600"/>
            <a:ext cx="2560320" cy="1188720"/>
          </a:xfrm>
          <a:prstGeom prst="roundRect">
            <a:avLst>
              <a:gd name="adj" fmla="val 6154"/>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Lessons 10–11 · Nodes</a:t>
            </a:r>
            <a:endParaRPr lang="en-US" sz="1300" dirty="0"/>
          </a:p>
        </p:txBody>
      </p:sp>
      <p:sp>
        <p:nvSpPr>
          <p:cNvPr id="18" name="Text 13"/>
          <p:cNvSpPr txBox="1"/>
          <p:nvPr/>
        </p:nvSpPr>
        <p:spPr>
          <a:xfrm>
            <a:off x="630936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Custom executors and [MessageHandler]</a:t>
            </a:r>
            <a:endParaRPr lang="en-US" sz="1200" dirty="0"/>
          </a:p>
        </p:txBody>
      </p:sp>
      <p:sp>
        <p:nvSpPr>
          <p:cNvPr id="19" name="Shape 14"/>
          <p:cNvSpPr/>
          <p:nvPr/>
        </p:nvSpPr>
        <p:spPr>
          <a:xfrm>
            <a:off x="457200" y="2788920"/>
            <a:ext cx="2560320" cy="1188720"/>
          </a:xfrm>
          <a:prstGeom prst="roundRect">
            <a:avLst>
              <a:gd name="adj" fmla="val 6154"/>
            </a:avLst>
          </a:prstGeom>
          <a:solidFill>
            <a:srgbClr val="EFEBFC"/>
          </a:solidFill>
          <a:ln w="12700">
            <a:solidFill>
              <a:srgbClr val="EFEBFC"/>
            </a:solidFill>
            <a:prstDash val="solid"/>
          </a:ln>
        </p:spPr>
      </p:sp>
      <p:sp>
        <p:nvSpPr>
          <p:cNvPr id="20" name="Shape 15"/>
          <p:cNvSpPr/>
          <p:nvPr/>
        </p:nvSpPr>
        <p:spPr>
          <a:xfrm>
            <a:off x="640080" y="297180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39932" y="3071652"/>
            <a:ext cx="184343" cy="184343"/>
          </a:xfrm>
          <a:prstGeom prst="rect">
            <a:avLst/>
          </a:prstGeom>
        </p:spPr>
      </p:pic>
      <p:sp>
        <p:nvSpPr>
          <p:cNvPr id="22" name="Text 16"/>
          <p:cNvSpPr txBox="1"/>
          <p:nvPr/>
        </p:nvSpPr>
        <p:spPr>
          <a:xfrm>
            <a:off x="1143000" y="297180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Lesson 17 · Port</a:t>
            </a:r>
            <a:endParaRPr lang="en-US" sz="1500" dirty="0"/>
          </a:p>
        </p:txBody>
      </p:sp>
      <p:sp>
        <p:nvSpPr>
          <p:cNvPr id="23" name="Text 17"/>
          <p:cNvSpPr txBox="1"/>
          <p:nvPr/>
        </p:nvSpPr>
        <p:spPr>
          <a:xfrm>
            <a:off x="64008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RequestPort for the human decision</a:t>
            </a:r>
            <a:endParaRPr lang="en-US" sz="1200" dirty="0"/>
          </a:p>
        </p:txBody>
      </p:sp>
      <p:sp>
        <p:nvSpPr>
          <p:cNvPr id="24" name="Shape 18"/>
          <p:cNvSpPr/>
          <p:nvPr/>
        </p:nvSpPr>
        <p:spPr>
          <a:xfrm>
            <a:off x="3291840" y="2788920"/>
            <a:ext cx="2560320" cy="1188720"/>
          </a:xfrm>
          <a:prstGeom prst="roundRect">
            <a:avLst>
              <a:gd name="adj" fmla="val 6154"/>
            </a:avLst>
          </a:prstGeom>
          <a:solidFill>
            <a:srgbClr val="EFEBFC"/>
          </a:solidFill>
          <a:ln w="12700">
            <a:solidFill>
              <a:srgbClr val="EFEBFC"/>
            </a:solidFill>
            <a:prstDash val="solid"/>
          </a:ln>
        </p:spPr>
      </p:sp>
      <p:sp>
        <p:nvSpPr>
          <p:cNvPr id="25" name="Shape 19"/>
          <p:cNvSpPr/>
          <p:nvPr/>
        </p:nvSpPr>
        <p:spPr>
          <a:xfrm>
            <a:off x="3474720" y="297180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071652"/>
            <a:ext cx="184343" cy="184343"/>
          </a:xfrm>
          <a:prstGeom prst="rect">
            <a:avLst/>
          </a:prstGeom>
        </p:spPr>
      </p:pic>
      <p:sp>
        <p:nvSpPr>
          <p:cNvPr id="27" name="Text 20"/>
          <p:cNvSpPr txBox="1"/>
          <p:nvPr/>
        </p:nvSpPr>
        <p:spPr>
          <a:xfrm>
            <a:off x="3977640" y="2971800"/>
            <a:ext cx="1737360" cy="384048"/>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Lesson 18 · Checkpoints</a:t>
            </a:r>
            <a:endParaRPr lang="en-US" sz="1300" dirty="0"/>
          </a:p>
        </p:txBody>
      </p:sp>
      <p:sp>
        <p:nvSpPr>
          <p:cNvPr id="28" name="Text 21"/>
          <p:cNvSpPr txBox="1"/>
          <p:nvPr/>
        </p:nvSpPr>
        <p:spPr>
          <a:xfrm>
            <a:off x="347472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CheckpointManager over a file store</a:t>
            </a:r>
            <a:endParaRPr lang="en-US" sz="1200" dirty="0"/>
          </a:p>
        </p:txBody>
      </p:sp>
      <p:sp>
        <p:nvSpPr>
          <p:cNvPr id="29" name="Shape 22"/>
          <p:cNvSpPr/>
          <p:nvPr/>
        </p:nvSpPr>
        <p:spPr>
          <a:xfrm>
            <a:off x="6126480" y="2788920"/>
            <a:ext cx="2560320" cy="1188720"/>
          </a:xfrm>
          <a:prstGeom prst="roundRect">
            <a:avLst>
              <a:gd name="adj" fmla="val 6154"/>
            </a:avLst>
          </a:prstGeom>
          <a:solidFill>
            <a:srgbClr val="EFEBFC"/>
          </a:solidFill>
          <a:ln w="12700">
            <a:solidFill>
              <a:srgbClr val="EFEBFC"/>
            </a:solidFill>
            <a:prstDash val="solid"/>
          </a:ln>
        </p:spPr>
      </p:sp>
      <p:sp>
        <p:nvSpPr>
          <p:cNvPr id="30" name="Shape 23"/>
          <p:cNvSpPr/>
          <p:nvPr/>
        </p:nvSpPr>
        <p:spPr>
          <a:xfrm>
            <a:off x="6309360" y="2971800"/>
            <a:ext cx="384048" cy="384048"/>
          </a:xfrm>
          <a:prstGeom prst="ellipse">
            <a:avLst/>
          </a:prstGeom>
          <a:solidFill>
            <a:srgbClr val="512BD4"/>
          </a:solidFill>
          <a:ln w="12700">
            <a:solidFill>
              <a:srgbClr val="512BD4"/>
            </a:solidFill>
            <a:prstDash val="solid"/>
          </a:ln>
        </p:spPr>
      </p:sp>
      <p:pic>
        <p:nvPicPr>
          <p:cNvPr id="31" name="Image 5" descr="preencoded.png">    </p:cNvPr>
          <p:cNvPicPr>
            <a:picLocks noChangeAspect="1"/>
          </p:cNvPicPr>
          <p:nvPr/>
        </p:nvPicPr>
        <p:blipFill>
          <a:blip r:embed="rId6"/>
          <a:stretch>
            <a:fillRect/>
          </a:stretch>
        </p:blipFill>
        <p:spPr>
          <a:xfrm>
            <a:off x="6409212" y="3071652"/>
            <a:ext cx="184343" cy="184343"/>
          </a:xfrm>
          <a:prstGeom prst="rect">
            <a:avLst/>
          </a:prstGeom>
        </p:spPr>
      </p:pic>
      <p:sp>
        <p:nvSpPr>
          <p:cNvPr id="32" name="Text 24"/>
          <p:cNvSpPr txBox="1"/>
          <p:nvPr/>
        </p:nvSpPr>
        <p:spPr>
          <a:xfrm>
            <a:off x="6812280" y="297180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Next · Lesson 24</a:t>
            </a:r>
            <a:endParaRPr lang="en-US" sz="1400" dirty="0"/>
          </a:p>
        </p:txBody>
      </p:sp>
      <p:sp>
        <p:nvSpPr>
          <p:cNvPr id="33" name="Text 25"/>
          <p:cNvSpPr txBox="1"/>
          <p:nvPr/>
        </p:nvSpPr>
        <p:spPr>
          <a:xfrm>
            <a:off x="630936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Hosts this same graph, unchanged</a:t>
            </a:r>
            <a:endParaRPr lang="en-US" sz="1200" dirty="0"/>
          </a:p>
        </p:txBody>
      </p:sp>
      <p:sp>
        <p:nvSpPr>
          <p:cNvPr id="34" name="Text 26"/>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Mostly composition: the new code is the executors and the program.</a:t>
            </a:r>
            <a:endParaRPr lang="en-US" sz="1400" dirty="0"/>
          </a:p>
        </p:txBody>
      </p:sp>
      <p:sp>
        <p:nvSpPr>
          <p:cNvPr id="35"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23 — Capstone Build</a:t>
            </a:r>
            <a:endParaRPr lang="en-US" sz="900" dirty="0"/>
          </a:p>
        </p:txBody>
      </p:sp>
      <p:sp>
        <p:nvSpPr>
          <p:cNvPr id="36"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projects, two commands</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ResearchMcpServer</a:t>
            </a:r>
            <a:endParaRPr lang="en-US" sz="13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tool over a fixed knowledge base. Build it first</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Workflows + Generators</a:t>
            </a:r>
            <a:endParaRPr lang="en-US" sz="14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Microsoft.Agents.AI.Workflows 1.24.0, and the [MessageHandler] generator</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lstStyle/>
          <a:p>
            <a:pPr indent="0" marL="0">
              <a:buNone/>
            </a:pPr>
            <a:r>
              <a:rPr lang="en-US" sz="1200" b="1" dirty="0">
                <a:solidFill>
                  <a:srgbClr val="1F2937"/>
                </a:solidFill>
                <a:latin typeface="Courier New" pitchFamily="34" charset="0"/>
                <a:ea typeface="Courier New" pitchFamily="34" charset="-122"/>
                <a:cs typeface="Courier New" pitchFamily="34" charset="-120"/>
              </a:rPr>
              <a:t>CAPSTONE_MCP_SERVER_PATH</a:t>
            </a:r>
            <a:endParaRPr lang="en-US" sz="12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Optional override for the server DLL's path</a:t>
            </a:r>
            <a:endParaRPr lang="en-US" sz="1200" dirty="0"/>
          </a:p>
        </p:txBody>
      </p:sp>
      <p:sp>
        <p:nvSpPr>
          <p:cNvPr id="19" name="Shape 14"/>
          <p:cNvSpPr/>
          <p:nvPr/>
        </p:nvSpPr>
        <p:spPr>
          <a:xfrm>
            <a:off x="4709160" y="2994660"/>
            <a:ext cx="3977640" cy="1394460"/>
          </a:xfrm>
          <a:prstGeom prst="roundRect">
            <a:avLst>
              <a:gd name="adj" fmla="val 5246"/>
            </a:avLst>
          </a:prstGeom>
          <a:solidFill>
            <a:srgbClr val="512BD4"/>
          </a:solidFill>
          <a:ln w="12700">
            <a:solidFill>
              <a:srgbClr val="512BD4"/>
            </a:solidFill>
            <a:prstDash val="solid"/>
          </a:ln>
        </p:spPr>
      </p:sp>
      <p:sp>
        <p:nvSpPr>
          <p:cNvPr id="20" name="Shape 15"/>
          <p:cNvSpPr/>
          <p:nvPr/>
        </p:nvSpPr>
        <p:spPr>
          <a:xfrm>
            <a:off x="4892040" y="317754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run, then run -- resume</a:t>
            </a:r>
            <a:endParaRPr lang="en-US" sz="14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first pauses and exits; the second finishes</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23 — Capstone Build</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graph, four nodes, typed edges</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research</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ResearchExecutor sends ResearchNotes</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analysis</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AnalysisExecutor returns the approval request</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report-approval</a:t>
            </a:r>
            <a:endParaRPr lang="en-US" sz="125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RequestPort. Sends the response on</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writer</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WriterExecutor yields the report</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CapstoneWorkflowFactory wires it; WithOutputFrom(writer) marks the output.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23 — Capstone Build</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kinds of executor</a:t>
            </a:r>
            <a:endParaRPr lang="en-US" sz="2800" dirty="0"/>
          </a:p>
        </p:txBody>
      </p:sp>
      <p:sp>
        <p:nvSpPr>
          <p:cNvPr id="4" name="Shape 2"/>
          <p:cNvSpPr/>
          <p:nvPr/>
        </p:nvSpPr>
        <p:spPr>
          <a:xfrm>
            <a:off x="457200" y="1371600"/>
            <a:ext cx="39319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ResearchExecutor</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ChatProtocolExecutor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Collects messages, acts on a TurnToken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Skips a turn with no user text</a:t>
            </a:r>
            <a:endParaRPr lang="en-US" sz="1300" dirty="0"/>
          </a:p>
        </p:txBody>
      </p:sp>
      <p:sp>
        <p:nvSpPr>
          <p:cNvPr id="9" name="Shape 6"/>
          <p:cNvSpPr/>
          <p:nvPr/>
        </p:nvSpPr>
        <p:spPr>
          <a:xfrm>
            <a:off x="4754880" y="1371600"/>
            <a:ext cx="3931920" cy="2011680"/>
          </a:xfrm>
          <a:prstGeom prst="roundRect">
            <a:avLst>
              <a:gd name="adj" fmla="val 3636"/>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Analysis + Writer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partial, with [MessageHandler]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generator routes by parameter type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return value goes down the edge</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start node takes the same input shape Workflow.AsAIAgent() sends.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23 — Capstone Build</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Researcher's MCP tool access</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550" b="1" dirty="0">
                <a:solidFill>
                  <a:srgbClr val="FFFFFF"/>
                </a:solidFill>
                <a:latin typeface="Calibri" pitchFamily="34" charset="0"/>
                <a:ea typeface="Calibri" pitchFamily="34" charset="-122"/>
                <a:cs typeface="Calibri" pitchFamily="34" charset="-120"/>
              </a:rPr>
              <a:t>ResearchMcpServer</a:t>
            </a:r>
            <a:endParaRPr lang="en-US" sz="155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Lesson 7's shape, with one research tool.</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325880" cy="27432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SearchResearch</a:t>
            </a:r>
            <a:endParaRPr lang="en-US" sz="1200" dirty="0"/>
          </a:p>
          <a:p>
            <a:pPr indent="0" marL="0">
              <a:buNone/>
            </a:pPr>
            <a:r>
              <a:rPr lang="en-US" sz="1200" b="1" dirty="0">
                <a:solidFill>
                  <a:srgbClr val="1F2937"/>
                </a:solidFill>
                <a:latin typeface="Calibri" pitchFamily="34" charset="0"/>
                <a:ea typeface="Calibri" pitchFamily="34" charset="-122"/>
                <a:cs typeface="Calibri" pitchFamily="34" charset="-120"/>
              </a:rPr>
              <a:t>Notes</a:t>
            </a:r>
            <a:endParaRPr lang="en-US" sz="12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One tool, over a small fixed knowledge base</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Stdio host</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Logs go to stderr, never the protocol stream</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Found by path</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AppContext.BaseDirectory, never the current dir</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Override</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CAPSTONE_MCP_SERVER_PATH, when set</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23 — Capstone Build</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Pausing at the approval port, and answering it</a:t>
            </a:r>
            <a:endParaRPr lang="en-US" sz="27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200" b="1" dirty="0">
                <a:solidFill>
                  <a:srgbClr val="1F2937"/>
                </a:solidFill>
                <a:latin typeface="Calibri" pitchFamily="34" charset="0"/>
                <a:ea typeface="Calibri" pitchFamily="34" charset="-122"/>
                <a:cs typeface="Calibri" pitchFamily="34" charset="-120"/>
              </a:rPr>
              <a:t>RequestInfoEvent</a:t>
            </a:r>
            <a:endParaRPr lang="en-US" sz="12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Status becomes PendingRequests</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Read the request</a:t>
            </a:r>
            <a:endParaRPr lang="en-US" sz="14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TryGetDataAs, then Describe it</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Build the decision</a:t>
            </a:r>
            <a:endParaRPr lang="en-US" sz="14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request.Create</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Response, approved or not</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Resume the run</a:t>
            </a:r>
            <a:endParaRPr lang="en-US" sz="14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run.ResumeAsync delivers it to the port</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WriterExecutor handler then receives the ToolApprovalResponseContent.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23 — Capstone Build</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What survives the pause lives in workflow state</a:t>
            </a:r>
            <a:endParaRPr lang="en-US" sz="265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AnalysisExecutor</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Parses the reply with AnalysisParser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QueueStateUpdateAsync stores 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Returns the approval request</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WriterExecutor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Runs after the pause, maybe next day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ReadStateAsync&lt;AnalysisResult&gt;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State is in every checkpoint</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analysis is there whether the Writer runs a second later or tomorrow.</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23 — Capstone Build</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File-based checkpointing</a:t>
            </a:r>
            <a:endParaRPr lang="en-US" sz="2800" dirty="0"/>
          </a:p>
        </p:txBody>
      </p:sp>
      <p:sp>
        <p:nvSpPr>
          <p:cNvPr id="4" name="Shape 2"/>
          <p:cNvSpPr/>
          <p:nvPr/>
        </p:nvSpPr>
        <p:spPr>
          <a:xfrm>
            <a:off x="457200" y="1371600"/>
            <a:ext cx="2560320" cy="2606040"/>
          </a:xfrm>
          <a:prstGeom prst="roundRect">
            <a:avLst>
              <a:gd name="adj" fmla="val 2857"/>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ourier New" pitchFamily="34" charset="0"/>
                <a:ea typeface="Courier New" pitchFamily="34" charset="-122"/>
                <a:cs typeface="Courier New" pitchFamily="34" charset="-120"/>
              </a:rPr>
              <a:t>CreateJson</a:t>
            </a:r>
            <a:endParaRPr lang="en-US" sz="1400" dirty="0"/>
          </a:p>
        </p:txBody>
      </p:sp>
      <p:sp>
        <p:nvSpPr>
          <p:cNvPr id="8" name="Text 5"/>
          <p:cNvSpPr txBox="1"/>
          <p:nvPr/>
        </p:nvSpPr>
        <p:spPr>
          <a:xfrm>
            <a:off x="640080" y="2057400"/>
            <a:ext cx="2194560" cy="1828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CheckpointManager over a FileSystemJson</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CheckpointStore</a:t>
            </a:r>
            <a:endParaRPr lang="en-US" sz="1200" dirty="0"/>
          </a:p>
        </p:txBody>
      </p:sp>
      <p:sp>
        <p:nvSpPr>
          <p:cNvPr id="9" name="Shape 6"/>
          <p:cNvSpPr/>
          <p:nvPr/>
        </p:nvSpPr>
        <p:spPr>
          <a:xfrm>
            <a:off x="3291840" y="1371600"/>
            <a:ext cx="2560320" cy="2606040"/>
          </a:xfrm>
          <a:prstGeom prst="roundRect">
            <a:avLst>
              <a:gd name="adj" fmla="val 2857"/>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Every superstep</a:t>
            </a:r>
            <a:endParaRPr lang="en-US" sz="1400" dirty="0"/>
          </a:p>
        </p:txBody>
      </p:sp>
      <p:sp>
        <p:nvSpPr>
          <p:cNvPr id="13" name="Text 9"/>
          <p:cNvSpPr txBox="1"/>
          <p:nvPr/>
        </p:nvSpPr>
        <p:spPr>
          <a:xfrm>
            <a:off x="3474720" y="2057400"/>
            <a:ext cx="2194560" cy="1828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Keyed by the session id; LastCheckpoint is the pause</a:t>
            </a:r>
            <a:endParaRPr lang="en-US" sz="1200" dirty="0"/>
          </a:p>
        </p:txBody>
      </p:sp>
      <p:sp>
        <p:nvSpPr>
          <p:cNvPr id="14" name="Shape 10"/>
          <p:cNvSpPr/>
          <p:nvPr/>
        </p:nvSpPr>
        <p:spPr>
          <a:xfrm>
            <a:off x="6126480" y="1371600"/>
            <a:ext cx="2560320" cy="2606040"/>
          </a:xfrm>
          <a:prstGeom prst="roundRect">
            <a:avLst>
              <a:gd name="adj" fmla="val 2857"/>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One decision</a:t>
            </a:r>
            <a:endParaRPr lang="en-US" sz="1400" dirty="0"/>
          </a:p>
        </p:txBody>
      </p:sp>
      <p:sp>
        <p:nvSpPr>
          <p:cNvPr id="18" name="Text 13"/>
          <p:cNvSpPr txBox="1"/>
          <p:nvPr/>
        </p:nvSpPr>
        <p:spPr>
          <a:xfrm>
            <a:off x="6309360" y="2057400"/>
            <a:ext cx="2194560" cy="18288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Old checkpoints are deleted, so no approval is applied twice</a:t>
            </a:r>
            <a:endParaRPr lang="en-US" sz="1200" dirty="0"/>
          </a:p>
        </p:txBody>
      </p:sp>
      <p:sp>
        <p:nvSpPr>
          <p:cNvPr id="19" name="Text 14"/>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Nothing is carried over in memory; only the checkpoint folder.</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23 — Capstone Build</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processes, one run</a:t>
            </a:r>
            <a:endParaRPr lang="en-US" sz="28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dotnet run</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Clears old checkpoints, sends a TurnToken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Runs to the port, prints the request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Saves a checkpoint and exits</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dotnet run -- resume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Builds the graph again, same node ids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GetLatestCheckpointAsync, then restore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Re-raises the same pending request</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Only the checkpoint folder connects the two processes.</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23 — Capstone Build</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Start, exit, then resume in a new process</a:t>
            </a:r>
            <a:endParaRPr lang="en-US" sz="2800" dirty="0"/>
          </a:p>
        </p:txBody>
      </p:sp>
      <p:sp>
        <p:nvSpPr>
          <p:cNvPr id="4" name="Shape 2"/>
          <p:cNvSpPr/>
          <p:nvPr/>
        </p:nvSpPr>
        <p:spPr>
          <a:xfrm>
            <a:off x="457200" y="1325880"/>
            <a:ext cx="5257800" cy="2240280"/>
          </a:xfrm>
          <a:prstGeom prst="roundRect">
            <a:avLst>
              <a:gd name="adj" fmla="val 3265"/>
            </a:avLst>
          </a:prstGeom>
          <a:solidFill>
            <a:srgbClr val="0F1420"/>
          </a:solidFill>
          <a:ln w="12700">
            <a:solidFill>
              <a:srgbClr val="0F1420"/>
            </a:solidFill>
            <a:prstDash val="solid"/>
          </a:ln>
        </p:spPr>
      </p:sp>
      <p:sp>
        <p:nvSpPr>
          <p:cNvPr id="5" name="Text 3"/>
          <p:cNvSpPr txBox="1"/>
          <p:nvPr/>
        </p:nvSpPr>
        <p:spPr>
          <a:xfrm>
            <a:off x="640080" y="1463040"/>
            <a:ext cx="4892040" cy="19659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Re-capture pending: run with OPENAI_API_KEY set</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dotnet run</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Start: Researcher -&gt; Analyst -&gt; approval port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-&gt; Writer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Research topic: the deep sea anglerfish</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Research tools: search_research_notes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dotnet run -- resume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Resume: restoring checkpoint &lt;the id printed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above&gt; in a new process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Research tools: search_research_notes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First run</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Paused for approval, Status: PendingRequests, a checkpoint id</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Restored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same request, read from the checkpoint, not regenerated</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Decision</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 prints the Final report, then Status: Idle</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23 — Capstone Build</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355092"/>
          </a:xfrm>
          <a:prstGeom prst="roundRect">
            <a:avLst>
              <a:gd name="adj" fmla="val 20601"/>
            </a:avLst>
          </a:prstGeom>
          <a:solidFill>
            <a:srgbClr val="1F2943"/>
          </a:solidFill>
          <a:ln w="12700">
            <a:solidFill>
              <a:srgbClr val="1F2943"/>
            </a:solidFill>
            <a:prstDash val="solid"/>
          </a:ln>
        </p:spPr>
      </p:sp>
      <p:sp>
        <p:nvSpPr>
          <p:cNvPr id="5" name="Text 3"/>
          <p:cNvSpPr txBox="1"/>
          <p:nvPr/>
        </p:nvSpPr>
        <p:spPr>
          <a:xfrm>
            <a:off x="621792" y="12344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Chat-protocol start node</a:t>
            </a:r>
            <a:endParaRPr lang="en-US" sz="1300" dirty="0"/>
          </a:p>
        </p:txBody>
      </p:sp>
      <p:sp>
        <p:nvSpPr>
          <p:cNvPr id="6" name="Shape 4"/>
          <p:cNvSpPr/>
          <p:nvPr/>
        </p:nvSpPr>
        <p:spPr>
          <a:xfrm>
            <a:off x="3493008" y="132054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Driven by Workflow.AsAIAgent() with messages + TurnToken</a:t>
            </a:r>
            <a:endParaRPr lang="en-US" sz="1250" dirty="0"/>
          </a:p>
        </p:txBody>
      </p:sp>
      <p:sp>
        <p:nvSpPr>
          <p:cNvPr id="8" name="Shape 6"/>
          <p:cNvSpPr/>
          <p:nvPr/>
        </p:nvSpPr>
        <p:spPr>
          <a:xfrm>
            <a:off x="457200" y="1699260"/>
            <a:ext cx="2926080" cy="355092"/>
          </a:xfrm>
          <a:prstGeom prst="roundRect">
            <a:avLst>
              <a:gd name="adj" fmla="val 20601"/>
            </a:avLst>
          </a:prstGeom>
          <a:solidFill>
            <a:srgbClr val="1F2943"/>
          </a:solidFill>
          <a:ln w="12700">
            <a:solidFill>
              <a:srgbClr val="1F2943"/>
            </a:solidFill>
            <a:prstDash val="solid"/>
          </a:ln>
        </p:spPr>
      </p:sp>
      <p:sp>
        <p:nvSpPr>
          <p:cNvPr id="9" name="Text 7"/>
          <p:cNvSpPr txBox="1"/>
          <p:nvPr/>
        </p:nvSpPr>
        <p:spPr>
          <a:xfrm>
            <a:off x="621792" y="169926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Skipping empty turns</a:t>
            </a:r>
            <a:endParaRPr lang="en-US" sz="1300" dirty="0"/>
          </a:p>
        </p:txBody>
      </p:sp>
      <p:sp>
        <p:nvSpPr>
          <p:cNvPr id="10" name="Shape 8"/>
          <p:cNvSpPr/>
          <p:nvPr/>
        </p:nvSpPr>
        <p:spPr>
          <a:xfrm>
            <a:off x="3493008" y="178536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69926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Absorbs the session's turn after the approval</a:t>
            </a:r>
            <a:endParaRPr lang="en-US" sz="1250" dirty="0"/>
          </a:p>
        </p:txBody>
      </p:sp>
      <p:sp>
        <p:nvSpPr>
          <p:cNvPr id="12" name="Shape 10"/>
          <p:cNvSpPr/>
          <p:nvPr/>
        </p:nvSpPr>
        <p:spPr>
          <a:xfrm>
            <a:off x="457200" y="2164080"/>
            <a:ext cx="2926080" cy="355092"/>
          </a:xfrm>
          <a:prstGeom prst="roundRect">
            <a:avLst>
              <a:gd name="adj" fmla="val 20601"/>
            </a:avLst>
          </a:prstGeom>
          <a:solidFill>
            <a:srgbClr val="1F2943"/>
          </a:solidFill>
          <a:ln w="12700">
            <a:solidFill>
              <a:srgbClr val="1F2943"/>
            </a:solidFill>
            <a:prstDash val="solid"/>
          </a:ln>
        </p:spPr>
      </p:sp>
      <p:sp>
        <p:nvSpPr>
          <p:cNvPr id="13" name="Text 11"/>
          <p:cNvSpPr txBox="1"/>
          <p:nvPr/>
        </p:nvSpPr>
        <p:spPr>
          <a:xfrm>
            <a:off x="621792" y="216408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Request at the port</a:t>
            </a:r>
            <a:endParaRPr lang="en-US" sz="1300" dirty="0"/>
          </a:p>
        </p:txBody>
      </p:sp>
      <p:sp>
        <p:nvSpPr>
          <p:cNvPr id="14" name="Shape 12"/>
          <p:cNvSpPr/>
          <p:nvPr/>
        </p:nvSpPr>
        <p:spPr>
          <a:xfrm>
            <a:off x="3493008" y="225018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16408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Comes back as an mcp_approval_request item</a:t>
            </a:r>
            <a:endParaRPr lang="en-US" sz="1250" dirty="0"/>
          </a:p>
        </p:txBody>
      </p:sp>
      <p:sp>
        <p:nvSpPr>
          <p:cNvPr id="16" name="Shape 14"/>
          <p:cNvSpPr/>
          <p:nvPr/>
        </p:nvSpPr>
        <p:spPr>
          <a:xfrm>
            <a:off x="457200" y="2628900"/>
            <a:ext cx="2926080" cy="355092"/>
          </a:xfrm>
          <a:prstGeom prst="roundRect">
            <a:avLst>
              <a:gd name="adj" fmla="val 20601"/>
            </a:avLst>
          </a:prstGeom>
          <a:solidFill>
            <a:srgbClr val="1F2943"/>
          </a:solidFill>
          <a:ln w="12700">
            <a:solidFill>
              <a:srgbClr val="1F2943"/>
            </a:solidFill>
            <a:prstDash val="solid"/>
          </a:ln>
        </p:spPr>
      </p:sp>
      <p:sp>
        <p:nvSpPr>
          <p:cNvPr id="17" name="Text 15"/>
          <p:cNvSpPr txBox="1"/>
          <p:nvPr/>
        </p:nvSpPr>
        <p:spPr>
          <a:xfrm>
            <a:off x="621792" y="262890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Decision at the console</a:t>
            </a:r>
            <a:endParaRPr lang="en-US" sz="1300" dirty="0"/>
          </a:p>
        </p:txBody>
      </p:sp>
      <p:sp>
        <p:nvSpPr>
          <p:cNvPr id="18" name="Shape 16"/>
          <p:cNvSpPr/>
          <p:nvPr/>
        </p:nvSpPr>
        <p:spPr>
          <a:xfrm>
            <a:off x="3493008" y="2715006"/>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62890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An mcp_approval_response via previous_response_id</a:t>
            </a:r>
            <a:endParaRPr lang="en-US" sz="1250" dirty="0"/>
          </a:p>
        </p:txBody>
      </p:sp>
      <p:sp>
        <p:nvSpPr>
          <p:cNvPr id="20" name="Shape 18"/>
          <p:cNvSpPr/>
          <p:nvPr/>
        </p:nvSpPr>
        <p:spPr>
          <a:xfrm>
            <a:off x="457200" y="3093720"/>
            <a:ext cx="2926080" cy="355092"/>
          </a:xfrm>
          <a:prstGeom prst="roundRect">
            <a:avLst>
              <a:gd name="adj" fmla="val 20601"/>
            </a:avLst>
          </a:prstGeom>
          <a:solidFill>
            <a:srgbClr val="1F2943"/>
          </a:solidFill>
          <a:ln w="12700">
            <a:solidFill>
              <a:srgbClr val="1F2943"/>
            </a:solidFill>
            <a:prstDash val="solid"/>
          </a:ln>
        </p:spPr>
      </p:sp>
      <p:sp>
        <p:nvSpPr>
          <p:cNvPr id="21" name="Text 19"/>
          <p:cNvSpPr txBox="1"/>
          <p:nvPr/>
        </p:nvSpPr>
        <p:spPr>
          <a:xfrm>
            <a:off x="621792" y="309372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File checkpoints</a:t>
            </a:r>
            <a:endParaRPr lang="en-US" sz="1300" dirty="0"/>
          </a:p>
        </p:txBody>
      </p:sp>
      <p:sp>
        <p:nvSpPr>
          <p:cNvPr id="22" name="Shape 20"/>
          <p:cNvSpPr/>
          <p:nvPr/>
        </p:nvSpPr>
        <p:spPr>
          <a:xfrm>
            <a:off x="3493008" y="3179826"/>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09372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Hosting checkpoints the run automatically</a:t>
            </a:r>
            <a:endParaRPr lang="en-US" sz="1250" dirty="0"/>
          </a:p>
        </p:txBody>
      </p:sp>
      <p:sp>
        <p:nvSpPr>
          <p:cNvPr id="24" name="Shape 22"/>
          <p:cNvSpPr/>
          <p:nvPr/>
        </p:nvSpPr>
        <p:spPr>
          <a:xfrm>
            <a:off x="457200" y="3558540"/>
            <a:ext cx="2926080" cy="355092"/>
          </a:xfrm>
          <a:prstGeom prst="roundRect">
            <a:avLst>
              <a:gd name="adj" fmla="val 20601"/>
            </a:avLst>
          </a:prstGeom>
          <a:solidFill>
            <a:srgbClr val="1F2943"/>
          </a:solidFill>
          <a:ln w="12700">
            <a:solidFill>
              <a:srgbClr val="1F2943"/>
            </a:solidFill>
            <a:prstDash val="solid"/>
          </a:ln>
        </p:spPr>
      </p:sp>
      <p:sp>
        <p:nvSpPr>
          <p:cNvPr id="25" name="Text 23"/>
          <p:cNvSpPr txBox="1"/>
          <p:nvPr/>
        </p:nvSpPr>
        <p:spPr>
          <a:xfrm>
            <a:off x="621792" y="35585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Two-project stdio MCP</a:t>
            </a:r>
            <a:endParaRPr lang="en-US" sz="1300" dirty="0"/>
          </a:p>
        </p:txBody>
      </p:sp>
      <p:sp>
        <p:nvSpPr>
          <p:cNvPr id="26" name="Shape 24"/>
          <p:cNvSpPr/>
          <p:nvPr/>
        </p:nvSpPr>
        <p:spPr>
          <a:xfrm>
            <a:off x="3493008" y="3644646"/>
            <a:ext cx="329184" cy="182880"/>
          </a:xfrm>
          <a:prstGeom prst="rightArrow">
            <a:avLst/>
          </a:prstGeom>
          <a:solidFill>
            <a:srgbClr val="F5A623"/>
          </a:solidFill>
          <a:ln w="12700">
            <a:solidFill>
              <a:srgbClr val="F5A623"/>
            </a:solidFill>
            <a:prstDash val="solid"/>
          </a:ln>
        </p:spPr>
      </p:sp>
      <p:sp>
        <p:nvSpPr>
          <p:cNvPr id="27" name="Text 25"/>
          <p:cNvSpPr txBox="1"/>
          <p:nvPr/>
        </p:nvSpPr>
        <p:spPr>
          <a:xfrm>
            <a:off x="3977640" y="35585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One container image with two programs</a:t>
            </a:r>
            <a:endParaRPr lang="en-US" sz="1250" dirty="0"/>
          </a:p>
        </p:txBody>
      </p:sp>
      <p:sp>
        <p:nvSpPr>
          <p:cNvPr id="28" name="Text 26"/>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29"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23 — Capstone Build</a:t>
            </a:r>
            <a:endParaRPr lang="en-US" sz="900" dirty="0"/>
          </a:p>
        </p:txBody>
      </p:sp>
      <p:sp>
        <p:nvSpPr>
          <p:cNvPr id="30"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23 — Capstone Build</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2026-10-07T23:53:48Z</dcterms:created>
  <dcterms:modified xsi:type="dcterms:W3CDTF">2026-10-07T23:53:48Z</dcterms:modified>
</cp:coreProperties>
</file>