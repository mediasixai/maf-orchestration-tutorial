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lesson we stand up our first agent using Microsoft Agent Framework: a ChatClientAgent wrapping OpenAI through the IChatClient abstraction from Microsoft.Extensions.AI. We then prove that an agent's personality is entirely a function of its instructions string, by running the identical prompt through two agents, a plain helpful assistant and an in-character pirate navigator, built from the exact same model connection. This is the foundation every later lesson in the series builds on. There are no prerequisites: this is Lesson 1. You need the .NET 10 SDK and Visual Studio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framework net10.0. Three packages: Microsoft.Agents.AI 1.24.0, the core MAF package with ChatClientAgent and AgentResponse; Microsoft.Extensions.AI.OpenAI 10.10.1, Microsoft's first-party IChatClient adapter over the OpenAI SDK's ChatClient; and OpenAI 2.14.0, the official SDK. No community adapter is needed: Microsoft publishes Microsoft.Extensions.AI.OpenAI directly, and it wraps the SDK's ChatClient with an AsIChatClient() extension method. The only environment variable the default needs is OPENAI_API_KEY. Get a key from OpenAI's API keys page and never hardcode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ChatClientFactory.Create reads MAF_LLM. Unset means OPENAI, which talks to gpt-4.1-mini at api.openai.com with OPENAI_API_KEY. AZURE uses the gpt-4.1-mini deployment and needs AZURE_OPENAI_ENDPOINT and AZURE_OPENAI_API_KEY. GEMINI uses gemini-2.5-flash with GEMINI_API_KEY. OLLAMA uses qwen2.5-coder:7b at localhost port 11434 and needs no key. Every option goes through the same OpenAI SDK against that provider's OpenAI-compatible endpoint, so no agent code changes. MAF_MODEL overrides the default model for whichever provider is selected; on Azure it names the deployment. The factory throws a clear InvalidOperationException if the provider name is unknown or a required setting is missing. The demos and expected output in this series use the OpenAI default. The same factory is reused, unchanged, in every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IChatClient, from Microsoft.Extensions.AI, is the model-agnostic abstraction for something that can turn a list of chat messages into a response. MAF never talks to Gemini, OpenAI or Azure directly; it only ever talks to an IChatClient. That is what lets the exact same agent code run against any provider. In this lesson ChatClientFactory builds an OpenAIClient, takes its ChatClient for the model, and adapts it with AsIChatClient(). This is the single seam where 'which model provider are we using'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AIAgent is the abstract base type for every agent in MAF. It exposes RunAsync and RunStreamingAsync. ChatClientAgent is the concrete AIAgent implementation used in this lesson. It wraps an IChatClient and adds agent-level concerns on top: a Name, and Instructions that are sent as persistent system guidance on every run. Our AgentFactory.CreateAgent helper takes the chat client, a name and an instructions string and returns a ChatClientAgent. That factory shape is reintroduced as-is in later lessons, so that assembling the Lesson 22 to 24 capstone is mostly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separate persona API in MAF. An agent's voice, role and constraints are entirely expressed through its instructions string. Program.Main builds a HelpfulAssistant told to answer plainly and factually in two or three sentences, and a PirateNavigator told to be a salty, superstitious 18th-century ship's navigator who speaks in pirate dialect, references the sea, the stars and the charts in every answer, never breaks character, and keeps to two or three sentences. Both agents share one IChatClient instance: the persona lives entirely in the agent, not the connection. Then it asks both the same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RunAsync wraps the plain string prompt in a user-role ChatMessage internally and sends it, plus the agent's instructions as system guidance, to OpenAI. It returns a Task of AgentResponse. AgentResponse.Text aggregates all text content from the run into a single string, which we print. Messages gives you the full structured conversation turn if you need more than plain text. Because no AgentSession is passed to RunAsync, each call is a stateless, one-off turn. Multi-turn memory is Lesson 4's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wording will vary by run since this calls a live model, but the shape will look like this. The prompt was: How do I stay on course when I'm not sure which direction to take? The key thing to notice: identical question, identical model, identical IChatClient, and a completely different voice, purely from the instructions string passed at agent construction. The output on the slide is rewrapped to fit; no words were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each piece goes. We ran every call without an AgentSession; Lesson 4 adds sessions so the agent remembers earlier turns. IChatClient is the seam MAF talks through, and Lesson 6 puts middleware on that seam, firing once per model call. AgentFactory is reused unchanged: Lesson 12 uses it to build each agent in a sequential pipeline. Instructions define a role, and Lesson 15 puts three role-specialized agents in one shared conversation. Lesson 20 builds on the ChatClientFactory and AgentFactory pattern to add tracing and evaluation. And Lesson 22's AgentInstructions holds the persona constants for the capstone's Researcher, Analyst and Writer. All of this ships in the Lessons 22 to 24 capstone, the research-and-report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1  ·  PHASE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Hello Agent and Personas</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Foundations: the first ChatClientAgent</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an empty folder</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Lesson01-HelloAgentAndPersonas/</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MAF only ever talks to an IChatClient</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Wrapping a model in a ChatClientAgent</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Instructions are the persona, nothing else</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Reading an AgentResponse</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Switching providers with MAF_LLM</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1 — Hello Agent and Personas</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Three packages and one key</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Microsoft.Agents.AI</a:t>
            </a:r>
            <a:endParaRPr lang="en-US" sz="14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1.24.0</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ChatClientAgent, AgentResponse</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Microsoft.Extensions.AI.OpenAI</a:t>
            </a:r>
            <a:endParaRPr lang="en-US" sz="13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10.10.1</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AsIChatClient() over the OpenAI SDK</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OpenAI</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2.14.0</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The official OpenAI .NET SDK</a:t>
            </a:r>
            <a:endParaRPr lang="en-US" sz="1200" dirty="0"/>
          </a:p>
        </p:txBody>
      </p:sp>
      <p:sp>
        <p:nvSpPr>
          <p:cNvPr id="19" name="Shape 14"/>
          <p:cNvSpPr/>
          <p:nvPr/>
        </p:nvSpPr>
        <p:spPr>
          <a:xfrm>
            <a:off x="4709160" y="2994660"/>
            <a:ext cx="3977640" cy="1394460"/>
          </a:xfrm>
          <a:prstGeom prst="roundRect">
            <a:avLst>
              <a:gd name="adj" fmla="val 5246"/>
            </a:avLst>
          </a:prstGeom>
          <a:solidFill>
            <a:srgbClr val="512BD4"/>
          </a:solidFill>
          <a:ln w="12700">
            <a:solidFill>
              <a:srgbClr val="512BD4"/>
            </a:solidFill>
            <a:prstDash val="solid"/>
          </a:ln>
        </p:spPr>
      </p:sp>
      <p:sp>
        <p:nvSpPr>
          <p:cNvPr id="20" name="Shape 15"/>
          <p:cNvSpPr/>
          <p:nvPr/>
        </p:nvSpPr>
        <p:spPr>
          <a:xfrm>
            <a:off x="4892040" y="3177540"/>
            <a:ext cx="384048" cy="384048"/>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OPENAI_API_KEY</a:t>
            </a:r>
            <a:endParaRPr lang="en-US" sz="13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Read from the environment.</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Never hardcoded.</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 — Hello Agent and Personas</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factory, four providers</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ChatClientFactory</a:t>
            </a:r>
            <a:endParaRPr lang="en-US" sz="155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Reads MAF_LLM and returns an IChatClient. The only type that reads provider settings.</a:t>
            </a:r>
            <a:endParaRPr lang="en-US" sz="130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32588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OPENAI</a:t>
            </a:r>
            <a:endParaRPr lang="en-US" sz="15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Default when unset. gpt-4.1-mini</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32588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AZURE</a:t>
            </a:r>
            <a:endParaRPr lang="en-US" sz="15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Endpoint + key. gpt-4.1-mini deployment</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32588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GEMINI</a:t>
            </a:r>
            <a:endParaRPr lang="en-US" sz="15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GEMINI_API_KEY. gemini-2.5-flash</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32588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OLLAMA</a:t>
            </a:r>
            <a:endParaRPr lang="en-US" sz="150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No key. qwen2.5-coder:7b on localhost</a:t>
            </a:r>
            <a:endParaRPr lang="en-US" sz="1200" dirty="0"/>
          </a:p>
        </p:txBody>
      </p:sp>
      <p:sp>
        <p:nvSpPr>
          <p:cNvPr id="33" name="Text 26"/>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Every provider goes through the same OpenAI SDK. MAF_MODEL overrides the model.</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 — Hello Agent and Personas</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IChatClient: the model behind an abstraction</a:t>
            </a:r>
            <a:endParaRPr lang="en-US" sz="2800" dirty="0"/>
          </a:p>
        </p:txBody>
      </p:sp>
      <p:sp>
        <p:nvSpPr>
          <p:cNvPr id="4" name="Shape 2"/>
          <p:cNvSpPr/>
          <p:nvPr/>
        </p:nvSpPr>
        <p:spPr>
          <a:xfrm>
            <a:off x="457200" y="1417320"/>
            <a:ext cx="2511552" cy="1801368"/>
          </a:xfrm>
          <a:prstGeom prst="roundRect">
            <a:avLst>
              <a:gd name="adj" fmla="val 406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OpenAI SDK</a:t>
            </a:r>
            <a:endParaRPr lang="en-US" sz="1500" dirty="0"/>
          </a:p>
        </p:txBody>
      </p:sp>
      <p:sp>
        <p:nvSpPr>
          <p:cNvPr id="8" name="Text 5"/>
          <p:cNvSpPr txBox="1"/>
          <p:nvPr/>
        </p:nvSpPr>
        <p:spPr>
          <a:xfrm>
            <a:off x="640080" y="2606040"/>
            <a:ext cx="219151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GetChatClient for gpt-4.1-mini</a:t>
            </a:r>
            <a:endParaRPr lang="en-US" sz="1200" dirty="0"/>
          </a:p>
        </p:txBody>
      </p:sp>
      <p:sp>
        <p:nvSpPr>
          <p:cNvPr id="9" name="Shape 6"/>
          <p:cNvSpPr/>
          <p:nvPr/>
        </p:nvSpPr>
        <p:spPr>
          <a:xfrm>
            <a:off x="3032760" y="2208276"/>
            <a:ext cx="219456" cy="219456"/>
          </a:xfrm>
          <a:prstGeom prst="rightArrow">
            <a:avLst/>
          </a:prstGeom>
          <a:solidFill>
            <a:srgbClr val="F5A623"/>
          </a:solidFill>
          <a:ln w="12700">
            <a:solidFill>
              <a:srgbClr val="F5A623"/>
            </a:solidFill>
            <a:prstDash val="solid"/>
          </a:ln>
        </p:spPr>
      </p:sp>
      <p:sp>
        <p:nvSpPr>
          <p:cNvPr id="10" name="Shape 7"/>
          <p:cNvSpPr/>
          <p:nvPr/>
        </p:nvSpPr>
        <p:spPr>
          <a:xfrm>
            <a:off x="3316224" y="1417320"/>
            <a:ext cx="2511552" cy="1801368"/>
          </a:xfrm>
          <a:prstGeom prst="roundRect">
            <a:avLst>
              <a:gd name="adj" fmla="val 4061"/>
            </a:avLst>
          </a:prstGeom>
          <a:solidFill>
            <a:srgbClr val="EFEBFC"/>
          </a:solidFill>
          <a:ln w="12700">
            <a:solidFill>
              <a:srgbClr val="EFEBFC"/>
            </a:solidFill>
            <a:prstDash val="solid"/>
          </a:ln>
        </p:spPr>
      </p:sp>
      <p:sp>
        <p:nvSpPr>
          <p:cNvPr id="11" name="Shape 8"/>
          <p:cNvSpPr/>
          <p:nvPr/>
        </p:nvSpPr>
        <p:spPr>
          <a:xfrm>
            <a:off x="349910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17976" y="1737360"/>
            <a:ext cx="219456" cy="219456"/>
          </a:xfrm>
          <a:prstGeom prst="rect">
            <a:avLst/>
          </a:prstGeom>
        </p:spPr>
      </p:pic>
      <p:sp>
        <p:nvSpPr>
          <p:cNvPr id="13" name="Text 9"/>
          <p:cNvSpPr txBox="1"/>
          <p:nvPr/>
        </p:nvSpPr>
        <p:spPr>
          <a:xfrm>
            <a:off x="3499104" y="2194560"/>
            <a:ext cx="2191512" cy="4114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AsIChatClient()</a:t>
            </a:r>
            <a:endParaRPr lang="en-US" sz="1400" dirty="0"/>
          </a:p>
        </p:txBody>
      </p:sp>
      <p:sp>
        <p:nvSpPr>
          <p:cNvPr id="14" name="Text 10"/>
          <p:cNvSpPr txBox="1"/>
          <p:nvPr/>
        </p:nvSpPr>
        <p:spPr>
          <a:xfrm>
            <a:off x="3499104" y="2606040"/>
            <a:ext cx="219151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Adapts it to the abstraction</a:t>
            </a:r>
            <a:endParaRPr lang="en-US" sz="1200" dirty="0"/>
          </a:p>
        </p:txBody>
      </p:sp>
      <p:sp>
        <p:nvSpPr>
          <p:cNvPr id="15" name="Shape 11"/>
          <p:cNvSpPr/>
          <p:nvPr/>
        </p:nvSpPr>
        <p:spPr>
          <a:xfrm>
            <a:off x="5891784" y="2208276"/>
            <a:ext cx="219456" cy="219456"/>
          </a:xfrm>
          <a:prstGeom prst="rightArrow">
            <a:avLst/>
          </a:prstGeom>
          <a:solidFill>
            <a:srgbClr val="F5A623"/>
          </a:solidFill>
          <a:ln w="12700">
            <a:solidFill>
              <a:srgbClr val="F5A623"/>
            </a:solidFill>
            <a:prstDash val="solid"/>
          </a:ln>
        </p:spPr>
      </p:sp>
      <p:sp>
        <p:nvSpPr>
          <p:cNvPr id="16" name="Shape 12"/>
          <p:cNvSpPr/>
          <p:nvPr/>
        </p:nvSpPr>
        <p:spPr>
          <a:xfrm>
            <a:off x="6175248" y="1417320"/>
            <a:ext cx="2511552" cy="1801368"/>
          </a:xfrm>
          <a:prstGeom prst="roundRect">
            <a:avLst>
              <a:gd name="adj" fmla="val 4061"/>
            </a:avLst>
          </a:prstGeom>
          <a:solidFill>
            <a:srgbClr val="512BD4"/>
          </a:solidFill>
          <a:ln w="12700">
            <a:solidFill>
              <a:srgbClr val="512BD4"/>
            </a:solidFill>
            <a:prstDash val="solid"/>
          </a:ln>
        </p:spPr>
      </p:sp>
      <p:sp>
        <p:nvSpPr>
          <p:cNvPr id="17" name="Shape 13"/>
          <p:cNvSpPr/>
          <p:nvPr/>
        </p:nvSpPr>
        <p:spPr>
          <a:xfrm>
            <a:off x="6358128"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6477000" y="1737360"/>
            <a:ext cx="219456" cy="219456"/>
          </a:xfrm>
          <a:prstGeom prst="rect">
            <a:avLst/>
          </a:prstGeom>
        </p:spPr>
      </p:pic>
      <p:sp>
        <p:nvSpPr>
          <p:cNvPr id="19" name="Text 14"/>
          <p:cNvSpPr txBox="1"/>
          <p:nvPr/>
        </p:nvSpPr>
        <p:spPr>
          <a:xfrm>
            <a:off x="6358128" y="2194560"/>
            <a:ext cx="2191512"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IChatClient</a:t>
            </a:r>
            <a:endParaRPr lang="en-US" sz="1500" dirty="0"/>
          </a:p>
        </p:txBody>
      </p:sp>
      <p:sp>
        <p:nvSpPr>
          <p:cNvPr id="20" name="Text 15"/>
          <p:cNvSpPr txBox="1"/>
          <p:nvPr/>
        </p:nvSpPr>
        <p:spPr>
          <a:xfrm>
            <a:off x="6358128" y="2606040"/>
            <a:ext cx="2191512" cy="52120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Messages in, response out. Knows nothing about agents.</a:t>
            </a:r>
            <a:endParaRPr lang="en-US" sz="1200" dirty="0"/>
          </a:p>
        </p:txBody>
      </p:sp>
      <p:sp>
        <p:nvSpPr>
          <p:cNvPr id="21" name="Text 16"/>
          <p:cNvSpPr txBox="1"/>
          <p:nvPr/>
        </p:nvSpPr>
        <p:spPr>
          <a:xfrm>
            <a:off x="457200" y="3538728"/>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MAF never talks to a provider directly, only to an IChatClient.</a:t>
            </a:r>
            <a:endParaRPr lang="en-US" sz="1400" dirty="0"/>
          </a:p>
        </p:txBody>
      </p:sp>
      <p:sp>
        <p:nvSpPr>
          <p:cNvPr id="22"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 — Hello Agent and Personas</a:t>
            </a:r>
            <a:endParaRPr lang="en-US" sz="900" dirty="0"/>
          </a:p>
        </p:txBody>
      </p:sp>
      <p:sp>
        <p:nvSpPr>
          <p:cNvPr id="23"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AIAgent and ChatClientAgent</a:t>
            </a:r>
            <a:endParaRPr lang="en-US" sz="2800" dirty="0"/>
          </a:p>
        </p:txBody>
      </p:sp>
      <p:sp>
        <p:nvSpPr>
          <p:cNvPr id="4" name="Shape 2"/>
          <p:cNvSpPr/>
          <p:nvPr/>
        </p:nvSpPr>
        <p:spPr>
          <a:xfrm>
            <a:off x="457200" y="1371600"/>
            <a:ext cx="3931920" cy="1828800"/>
          </a:xfrm>
          <a:prstGeom prst="roundRect">
            <a:avLst>
              <a:gd name="adj" fmla="val 40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AIAgent</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abstract base for every agent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Exposes RunAsync and RunStreamingAsync</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What workflows and hosts accept</a:t>
            </a:r>
            <a:endParaRPr lang="en-US" sz="1300" dirty="0"/>
          </a:p>
        </p:txBody>
      </p:sp>
      <p:sp>
        <p:nvSpPr>
          <p:cNvPr id="9" name="Shape 6"/>
          <p:cNvSpPr/>
          <p:nvPr/>
        </p:nvSpPr>
        <p:spPr>
          <a:xfrm>
            <a:off x="4754880" y="1371600"/>
            <a:ext cx="3931920" cy="1828800"/>
          </a:xfrm>
          <a:prstGeom prst="roundRect">
            <a:avLst>
              <a:gd name="adj" fmla="val 400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ChatClientAgent</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concrete AIAgent for this lesson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Wraps an IChatClient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Adds a Name and Instructions</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AgentFactory.CreateAgent builds one from a client, a name and instructions.</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 — Hello Agent and Personas</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Instructions are the persona</a:t>
            </a:r>
            <a:endParaRPr lang="en-US" sz="2800" dirty="0"/>
          </a:p>
        </p:txBody>
      </p:sp>
      <p:sp>
        <p:nvSpPr>
          <p:cNvPr id="4" name="Shape 2"/>
          <p:cNvSpPr/>
          <p:nvPr/>
        </p:nvSpPr>
        <p:spPr>
          <a:xfrm>
            <a:off x="457200" y="1417320"/>
            <a:ext cx="1796796" cy="2029968"/>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One IChatClient</a:t>
            </a:r>
            <a:endParaRPr lang="en-US" sz="1500" dirty="0"/>
          </a:p>
        </p:txBody>
      </p:sp>
      <p:sp>
        <p:nvSpPr>
          <p:cNvPr id="8" name="Text 5"/>
          <p:cNvSpPr txBox="1"/>
          <p:nvPr/>
        </p:nvSpPr>
        <p:spPr>
          <a:xfrm>
            <a:off x="640080" y="2834640"/>
            <a:ext cx="1476756"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Same connection, same model</a:t>
            </a:r>
            <a:endParaRPr lang="en-US" sz="1200" dirty="0"/>
          </a:p>
        </p:txBody>
      </p:sp>
      <p:sp>
        <p:nvSpPr>
          <p:cNvPr id="9" name="Shape 6"/>
          <p:cNvSpPr/>
          <p:nvPr/>
        </p:nvSpPr>
        <p:spPr>
          <a:xfrm>
            <a:off x="2318004" y="2322576"/>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029968"/>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Two instructions</a:t>
            </a:r>
            <a:endParaRPr lang="en-US" sz="1500" dirty="0"/>
          </a:p>
        </p:txBody>
      </p:sp>
      <p:sp>
        <p:nvSpPr>
          <p:cNvPr id="14" name="Text 10"/>
          <p:cNvSpPr txBox="1"/>
          <p:nvPr/>
        </p:nvSpPr>
        <p:spPr>
          <a:xfrm>
            <a:off x="2784348" y="2834640"/>
            <a:ext cx="1476756"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Plain assistant vs. pirate navigator</a:t>
            </a:r>
            <a:endParaRPr lang="en-US" sz="1200" dirty="0"/>
          </a:p>
        </p:txBody>
      </p:sp>
      <p:sp>
        <p:nvSpPr>
          <p:cNvPr id="15" name="Shape 11"/>
          <p:cNvSpPr/>
          <p:nvPr/>
        </p:nvSpPr>
        <p:spPr>
          <a:xfrm>
            <a:off x="4462272" y="2322576"/>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029968"/>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Two agents</a:t>
            </a:r>
            <a:endParaRPr lang="en-US" sz="1500" dirty="0"/>
          </a:p>
        </p:txBody>
      </p:sp>
      <p:sp>
        <p:nvSpPr>
          <p:cNvPr id="20" name="Text 15"/>
          <p:cNvSpPr txBox="1"/>
          <p:nvPr/>
        </p:nvSpPr>
        <p:spPr>
          <a:xfrm>
            <a:off x="4928616" y="2834640"/>
            <a:ext cx="1476756"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HelpfulAssistant and PirateNavigator</a:t>
            </a:r>
            <a:endParaRPr lang="en-US" sz="1200" dirty="0"/>
          </a:p>
        </p:txBody>
      </p:sp>
      <p:sp>
        <p:nvSpPr>
          <p:cNvPr id="21" name="Shape 16"/>
          <p:cNvSpPr/>
          <p:nvPr/>
        </p:nvSpPr>
        <p:spPr>
          <a:xfrm>
            <a:off x="6606540" y="2322576"/>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029968"/>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Two voices</a:t>
            </a:r>
            <a:endParaRPr lang="en-US" sz="1500" dirty="0"/>
          </a:p>
        </p:txBody>
      </p:sp>
      <p:sp>
        <p:nvSpPr>
          <p:cNvPr id="26" name="Text 20"/>
          <p:cNvSpPr txBox="1"/>
          <p:nvPr/>
        </p:nvSpPr>
        <p:spPr>
          <a:xfrm>
            <a:off x="7072884" y="2834640"/>
            <a:ext cx="1476756" cy="52120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Identical prompt, different answers</a:t>
            </a:r>
            <a:endParaRPr lang="en-US" sz="1200" dirty="0"/>
          </a:p>
        </p:txBody>
      </p:sp>
      <p:sp>
        <p:nvSpPr>
          <p:cNvPr id="27" name="Text 21"/>
          <p:cNvSpPr txBox="1"/>
          <p:nvPr/>
        </p:nvSpPr>
        <p:spPr>
          <a:xfrm>
            <a:off x="457200" y="3767328"/>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There is no persona API. Voice, role and limits all live in the instructions string.</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 — Hello Agent and Personas</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RunAsync and AgentResponse</a:t>
            </a:r>
            <a:endParaRPr lang="en-US" sz="2800" dirty="0"/>
          </a:p>
        </p:txBody>
      </p:sp>
      <p:sp>
        <p:nvSpPr>
          <p:cNvPr id="4" name="Shape 2"/>
          <p:cNvSpPr/>
          <p:nvPr/>
        </p:nvSpPr>
        <p:spPr>
          <a:xfrm>
            <a:off x="457200" y="1371600"/>
            <a:ext cx="2560320" cy="2103120"/>
          </a:xfrm>
          <a:prstGeom prst="roundRect">
            <a:avLst>
              <a:gd name="adj" fmla="val 3478"/>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RunAsync(prompt)</a:t>
            </a:r>
            <a:endParaRPr lang="en-US" sz="1400" dirty="0"/>
          </a:p>
        </p:txBody>
      </p:sp>
      <p:sp>
        <p:nvSpPr>
          <p:cNvPr id="8" name="Text 5"/>
          <p:cNvSpPr txBox="1"/>
          <p:nvPr/>
        </p:nvSpPr>
        <p:spPr>
          <a:xfrm>
            <a:off x="640080" y="2057400"/>
            <a:ext cx="219456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Wraps the string in a user ChatMessage and sends it with the instructions</a:t>
            </a:r>
            <a:endParaRPr lang="en-US" sz="1200" dirty="0"/>
          </a:p>
        </p:txBody>
      </p:sp>
      <p:sp>
        <p:nvSpPr>
          <p:cNvPr id="9" name="Shape 6"/>
          <p:cNvSpPr/>
          <p:nvPr/>
        </p:nvSpPr>
        <p:spPr>
          <a:xfrm>
            <a:off x="3291840" y="1371600"/>
            <a:ext cx="2560320" cy="2103120"/>
          </a:xfrm>
          <a:prstGeom prst="roundRect">
            <a:avLst>
              <a:gd name="adj" fmla="val 3478"/>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AgentResponse.Text</a:t>
            </a:r>
            <a:endParaRPr lang="en-US" sz="1250" dirty="0"/>
          </a:p>
        </p:txBody>
      </p:sp>
      <p:sp>
        <p:nvSpPr>
          <p:cNvPr id="13" name="Text 9"/>
          <p:cNvSpPr txBox="1"/>
          <p:nvPr/>
        </p:nvSpPr>
        <p:spPr>
          <a:xfrm>
            <a:off x="3474720" y="2057400"/>
            <a:ext cx="219456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All text from the run, aggregated into one string</a:t>
            </a:r>
            <a:endParaRPr lang="en-US" sz="1200" dirty="0"/>
          </a:p>
        </p:txBody>
      </p:sp>
      <p:sp>
        <p:nvSpPr>
          <p:cNvPr id="14" name="Shape 10"/>
          <p:cNvSpPr/>
          <p:nvPr/>
        </p:nvSpPr>
        <p:spPr>
          <a:xfrm>
            <a:off x="6126480" y="1371600"/>
            <a:ext cx="2560320" cy="2103120"/>
          </a:xfrm>
          <a:prstGeom prst="roundRect">
            <a:avLst>
              <a:gd name="adj" fmla="val 3478"/>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ourier New" pitchFamily="34" charset="0"/>
                <a:ea typeface="Courier New" pitchFamily="34" charset="-122"/>
                <a:cs typeface="Courier New" pitchFamily="34" charset="-120"/>
              </a:rPr>
              <a:t>.Messages</a:t>
            </a:r>
            <a:endParaRPr lang="en-US" sz="1500" dirty="0"/>
          </a:p>
        </p:txBody>
      </p:sp>
      <p:sp>
        <p:nvSpPr>
          <p:cNvPr id="18" name="Text 13"/>
          <p:cNvSpPr txBox="1"/>
          <p:nvPr/>
        </p:nvSpPr>
        <p:spPr>
          <a:xfrm>
            <a:off x="6309360" y="2057400"/>
            <a:ext cx="219456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full structured turn when you need more than text</a:t>
            </a:r>
            <a:endParaRPr lang="en-US" sz="1200" dirty="0"/>
          </a:p>
        </p:txBody>
      </p:sp>
      <p:sp>
        <p:nvSpPr>
          <p:cNvPr id="19" name="Text 14"/>
          <p:cNvSpPr txBox="1"/>
          <p:nvPr/>
        </p:nvSpPr>
        <p:spPr>
          <a:xfrm>
            <a:off x="457200" y="37033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 AgentSession is passed, so every call is a stateless, one-off turn.</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 — Hello Agent and Personas</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Same question, two voices</a:t>
            </a:r>
            <a:endParaRPr lang="en-US" sz="2800" dirty="0"/>
          </a:p>
        </p:txBody>
      </p:sp>
      <p:sp>
        <p:nvSpPr>
          <p:cNvPr id="4" name="Shape 2"/>
          <p:cNvSpPr/>
          <p:nvPr/>
        </p:nvSpPr>
        <p:spPr>
          <a:xfrm>
            <a:off x="457200" y="1325880"/>
            <a:ext cx="5257800" cy="2087880"/>
          </a:xfrm>
          <a:prstGeom prst="roundRect">
            <a:avLst>
              <a:gd name="adj" fmla="val 3504"/>
            </a:avLst>
          </a:prstGeom>
          <a:solidFill>
            <a:srgbClr val="0F1420"/>
          </a:solidFill>
          <a:ln w="12700">
            <a:solidFill>
              <a:srgbClr val="0F1420"/>
            </a:solidFill>
            <a:prstDash val="solid"/>
          </a:ln>
        </p:spPr>
      </p:sp>
      <p:sp>
        <p:nvSpPr>
          <p:cNvPr id="5" name="Text 3"/>
          <p:cNvSpPr txBox="1"/>
          <p:nvPr/>
        </p:nvSpPr>
        <p:spPr>
          <a:xfrm>
            <a:off x="640080" y="1463040"/>
            <a:ext cx="4892040" cy="1813560"/>
          </a:xfrm>
          <a:prstGeom prst="rect">
            <a:avLst/>
          </a:prstGeom>
          <a:noFill/>
          <a:ln/>
        </p:spPr>
        <p:txBody>
          <a:bodyPr wrap="square" lIns="0" tIns="0" rIns="0" bIns="0" rtlCol="0" anchor="t"/>
          <a:lstStyle/>
          <a:p>
            <a:pPr indent="0" marL="0">
              <a:buNone/>
            </a:pPr>
            <a:r>
              <a:rPr lang="en-US" sz="1000" b="1" dirty="0">
                <a:solidFill>
                  <a:srgbClr val="F5A623"/>
                </a:solidFill>
                <a:latin typeface="Courier New" pitchFamily="34" charset="0"/>
                <a:ea typeface="Courier New" pitchFamily="34" charset="-122"/>
                <a:cs typeface="Courier New" pitchFamily="34" charset="-120"/>
              </a:rPr>
              <a:t>=== HelpfulAssistant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Focus on a fixed landmark or use a compass/GPS to</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establish a reliable bearing. Cross-check your position</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periodically against a map so small errors don't</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compound into a wrong direction.</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PirateNavigator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Ye fix yer eye on the North Star, matey, and cross-check</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her against yer charts every glass of the hour. When the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fog rolls in and the stars go dark, trust yer compass and</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the swell of the sea beneath the hull — she never lies.</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Plain persona</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Factual, two or three sentences</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Pirate persona</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Same model, in character</a:t>
            </a:r>
            <a:endParaRPr lang="en-US" sz="12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 — Hello Agent and Personas</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355092"/>
          </a:xfrm>
          <a:prstGeom prst="roundRect">
            <a:avLst>
              <a:gd name="adj" fmla="val 20601"/>
            </a:avLst>
          </a:prstGeom>
          <a:solidFill>
            <a:srgbClr val="1F2943"/>
          </a:solidFill>
          <a:ln w="12700">
            <a:solidFill>
              <a:srgbClr val="1F2943"/>
            </a:solidFill>
            <a:prstDash val="solid"/>
          </a:ln>
        </p:spPr>
      </p:sp>
      <p:sp>
        <p:nvSpPr>
          <p:cNvPr id="5" name="Text 3"/>
          <p:cNvSpPr txBox="1"/>
          <p:nvPr/>
        </p:nvSpPr>
        <p:spPr>
          <a:xfrm>
            <a:off x="621792" y="123444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AgentSession was not passed</a:t>
            </a:r>
            <a:endParaRPr lang="en-US" sz="1300" dirty="0"/>
          </a:p>
        </p:txBody>
      </p:sp>
      <p:sp>
        <p:nvSpPr>
          <p:cNvPr id="6" name="Shape 4"/>
          <p:cNvSpPr/>
          <p:nvPr/>
        </p:nvSpPr>
        <p:spPr>
          <a:xfrm>
            <a:off x="3493008" y="1320546"/>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4  </a:t>
            </a:r>
            <a:pPr indent="0" marL="0">
              <a:buNone/>
            </a:pPr>
            <a:r>
              <a:rPr lang="en-US" sz="1250" dirty="0">
                <a:solidFill>
                  <a:srgbClr val="FFFFFF"/>
                </a:solidFill>
                <a:latin typeface="Calibri" pitchFamily="34" charset="0"/>
                <a:ea typeface="Calibri" pitchFamily="34" charset="-122"/>
                <a:cs typeface="Calibri" pitchFamily="34" charset="-120"/>
              </a:rPr>
              <a:t>AgentSession gives the agent multi-turn memory</a:t>
            </a:r>
            <a:endParaRPr lang="en-US" sz="1250" dirty="0"/>
          </a:p>
        </p:txBody>
      </p:sp>
      <p:sp>
        <p:nvSpPr>
          <p:cNvPr id="8" name="Shape 6"/>
          <p:cNvSpPr/>
          <p:nvPr/>
        </p:nvSpPr>
        <p:spPr>
          <a:xfrm>
            <a:off x="457200" y="1699260"/>
            <a:ext cx="2926080" cy="355092"/>
          </a:xfrm>
          <a:prstGeom prst="roundRect">
            <a:avLst>
              <a:gd name="adj" fmla="val 20601"/>
            </a:avLst>
          </a:prstGeom>
          <a:solidFill>
            <a:srgbClr val="1F2943"/>
          </a:solidFill>
          <a:ln w="12700">
            <a:solidFill>
              <a:srgbClr val="1F2943"/>
            </a:solidFill>
            <a:prstDash val="solid"/>
          </a:ln>
        </p:spPr>
      </p:sp>
      <p:sp>
        <p:nvSpPr>
          <p:cNvPr id="9" name="Text 7"/>
          <p:cNvSpPr txBox="1"/>
          <p:nvPr/>
        </p:nvSpPr>
        <p:spPr>
          <a:xfrm>
            <a:off x="621792" y="169926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IChatClient is a pipeline seam</a:t>
            </a:r>
            <a:endParaRPr lang="en-US" sz="1300" dirty="0"/>
          </a:p>
        </p:txBody>
      </p:sp>
      <p:sp>
        <p:nvSpPr>
          <p:cNvPr id="10" name="Shape 8"/>
          <p:cNvSpPr/>
          <p:nvPr/>
        </p:nvSpPr>
        <p:spPr>
          <a:xfrm>
            <a:off x="3493008" y="1785366"/>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69926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6  </a:t>
            </a:r>
            <a:pPr indent="0" marL="0">
              <a:buNone/>
            </a:pPr>
            <a:r>
              <a:rPr lang="en-US" sz="1250" dirty="0">
                <a:solidFill>
                  <a:srgbClr val="FFFFFF"/>
                </a:solidFill>
                <a:latin typeface="Calibri" pitchFamily="34" charset="0"/>
                <a:ea typeface="Calibri" pitchFamily="34" charset="-122"/>
                <a:cs typeface="Calibri" pitchFamily="34" charset="-120"/>
              </a:rPr>
              <a:t>IChatClient middleware wraps every model call</a:t>
            </a:r>
            <a:endParaRPr lang="en-US" sz="1250" dirty="0"/>
          </a:p>
        </p:txBody>
      </p:sp>
      <p:sp>
        <p:nvSpPr>
          <p:cNvPr id="12" name="Shape 10"/>
          <p:cNvSpPr/>
          <p:nvPr/>
        </p:nvSpPr>
        <p:spPr>
          <a:xfrm>
            <a:off x="457200" y="2164080"/>
            <a:ext cx="2926080" cy="355092"/>
          </a:xfrm>
          <a:prstGeom prst="roundRect">
            <a:avLst>
              <a:gd name="adj" fmla="val 20601"/>
            </a:avLst>
          </a:prstGeom>
          <a:solidFill>
            <a:srgbClr val="1F2943"/>
          </a:solidFill>
          <a:ln w="12700">
            <a:solidFill>
              <a:srgbClr val="1F2943"/>
            </a:solidFill>
            <a:prstDash val="solid"/>
          </a:ln>
        </p:spPr>
      </p:sp>
      <p:sp>
        <p:nvSpPr>
          <p:cNvPr id="13" name="Text 11"/>
          <p:cNvSpPr txBox="1"/>
          <p:nvPr/>
        </p:nvSpPr>
        <p:spPr>
          <a:xfrm>
            <a:off x="621792" y="216408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AgentFactory pattern</a:t>
            </a:r>
            <a:endParaRPr lang="en-US" sz="1300" dirty="0"/>
          </a:p>
        </p:txBody>
      </p:sp>
      <p:sp>
        <p:nvSpPr>
          <p:cNvPr id="14" name="Shape 12"/>
          <p:cNvSpPr/>
          <p:nvPr/>
        </p:nvSpPr>
        <p:spPr>
          <a:xfrm>
            <a:off x="3493008" y="225018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16408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12  </a:t>
            </a:r>
            <a:pPr indent="0" marL="0">
              <a:buNone/>
            </a:pPr>
            <a:r>
              <a:rPr lang="en-US" sz="1250" dirty="0">
                <a:solidFill>
                  <a:srgbClr val="FFFFFF"/>
                </a:solidFill>
                <a:latin typeface="Calibri" pitchFamily="34" charset="0"/>
                <a:ea typeface="Calibri" pitchFamily="34" charset="-122"/>
                <a:cs typeface="Calibri" pitchFamily="34" charset="-120"/>
              </a:rPr>
              <a:t>The same factory builds each agent in a sequential pipeline</a:t>
            </a:r>
            <a:endParaRPr lang="en-US" sz="1250" dirty="0"/>
          </a:p>
        </p:txBody>
      </p:sp>
      <p:sp>
        <p:nvSpPr>
          <p:cNvPr id="16" name="Shape 14"/>
          <p:cNvSpPr/>
          <p:nvPr/>
        </p:nvSpPr>
        <p:spPr>
          <a:xfrm>
            <a:off x="457200" y="2628900"/>
            <a:ext cx="2926080" cy="355092"/>
          </a:xfrm>
          <a:prstGeom prst="roundRect">
            <a:avLst>
              <a:gd name="adj" fmla="val 20601"/>
            </a:avLst>
          </a:prstGeom>
          <a:solidFill>
            <a:srgbClr val="1F2943"/>
          </a:solidFill>
          <a:ln w="12700">
            <a:solidFill>
              <a:srgbClr val="1F2943"/>
            </a:solidFill>
            <a:prstDash val="solid"/>
          </a:ln>
        </p:spPr>
      </p:sp>
      <p:sp>
        <p:nvSpPr>
          <p:cNvPr id="17" name="Text 15"/>
          <p:cNvSpPr txBox="1"/>
          <p:nvPr/>
        </p:nvSpPr>
        <p:spPr>
          <a:xfrm>
            <a:off x="621792" y="262890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Instructions define a role</a:t>
            </a:r>
            <a:endParaRPr lang="en-US" sz="1300" dirty="0"/>
          </a:p>
        </p:txBody>
      </p:sp>
      <p:sp>
        <p:nvSpPr>
          <p:cNvPr id="18" name="Shape 16"/>
          <p:cNvSpPr/>
          <p:nvPr/>
        </p:nvSpPr>
        <p:spPr>
          <a:xfrm>
            <a:off x="3493008" y="2715006"/>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62890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15  </a:t>
            </a:r>
            <a:pPr indent="0" marL="0">
              <a:buNone/>
            </a:pPr>
            <a:r>
              <a:rPr lang="en-US" sz="1250" dirty="0">
                <a:solidFill>
                  <a:srgbClr val="FFFFFF"/>
                </a:solidFill>
                <a:latin typeface="Calibri" pitchFamily="34" charset="0"/>
                <a:ea typeface="Calibri" pitchFamily="34" charset="-122"/>
                <a:cs typeface="Calibri" pitchFamily="34" charset="-120"/>
              </a:rPr>
              <a:t>Role-specialized agents share one conversation</a:t>
            </a:r>
            <a:endParaRPr lang="en-US" sz="1250" dirty="0"/>
          </a:p>
        </p:txBody>
      </p:sp>
      <p:sp>
        <p:nvSpPr>
          <p:cNvPr id="20" name="Shape 18"/>
          <p:cNvSpPr/>
          <p:nvPr/>
        </p:nvSpPr>
        <p:spPr>
          <a:xfrm>
            <a:off x="457200" y="3093720"/>
            <a:ext cx="2926080" cy="355092"/>
          </a:xfrm>
          <a:prstGeom prst="roundRect">
            <a:avLst>
              <a:gd name="adj" fmla="val 20601"/>
            </a:avLst>
          </a:prstGeom>
          <a:solidFill>
            <a:srgbClr val="1F2943"/>
          </a:solidFill>
          <a:ln w="12700">
            <a:solidFill>
              <a:srgbClr val="1F2943"/>
            </a:solidFill>
            <a:prstDash val="solid"/>
          </a:ln>
        </p:spPr>
      </p:sp>
      <p:sp>
        <p:nvSpPr>
          <p:cNvPr id="21" name="Text 19"/>
          <p:cNvSpPr txBox="1"/>
          <p:nvPr/>
        </p:nvSpPr>
        <p:spPr>
          <a:xfrm>
            <a:off x="621792" y="309372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ChatClientFactory + AgentFactory</a:t>
            </a:r>
            <a:endParaRPr lang="en-US" sz="1300" dirty="0"/>
          </a:p>
        </p:txBody>
      </p:sp>
      <p:sp>
        <p:nvSpPr>
          <p:cNvPr id="22" name="Shape 20"/>
          <p:cNvSpPr/>
          <p:nvPr/>
        </p:nvSpPr>
        <p:spPr>
          <a:xfrm>
            <a:off x="3493008" y="3179826"/>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09372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20  </a:t>
            </a:r>
            <a:pPr indent="0" marL="0">
              <a:buNone/>
            </a:pPr>
            <a:r>
              <a:rPr lang="en-US" sz="1250" dirty="0">
                <a:solidFill>
                  <a:srgbClr val="FFFFFF"/>
                </a:solidFill>
                <a:latin typeface="Calibri" pitchFamily="34" charset="0"/>
                <a:ea typeface="Calibri" pitchFamily="34" charset="-122"/>
                <a:cs typeface="Calibri" pitchFamily="34" charset="-120"/>
              </a:rPr>
              <a:t>Observability wraps the same factories with tracing</a:t>
            </a:r>
            <a:endParaRPr lang="en-US" sz="1250" dirty="0"/>
          </a:p>
        </p:txBody>
      </p:sp>
      <p:sp>
        <p:nvSpPr>
          <p:cNvPr id="24" name="Shape 22"/>
          <p:cNvSpPr/>
          <p:nvPr/>
        </p:nvSpPr>
        <p:spPr>
          <a:xfrm>
            <a:off x="457200" y="3558540"/>
            <a:ext cx="2926080" cy="355092"/>
          </a:xfrm>
          <a:prstGeom prst="roundRect">
            <a:avLst>
              <a:gd name="adj" fmla="val 20601"/>
            </a:avLst>
          </a:prstGeom>
          <a:solidFill>
            <a:srgbClr val="1F2943"/>
          </a:solidFill>
          <a:ln w="12700">
            <a:solidFill>
              <a:srgbClr val="1F2943"/>
            </a:solidFill>
            <a:prstDash val="solid"/>
          </a:ln>
        </p:spPr>
      </p:sp>
      <p:sp>
        <p:nvSpPr>
          <p:cNvPr id="25" name="Text 23"/>
          <p:cNvSpPr txBox="1"/>
          <p:nvPr/>
        </p:nvSpPr>
        <p:spPr>
          <a:xfrm>
            <a:off x="621792" y="355854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Personas per role</a:t>
            </a:r>
            <a:endParaRPr lang="en-US" sz="1300" dirty="0"/>
          </a:p>
        </p:txBody>
      </p:sp>
      <p:sp>
        <p:nvSpPr>
          <p:cNvPr id="26" name="Shape 24"/>
          <p:cNvSpPr/>
          <p:nvPr/>
        </p:nvSpPr>
        <p:spPr>
          <a:xfrm>
            <a:off x="3493008" y="3644646"/>
            <a:ext cx="329184" cy="182880"/>
          </a:xfrm>
          <a:prstGeom prst="rightArrow">
            <a:avLst/>
          </a:prstGeom>
          <a:solidFill>
            <a:srgbClr val="F5A623"/>
          </a:solidFill>
          <a:ln w="12700">
            <a:solidFill>
              <a:srgbClr val="F5A623"/>
            </a:solidFill>
            <a:prstDash val="solid"/>
          </a:ln>
        </p:spPr>
      </p:sp>
      <p:sp>
        <p:nvSpPr>
          <p:cNvPr id="27" name="Text 25"/>
          <p:cNvSpPr txBox="1"/>
          <p:nvPr/>
        </p:nvSpPr>
        <p:spPr>
          <a:xfrm>
            <a:off x="3977640" y="355854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22  </a:t>
            </a:r>
            <a:pPr indent="0" marL="0">
              <a:buNone/>
            </a:pPr>
            <a:r>
              <a:rPr lang="en-US" sz="1250" dirty="0">
                <a:solidFill>
                  <a:srgbClr val="FFFFFF"/>
                </a:solidFill>
                <a:latin typeface="Calibri" pitchFamily="34" charset="0"/>
                <a:ea typeface="Calibri" pitchFamily="34" charset="-122"/>
                <a:cs typeface="Calibri" pitchFamily="34" charset="-120"/>
              </a:rPr>
              <a:t>AgentInstructions holds Researcher, Analyst and Writer personas</a:t>
            </a:r>
            <a:endParaRPr lang="en-US" sz="1250" dirty="0"/>
          </a:p>
        </p:txBody>
      </p:sp>
      <p:sp>
        <p:nvSpPr>
          <p:cNvPr id="28" name="Text 26"/>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Lessons 22–24 Capstone — Research-and-Report Pipeline</a:t>
            </a:r>
            <a:endParaRPr lang="en-US" sz="1300" dirty="0"/>
          </a:p>
        </p:txBody>
      </p:sp>
      <p:sp>
        <p:nvSpPr>
          <p:cNvPr id="29"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1 — Hello Agent and Personas</a:t>
            </a:r>
            <a:endParaRPr lang="en-US" sz="900" dirty="0"/>
          </a:p>
        </p:txBody>
      </p:sp>
      <p:sp>
        <p:nvSpPr>
          <p:cNvPr id="30"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 — Hello Agent and Personas</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2026-10-07T20:11:49Z</dcterms:created>
  <dcterms:modified xsi:type="dcterms:W3CDTF">2026-10-07T20:11:49Z</dcterms:modified>
</cp:coreProperties>
</file>