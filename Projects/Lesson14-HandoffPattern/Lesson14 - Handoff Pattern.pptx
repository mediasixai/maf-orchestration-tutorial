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TriageAgent decides, per request, whether to hand off to BillingAgent or TechSupportAgent. There is no fixed graph deciding which specialist runs. Unlike Lesson 12's sequential pipeline or Lesson 13's concurrent fan-out, where the shape of execution is fixed in advance, this lesson's routing decision is made by the triage agent's own judgment about what the user actually asked, at run time. The lesson assumes Lessons 12 and 13: AgentWorkflowBuilder, InProcessExecution.RunAsync, and the List&lt;ChatMessage&gt; transcript output shape. It uses a third sibling builder from the same class, following the pattern that has now held for three lessons: check AgentWorkflowBuilder for a purpose-built method before reaching for manual WorkflowBuilder graph construction. Setup is unchanged: Microsoft.Agents.AI and Microsoft.Agents.AI.Workflows 1.24.0, Microsoft.Extensions.AI.OpenAI 10.10.1 and OpenAI 2.14.0, with OPENAI_API_KEY set. CreateHandoffBuilderWith is a sibling of BuildSequential and BuildConcurrent in the same package. MAF_LLM and MAF_MODEL are both required, with no built-in defaults: set MAF_LLM to OPENAI and MAF_MODEL to gpt-4.1-mini, the values the demos use, or pick AZURE, GEMINI, OLLAMA or LMSTUDIO with a model that provider serves; on Gemini use gemini-2.5-flash, because the factory refuses Gemini 3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handoff is a tool call, not a graph edge the framework picks for you. AgentWorkflowBuilder.CreateHandoffBuilderWith(triageAgent), then WithHandoff from triage to billing with a reason, then WithHandoff from triage to tech support with a reason, then Build, gives TriageAgent two possible routes. Under the hood each route becomes something TriageAgent's underlying model can call like any other tool. You can see it in the lesson's transcript: the triage agent's turn contains a FunctionCallContent instead of ordinary text. The model itself decides which one, if any, to invoke, based on the reason strings and the actual conversation. The program detects that turn by checking message.Contents for a FunctionCallContent and prints it as '(handoff decision)'. That is the inspectable evidence that dynamic delegation is a tool call the model chooses to make, not a hidden framework decision. Note that none of the three agents' own instructions describe the handoff mechanism; the routing knowledge lives entirely in how they are wired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string is the whole routing mechanism. 'The user has a billing, payment, or subscription question' and 'The user has a technical problem or bug with the product' aren't documentation. They are what the model reads to decide which handoff applies. The lesson's two test prompts route correctly specifically because each reason string clearly matches one request and not the other. Vague or overlapping reasons would make the routing decision less reliable. WithHandoff is called once per possible destination, so two calls mean TriageAgent has exactly two options on any given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receiving specialist picks up the same transcript, not a fresh conversation. BillingAgent and TechSupportAgent never see TriageAgent's system instructions, but they do see the original user message and the handoff having happened. The final transcript is one continuous List&lt;ChatMessage&gt;, the same shape Lesson 12 and Lesson 13 both produced, just with a different agent contributing partway through instead of at a fixed position. In the code, a fresh Workflow is built for each scenario, because RunHandoffScenarioAsync calls Build inside itself, while the same three agent objects are reused. That follows the rule from Lessons 12 and 13 that a Workflow is single-use per runner, while the underlying AIAgent instances carry no run-scoped state and are safe to reuse.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fundamentally different from Lesson 12's sequential chain. BuildSequential runs every agent, in the order you gave it, every time. This lesson's TriageAgent might route to BillingAgent, or to TechSupportAgent, or, if neither reason matches, potentially neither. Which path executes is a property of the conversation, decided fresh on each run, not a property of the workflow definition. The two scenarios prove it: the billing prompt and the tech-support prompt are handled by the same TriageAgent, wired to the same two destinations, and each reaches a different specialist. The only thing that changed between runs was what the user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HandoffWorkflowBuilderCore has more capability than this lesson exercises. EnableReturnToPrevious lets a specialist hand the conversation back to whichever agent handed off to it, useful when a specialist realizes a request is outside its scope after all. WithAutonomousMode and WithTerminationCondition support open-ended multi-hop handoff chains with turn limits, instead of a single decision point. WithToolCallFilteringBehavior controls how much of the handoff machinery's own tool-call noise a receiving agent sees. This lesson sticks to the simplest shape, one triage point and two possible destinations, since that is the core of what the Handoff Pattern means in the syllabus.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scenarios run through independently built handoff workflows. In each, TriageAgent produces a '(handoff decision)' turn with no text, and the very next assistant message comes from the specialist that matches the question. The specialists' exact wording will vary between runs, since both are live model calls, but the shape will not. On the slide, long lines are rewrapped to fit, and in the tech-support scenario the '[user]' echo of the question is replaced with '...' because it repeats the 'User:' line above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lesson's ideas go. In a handoff, only one specialist ever answers; Lesson 15's group chat is the pattern where several agents genuinely converse, each contributing in turn. Here a triage agent's judgment picks one route; in Lesson 16's Magentic-One pattern a manager agent plans the whole task and directs specialists, built with the same AgentFactory as every other agent. Handoff, like Sequential, Concurrent and Group Chat, returns the entire conversation; Lesson 16 is the first pattern whose output is a single message synthesized by the manager. And in Lesson 24's review of the capstone, handoff is noted as not needed, because the Researcher, Analyst and Writer roles are fixed in the graph rather than delegated at run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14  ·  PHASE 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Handoff Pattern</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Routing decided by the conversation, not the graph</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Lessons 12–13's AgentWorkflowBuilder</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Lesson14-HandoffPattern/</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Wiring possible routes with CreateHandoffBuilderWith</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a handoff is a tool call the model chooses</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Writing reason strings that route reliably</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How the specialist continues the same transcript</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How handoff differs from a fixed sequential chain</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14 — Handoff Pattern</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handoff is a tool call</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User request</a:t>
            </a:r>
            <a:endParaRPr lang="en-US" sz="15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 was charged twice for my subscription..."</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TriageAgent</a:t>
            </a:r>
            <a:endParaRPr lang="en-US" sz="15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Sees two possible routes, each offered like a tool</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512BD4"/>
          </a:solidFill>
          <a:ln w="12700">
            <a:solidFill>
              <a:srgbClr val="512BD4"/>
            </a:solidFill>
            <a:prstDash val="solid"/>
          </a:ln>
        </p:spPr>
      </p:sp>
      <p:sp>
        <p:nvSpPr>
          <p:cNvPr id="17" name="Shape 13"/>
          <p:cNvSpPr/>
          <p:nvPr/>
        </p:nvSpPr>
        <p:spPr>
          <a:xfrm>
            <a:off x="4928616"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Handoff call</a:t>
            </a:r>
            <a:endParaRPr lang="en-US" sz="15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A FunctionCallContent, not ordinary text</a:t>
            </a:r>
            <a:endParaRPr lang="en-US" sz="105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BillingAgent</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Answers the user directly</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model decides which route to take, if any. The framework does not pick for it.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14 — Handoff Pattern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reason string is the routing</a:t>
            </a:r>
            <a:endParaRPr lang="en-US" sz="2800" dirty="0"/>
          </a:p>
        </p:txBody>
      </p:sp>
      <p:sp>
        <p:nvSpPr>
          <p:cNvPr id="4" name="Shape 2"/>
          <p:cNvSpPr/>
          <p:nvPr/>
        </p:nvSpPr>
        <p:spPr>
          <a:xfrm>
            <a:off x="457200" y="1371600"/>
            <a:ext cx="3931920" cy="1783080"/>
          </a:xfrm>
          <a:prstGeom prst="roundRect">
            <a:avLst>
              <a:gd name="adj" fmla="val 4103"/>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Route to BillingAgent</a:t>
            </a:r>
            <a:endParaRPr lang="en-US" sz="1700" dirty="0"/>
          </a:p>
        </p:txBody>
      </p:sp>
      <p:sp>
        <p:nvSpPr>
          <p:cNvPr id="8" name="Text 5"/>
          <p:cNvSpPr txBox="1"/>
          <p:nvPr/>
        </p:nvSpPr>
        <p:spPr>
          <a:xfrm>
            <a:off x="685800" y="2194560"/>
            <a:ext cx="3474720" cy="7315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user has a billing, payment,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or subscription question."</a:t>
            </a:r>
            <a:endParaRPr lang="en-US" sz="1300" dirty="0"/>
          </a:p>
        </p:txBody>
      </p:sp>
      <p:sp>
        <p:nvSpPr>
          <p:cNvPr id="9" name="Shape 6"/>
          <p:cNvSpPr/>
          <p:nvPr/>
        </p:nvSpPr>
        <p:spPr>
          <a:xfrm>
            <a:off x="4754880" y="1371600"/>
            <a:ext cx="3931920" cy="1783080"/>
          </a:xfrm>
          <a:prstGeom prst="roundRect">
            <a:avLst>
              <a:gd name="adj" fmla="val 4103"/>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Route to TechSupportAgent</a:t>
            </a:r>
            <a:endParaRPr lang="en-US" sz="1700" dirty="0"/>
          </a:p>
        </p:txBody>
      </p:sp>
      <p:sp>
        <p:nvSpPr>
          <p:cNvPr id="13" name="Text 9"/>
          <p:cNvSpPr txBox="1"/>
          <p:nvPr/>
        </p:nvSpPr>
        <p:spPr>
          <a:xfrm>
            <a:off x="4983480" y="2194560"/>
            <a:ext cx="3474720" cy="73152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user has a technical problem</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or bug with the product."</a:t>
            </a:r>
            <a:endParaRPr lang="en-US" sz="1300" dirty="0"/>
          </a:p>
        </p:txBody>
      </p:sp>
      <p:sp>
        <p:nvSpPr>
          <p:cNvPr id="14" name="Text 10"/>
          <p:cNvSpPr txBox="1"/>
          <p:nvPr/>
        </p:nvSpPr>
        <p:spPr>
          <a:xfrm>
            <a:off x="457200" y="34290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Clear, non-overlapping reasons route reliably. Vague ones don't.</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14 — Handoff Pattern</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specialist continues the same transcript</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One transcript</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single List&lt;ChatMessage&gt;, the same shape Lessons 12 and 13 produced.</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User message</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original request, seen by every agent</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Triage turn</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handoff call, with no text</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Specialist reply</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Not TriageAgent's instructions, but the request and the handoff</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different agent contributes partway through, not at a fixed position.</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14 — Handoff Pattern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50" b="1" dirty="0">
                <a:solidFill>
                  <a:srgbClr val="1F2937"/>
                </a:solidFill>
                <a:latin typeface="Cambria" pitchFamily="34" charset="0"/>
                <a:ea typeface="Cambria" pitchFamily="34" charset="-122"/>
                <a:cs typeface="Cambria" pitchFamily="34" charset="-120"/>
              </a:rPr>
              <a:t>Decided by the conversation, not the definition</a:t>
            </a:r>
            <a:endParaRPr lang="en-US" sz="2650" dirty="0"/>
          </a:p>
        </p:txBody>
      </p:sp>
      <p:sp>
        <p:nvSpPr>
          <p:cNvPr id="4" name="Shape 2"/>
          <p:cNvSpPr/>
          <p:nvPr/>
        </p:nvSpPr>
        <p:spPr>
          <a:xfrm>
            <a:off x="457200" y="1371600"/>
            <a:ext cx="3931920" cy="2103120"/>
          </a:xfrm>
          <a:prstGeom prst="roundRect">
            <a:avLst>
              <a:gd name="adj" fmla="val 3478"/>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12: BuildSequential</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Runs every agent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In the order you gave it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Every time</a:t>
            </a:r>
            <a:endParaRPr lang="en-US" sz="1300" dirty="0"/>
          </a:p>
        </p:txBody>
      </p:sp>
      <p:sp>
        <p:nvSpPr>
          <p:cNvPr id="9" name="Shape 6"/>
          <p:cNvSpPr/>
          <p:nvPr/>
        </p:nvSpPr>
        <p:spPr>
          <a:xfrm>
            <a:off x="4754880" y="1371600"/>
            <a:ext cx="3931920" cy="2103120"/>
          </a:xfrm>
          <a:prstGeom prst="roundRect">
            <a:avLst>
              <a:gd name="adj" fmla="val 3478"/>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14: Handoff</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BillingAgent, or TechSupportAgent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Or neither, if no reason matches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Decided fresh on each run</a:t>
            </a:r>
            <a:endParaRPr lang="en-US" sz="1300" dirty="0"/>
          </a:p>
        </p:txBody>
      </p:sp>
      <p:sp>
        <p:nvSpPr>
          <p:cNvPr id="14" name="Text 10"/>
          <p:cNvSpPr txBox="1"/>
          <p:nvPr/>
        </p:nvSpPr>
        <p:spPr>
          <a:xfrm>
            <a:off x="457200" y="37490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Same triage agent, same two routes: only the question changed.</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14 — Handoff Pattern</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BEYOND THIS LESSON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More handoff capability than we use</a:t>
            </a:r>
            <a:endParaRPr lang="en-US" sz="2800" dirty="0"/>
          </a:p>
        </p:txBody>
      </p:sp>
      <p:sp>
        <p:nvSpPr>
          <p:cNvPr id="4" name="Shape 2"/>
          <p:cNvSpPr/>
          <p:nvPr/>
        </p:nvSpPr>
        <p:spPr>
          <a:xfrm>
            <a:off x="457200" y="1371600"/>
            <a:ext cx="3977640" cy="1211580"/>
          </a:xfrm>
          <a:prstGeom prst="roundRect">
            <a:avLst>
              <a:gd name="adj" fmla="val 6038"/>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lstStyle/>
          <a:p>
            <a:pPr indent="0" marL="0">
              <a:buNone/>
            </a:pPr>
            <a:r>
              <a:rPr lang="en-US" sz="1300" b="1" dirty="0">
                <a:solidFill>
                  <a:srgbClr val="1F2937"/>
                </a:solidFill>
                <a:latin typeface="Courier New" pitchFamily="34" charset="0"/>
                <a:ea typeface="Courier New" pitchFamily="34" charset="-122"/>
                <a:cs typeface="Courier New" pitchFamily="34" charset="-120"/>
              </a:rPr>
              <a:t>EnableReturnToPrevious</a:t>
            </a:r>
            <a:endParaRPr lang="en-US" sz="1300" dirty="0"/>
          </a:p>
        </p:txBody>
      </p:sp>
      <p:sp>
        <p:nvSpPr>
          <p:cNvPr id="8" name="Text 5"/>
          <p:cNvSpPr txBox="1"/>
          <p:nvPr/>
        </p:nvSpPr>
        <p:spPr>
          <a:xfrm>
            <a:off x="640080" y="2057400"/>
            <a:ext cx="3611880" cy="4343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specialist hands the conversation back when a request is outside its scope</a:t>
            </a:r>
            <a:endParaRPr lang="en-US" sz="1200" dirty="0"/>
          </a:p>
        </p:txBody>
      </p:sp>
      <p:sp>
        <p:nvSpPr>
          <p:cNvPr id="9" name="Shape 6"/>
          <p:cNvSpPr/>
          <p:nvPr/>
        </p:nvSpPr>
        <p:spPr>
          <a:xfrm>
            <a:off x="4709160" y="1371600"/>
            <a:ext cx="3977640" cy="1211580"/>
          </a:xfrm>
          <a:prstGeom prst="roundRect">
            <a:avLst>
              <a:gd name="adj" fmla="val 6038"/>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lstStyle/>
          <a:p>
            <a:pPr indent="0" marL="0">
              <a:buNone/>
            </a:pPr>
            <a:r>
              <a:rPr lang="en-US" sz="1300" b="1" dirty="0">
                <a:solidFill>
                  <a:srgbClr val="1F2937"/>
                </a:solidFill>
                <a:latin typeface="Courier New" pitchFamily="34" charset="0"/>
                <a:ea typeface="Courier New" pitchFamily="34" charset="-122"/>
                <a:cs typeface="Courier New" pitchFamily="34" charset="-120"/>
              </a:rPr>
              <a:t>WithAutonomousMode</a:t>
            </a:r>
            <a:endParaRPr lang="en-US" sz="1300" dirty="0"/>
          </a:p>
        </p:txBody>
      </p:sp>
      <p:sp>
        <p:nvSpPr>
          <p:cNvPr id="13" name="Text 9"/>
          <p:cNvSpPr txBox="1"/>
          <p:nvPr/>
        </p:nvSpPr>
        <p:spPr>
          <a:xfrm>
            <a:off x="4892040" y="2057400"/>
            <a:ext cx="3611880" cy="4343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Open-ended, multi-hop handoff chains</a:t>
            </a:r>
            <a:endParaRPr lang="en-US" sz="1200" dirty="0"/>
          </a:p>
        </p:txBody>
      </p:sp>
      <p:sp>
        <p:nvSpPr>
          <p:cNvPr id="14" name="Shape 10"/>
          <p:cNvSpPr/>
          <p:nvPr/>
        </p:nvSpPr>
        <p:spPr>
          <a:xfrm>
            <a:off x="457200" y="2811780"/>
            <a:ext cx="3977640" cy="1211580"/>
          </a:xfrm>
          <a:prstGeom prst="roundRect">
            <a:avLst>
              <a:gd name="adj" fmla="val 6038"/>
            </a:avLst>
          </a:prstGeom>
          <a:solidFill>
            <a:srgbClr val="EFEBFC"/>
          </a:solidFill>
          <a:ln w="12700">
            <a:solidFill>
              <a:srgbClr val="EFEBFC"/>
            </a:solidFill>
            <a:prstDash val="solid"/>
          </a:ln>
        </p:spPr>
      </p:sp>
      <p:sp>
        <p:nvSpPr>
          <p:cNvPr id="15" name="Shape 11"/>
          <p:cNvSpPr/>
          <p:nvPr/>
        </p:nvSpPr>
        <p:spPr>
          <a:xfrm>
            <a:off x="640080" y="299466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094512"/>
            <a:ext cx="184343" cy="184343"/>
          </a:xfrm>
          <a:prstGeom prst="rect">
            <a:avLst/>
          </a:prstGeom>
        </p:spPr>
      </p:pic>
      <p:sp>
        <p:nvSpPr>
          <p:cNvPr id="17" name="Text 12"/>
          <p:cNvSpPr txBox="1"/>
          <p:nvPr/>
        </p:nvSpPr>
        <p:spPr>
          <a:xfrm>
            <a:off x="1143000" y="2994660"/>
            <a:ext cx="3154680" cy="384048"/>
          </a:xfrm>
          <a:prstGeom prst="rect">
            <a:avLst/>
          </a:prstGeom>
          <a:noFill/>
          <a:ln/>
        </p:spPr>
        <p:txBody>
          <a:bodyPr wrap="square" lIns="0" tIns="0" rIns="0" bIns="0" rtlCol="0" anchor="ctr"/>
          <a:lstStyle/>
          <a:p>
            <a:pPr indent="0" marL="0">
              <a:buNone/>
            </a:pPr>
            <a:r>
              <a:rPr lang="en-US" sz="1300" b="1" dirty="0">
                <a:solidFill>
                  <a:srgbClr val="1F2937"/>
                </a:solidFill>
                <a:latin typeface="Courier New" pitchFamily="34" charset="0"/>
                <a:ea typeface="Courier New" pitchFamily="34" charset="-122"/>
                <a:cs typeface="Courier New" pitchFamily="34" charset="-120"/>
              </a:rPr>
              <a:t>WithTerminationCondition</a:t>
            </a:r>
            <a:endParaRPr lang="en-US" sz="1300" dirty="0"/>
          </a:p>
        </p:txBody>
      </p:sp>
      <p:sp>
        <p:nvSpPr>
          <p:cNvPr id="18" name="Text 13"/>
          <p:cNvSpPr txBox="1"/>
          <p:nvPr/>
        </p:nvSpPr>
        <p:spPr>
          <a:xfrm>
            <a:off x="640080" y="3497580"/>
            <a:ext cx="3611880" cy="4343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Turn limits for those longer chains</a:t>
            </a:r>
            <a:endParaRPr lang="en-US" sz="1200" dirty="0"/>
          </a:p>
        </p:txBody>
      </p:sp>
      <p:sp>
        <p:nvSpPr>
          <p:cNvPr id="19" name="Shape 14"/>
          <p:cNvSpPr/>
          <p:nvPr/>
        </p:nvSpPr>
        <p:spPr>
          <a:xfrm>
            <a:off x="4709160" y="2811780"/>
            <a:ext cx="3977640" cy="1211580"/>
          </a:xfrm>
          <a:prstGeom prst="roundRect">
            <a:avLst>
              <a:gd name="adj" fmla="val 6038"/>
            </a:avLst>
          </a:prstGeom>
          <a:solidFill>
            <a:srgbClr val="EFEBFC"/>
          </a:solidFill>
          <a:ln w="12700">
            <a:solidFill>
              <a:srgbClr val="EFEBFC"/>
            </a:solidFill>
            <a:prstDash val="solid"/>
          </a:ln>
        </p:spPr>
      </p:sp>
      <p:sp>
        <p:nvSpPr>
          <p:cNvPr id="20" name="Shape 15"/>
          <p:cNvSpPr/>
          <p:nvPr/>
        </p:nvSpPr>
        <p:spPr>
          <a:xfrm>
            <a:off x="4892040" y="299466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094512"/>
            <a:ext cx="184343" cy="184343"/>
          </a:xfrm>
          <a:prstGeom prst="rect">
            <a:avLst/>
          </a:prstGeom>
        </p:spPr>
      </p:pic>
      <p:sp>
        <p:nvSpPr>
          <p:cNvPr id="22" name="Text 16"/>
          <p:cNvSpPr txBox="1"/>
          <p:nvPr/>
        </p:nvSpPr>
        <p:spPr>
          <a:xfrm>
            <a:off x="5394960" y="2994660"/>
            <a:ext cx="3154680" cy="384048"/>
          </a:xfrm>
          <a:prstGeom prst="rect">
            <a:avLst/>
          </a:prstGeom>
          <a:noFill/>
          <a:ln/>
        </p:spPr>
        <p:txBody>
          <a:bodyPr wrap="square" lIns="0" tIns="0" rIns="0" bIns="0" rtlCol="0" anchor="ctr"/>
          <a:lstStyle/>
          <a:p>
            <a:pPr indent="0" marL="0">
              <a:buNone/>
            </a:pPr>
            <a:r>
              <a:rPr lang="en-US" sz="1200" b="1" dirty="0">
                <a:solidFill>
                  <a:srgbClr val="1F2937"/>
                </a:solidFill>
                <a:latin typeface="Courier New" pitchFamily="34" charset="0"/>
                <a:ea typeface="Courier New" pitchFamily="34" charset="-122"/>
                <a:cs typeface="Courier New" pitchFamily="34" charset="-120"/>
              </a:rPr>
              <a:t>WithToolCallFilteringBehavior</a:t>
            </a:r>
            <a:endParaRPr lang="en-US" sz="1200" dirty="0"/>
          </a:p>
        </p:txBody>
      </p:sp>
      <p:sp>
        <p:nvSpPr>
          <p:cNvPr id="23" name="Text 17"/>
          <p:cNvSpPr txBox="1"/>
          <p:nvPr/>
        </p:nvSpPr>
        <p:spPr>
          <a:xfrm>
            <a:off x="4892040" y="3497580"/>
            <a:ext cx="3611880" cy="4343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How much handoff tool-call noise a receiving agent sees</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14 — Handoff Pattern</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questions, two specialists</a:t>
            </a:r>
            <a:endParaRPr lang="en-US" sz="2800" dirty="0"/>
          </a:p>
        </p:txBody>
      </p:sp>
      <p:sp>
        <p:nvSpPr>
          <p:cNvPr id="4" name="Shape 2"/>
          <p:cNvSpPr/>
          <p:nvPr/>
        </p:nvSpPr>
        <p:spPr>
          <a:xfrm>
            <a:off x="457200" y="1325880"/>
            <a:ext cx="5257800" cy="2697480"/>
          </a:xfrm>
          <a:prstGeom prst="roundRect">
            <a:avLst>
              <a:gd name="adj" fmla="val 2712"/>
            </a:avLst>
          </a:prstGeom>
          <a:solidFill>
            <a:srgbClr val="0F1420"/>
          </a:solidFill>
          <a:ln w="12700">
            <a:solidFill>
              <a:srgbClr val="0F1420"/>
            </a:solidFill>
            <a:prstDash val="solid"/>
          </a:ln>
        </p:spPr>
      </p:sp>
      <p:sp>
        <p:nvSpPr>
          <p:cNvPr id="5" name="Text 3"/>
          <p:cNvSpPr txBox="1"/>
          <p:nvPr/>
        </p:nvSpPr>
        <p:spPr>
          <a:xfrm>
            <a:off x="640080" y="1463040"/>
            <a:ext cx="4892040" cy="242316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Billing question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User: I was charged twice for my subscription this month,</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can you help?</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[user] I was charged twice for my subscription this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month, can you help?</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[TriageAgent] (handoff decision)</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[BillingAgent] It sounds like you were double-charged for</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your subscription. I can definitely help you with that.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Tech support question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User: My app keeps crashing when I open the settings screen.</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[TriageAgent] (handoff decision)</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[TechSupportAgent] Okay, I understand. Your app is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crashing when you try to open the settings screen.</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No-text triage turn</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TriageAgent always hands off rather than answering</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Matching specialist</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next message comes from the agent the question fits</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14 — Handoff Pattern</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587502"/>
          </a:xfrm>
          <a:prstGeom prst="roundRect">
            <a:avLst>
              <a:gd name="adj" fmla="val 12451"/>
            </a:avLst>
          </a:prstGeom>
          <a:solidFill>
            <a:srgbClr val="1F2943"/>
          </a:solidFill>
          <a:ln w="12700">
            <a:solidFill>
              <a:srgbClr val="1F2943"/>
            </a:solidFill>
            <a:prstDash val="solid"/>
          </a:ln>
        </p:spPr>
      </p:sp>
      <p:sp>
        <p:nvSpPr>
          <p:cNvPr id="5" name="Text 3"/>
          <p:cNvSpPr txBox="1"/>
          <p:nvPr/>
        </p:nvSpPr>
        <p:spPr>
          <a:xfrm>
            <a:off x="621792" y="123444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Only one specialist ever answers</a:t>
            </a:r>
            <a:endParaRPr lang="en-US" sz="1300" dirty="0"/>
          </a:p>
        </p:txBody>
      </p:sp>
      <p:sp>
        <p:nvSpPr>
          <p:cNvPr id="6" name="Shape 4"/>
          <p:cNvSpPr/>
          <p:nvPr/>
        </p:nvSpPr>
        <p:spPr>
          <a:xfrm>
            <a:off x="3493008" y="1436751"/>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15  </a:t>
            </a:r>
            <a:pPr indent="0" marL="0">
              <a:buNone/>
            </a:pPr>
            <a:r>
              <a:rPr lang="en-US" sz="1250" dirty="0">
                <a:solidFill>
                  <a:srgbClr val="FFFFFF"/>
                </a:solidFill>
                <a:latin typeface="Calibri" pitchFamily="34" charset="0"/>
                <a:ea typeface="Calibri" pitchFamily="34" charset="-122"/>
                <a:cs typeface="Calibri" pitchFamily="34" charset="-120"/>
              </a:rPr>
              <a:t>Group chat: every participant contributes in turn</a:t>
            </a:r>
            <a:endParaRPr lang="en-US" sz="1250" dirty="0"/>
          </a:p>
        </p:txBody>
      </p:sp>
      <p:sp>
        <p:nvSpPr>
          <p:cNvPr id="8" name="Shape 6"/>
          <p:cNvSpPr/>
          <p:nvPr/>
        </p:nvSpPr>
        <p:spPr>
          <a:xfrm>
            <a:off x="457200" y="1931670"/>
            <a:ext cx="2926080" cy="587502"/>
          </a:xfrm>
          <a:prstGeom prst="roundRect">
            <a:avLst>
              <a:gd name="adj" fmla="val 12451"/>
            </a:avLst>
          </a:prstGeom>
          <a:solidFill>
            <a:srgbClr val="1F2943"/>
          </a:solidFill>
          <a:ln w="12700">
            <a:solidFill>
              <a:srgbClr val="1F2943"/>
            </a:solidFill>
            <a:prstDash val="solid"/>
          </a:ln>
        </p:spPr>
      </p:sp>
      <p:sp>
        <p:nvSpPr>
          <p:cNvPr id="9" name="Text 7"/>
          <p:cNvSpPr txBox="1"/>
          <p:nvPr/>
        </p:nvSpPr>
        <p:spPr>
          <a:xfrm>
            <a:off x="621792" y="193167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 agent's judgment directs the work</a:t>
            </a:r>
            <a:endParaRPr lang="en-US" sz="1300" dirty="0"/>
          </a:p>
        </p:txBody>
      </p:sp>
      <p:sp>
        <p:nvSpPr>
          <p:cNvPr id="10" name="Shape 8"/>
          <p:cNvSpPr/>
          <p:nvPr/>
        </p:nvSpPr>
        <p:spPr>
          <a:xfrm>
            <a:off x="3493008" y="2133981"/>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93167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16  </a:t>
            </a:r>
            <a:pPr indent="0" marL="0">
              <a:buNone/>
            </a:pPr>
            <a:r>
              <a:rPr lang="en-US" sz="1250" dirty="0">
                <a:solidFill>
                  <a:srgbClr val="FFFFFF"/>
                </a:solidFill>
                <a:latin typeface="Calibri" pitchFamily="34" charset="0"/>
                <a:ea typeface="Calibri" pitchFamily="34" charset="-122"/>
                <a:cs typeface="Calibri" pitchFamily="34" charset="-120"/>
              </a:rPr>
              <a:t>Magentic-One: a manager agent plans and directs specialists</a:t>
            </a:r>
            <a:endParaRPr lang="en-US" sz="1250" dirty="0"/>
          </a:p>
        </p:txBody>
      </p:sp>
      <p:sp>
        <p:nvSpPr>
          <p:cNvPr id="12" name="Shape 10"/>
          <p:cNvSpPr/>
          <p:nvPr/>
        </p:nvSpPr>
        <p:spPr>
          <a:xfrm>
            <a:off x="457200" y="2628900"/>
            <a:ext cx="2926080" cy="587502"/>
          </a:xfrm>
          <a:prstGeom prst="roundRect">
            <a:avLst>
              <a:gd name="adj" fmla="val 12451"/>
            </a:avLst>
          </a:prstGeom>
          <a:solidFill>
            <a:srgbClr val="1F2943"/>
          </a:solidFill>
          <a:ln w="12700">
            <a:solidFill>
              <a:srgbClr val="1F2943"/>
            </a:solidFill>
            <a:prstDash val="solid"/>
          </a:ln>
        </p:spPr>
      </p:sp>
      <p:sp>
        <p:nvSpPr>
          <p:cNvPr id="13" name="Text 11"/>
          <p:cNvSpPr txBox="1"/>
          <p:nvPr/>
        </p:nvSpPr>
        <p:spPr>
          <a:xfrm>
            <a:off x="621792" y="262890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full transcript is the output</a:t>
            </a:r>
            <a:endParaRPr lang="en-US" sz="1300" dirty="0"/>
          </a:p>
        </p:txBody>
      </p:sp>
      <p:sp>
        <p:nvSpPr>
          <p:cNvPr id="14" name="Shape 12"/>
          <p:cNvSpPr/>
          <p:nvPr/>
        </p:nvSpPr>
        <p:spPr>
          <a:xfrm>
            <a:off x="3493008" y="2831211"/>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62890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16  </a:t>
            </a:r>
            <a:pPr indent="0" marL="0">
              <a:buNone/>
            </a:pPr>
            <a:r>
              <a:rPr lang="en-US" sz="1250" dirty="0">
                <a:solidFill>
                  <a:srgbClr val="FFFFFF"/>
                </a:solidFill>
                <a:latin typeface="Calibri" pitchFamily="34" charset="0"/>
                <a:ea typeface="Calibri" pitchFamily="34" charset="-122"/>
                <a:cs typeface="Calibri" pitchFamily="34" charset="-120"/>
              </a:rPr>
              <a:t>Magentic returns one synthesized message instead</a:t>
            </a:r>
            <a:endParaRPr lang="en-US" sz="1250" dirty="0"/>
          </a:p>
        </p:txBody>
      </p:sp>
      <p:sp>
        <p:nvSpPr>
          <p:cNvPr id="16" name="Shape 14"/>
          <p:cNvSpPr/>
          <p:nvPr/>
        </p:nvSpPr>
        <p:spPr>
          <a:xfrm>
            <a:off x="457200" y="3326130"/>
            <a:ext cx="2926080" cy="587502"/>
          </a:xfrm>
          <a:prstGeom prst="roundRect">
            <a:avLst>
              <a:gd name="adj" fmla="val 12451"/>
            </a:avLst>
          </a:prstGeom>
          <a:solidFill>
            <a:srgbClr val="1F2943"/>
          </a:solidFill>
          <a:ln w="12700">
            <a:solidFill>
              <a:srgbClr val="1F2943"/>
            </a:solidFill>
            <a:prstDash val="solid"/>
          </a:ln>
        </p:spPr>
      </p:sp>
      <p:sp>
        <p:nvSpPr>
          <p:cNvPr id="17" name="Text 15"/>
          <p:cNvSpPr txBox="1"/>
          <p:nvPr/>
        </p:nvSpPr>
        <p:spPr>
          <a:xfrm>
            <a:off x="621792" y="332613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Dynamic delegation</a:t>
            </a:r>
            <a:endParaRPr lang="en-US" sz="1300" dirty="0"/>
          </a:p>
        </p:txBody>
      </p:sp>
      <p:sp>
        <p:nvSpPr>
          <p:cNvPr id="18" name="Shape 16"/>
          <p:cNvSpPr/>
          <p:nvPr/>
        </p:nvSpPr>
        <p:spPr>
          <a:xfrm>
            <a:off x="3493008" y="3528441"/>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32613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Capstone review: the three roles are fixed, so no handoff</a:t>
            </a:r>
            <a:endParaRPr lang="en-US" sz="1250" dirty="0"/>
          </a:p>
        </p:txBody>
      </p:sp>
      <p:sp>
        <p:nvSpPr>
          <p:cNvPr id="20" name="Text 18"/>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2 orchestration toolkit (the capstone's roles are fixed in its graph)</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14 — Handoff Pattern</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14 — Handoff Pattern</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2026-10-08T00:09:31Z</dcterms:created>
  <dcterms:modified xsi:type="dcterms:W3CDTF">2026-10-08T00:09:31Z</dcterms:modified>
</cp:coreProperties>
</file>