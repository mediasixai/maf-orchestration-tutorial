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introduces MAF Workflows: a directed-graph model for orchestrating multiple steps, distinct from the single dynamic agent conversation used in every prior lesson. Three plain C# executors are wired into a linear pipeline — normalize text, annotate it with a word count, format a final report — and run both non-streaming and streaming. A short bonus section then shows that an agent can be a workflow node too. This is the graph mental model the whole of Lessons 10 to 19 builds on. Prerequisites: Lessons 1 and 2 — IChatClient, ChatClientAgent and RunAsync, used only in the bonus section. The graph and executor material is entirely new; nothing about it depends on Lessons 3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framework net10.0. Packages: Microsoft.Agents.AI 1.24.0 as the core MAF package; Microsoft.Agents.AI.Workflows 1.24.0 for the graph model — WorkflowBuilder, Executor, IWorkflowContext; Microsoft.Agents.AI.Workflows.Generators 1.24.0, the Roslyn source generator that wires up [MessageHandler] methods at compile time, referenced with PrivateAssets="all" because it is build-time only; and, for the bonus section only, Microsoft.Extensions.AI.OpenAI 10.10.1 and OpenAI 2.14.0. The Generators package is what makes [MessageHandler] work. Without it, a partial executor class fails to compile with CS0534, does not implement inherited abstract member Executor.ConfigureProtocol, because nothing generates that method for you. The OPENAI_API_KEY environment variable is needed for the bonus section only; the bonus section also needs the required MAF_LLM and MAF_MODEL, OPENAI and gpt-4.1-mini in the demo, and MAF_LLM can select Azure OpenAI, Gemini, Ollama or LM Studio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workflow is a predefined graph; an agent is a dynamic conversation. Every prior lesson's ChatClientAgent decides its own next step turn by turn, driven by the model. A Workflow is the opposite: you declare the exact steps and connections up front, and MAF executes precisely that graph — better control, at the cost of the model no longer choosing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Executors are the nodes; edges are the connections. An Executor receives a typed message, does something with it, and optionally produces output. WorkflowBuilder.AddEdge(source, target) draws a directed edge: whatever source produces gets routed to target. new WorkflowBuilder(normalizer) makes the normalizer the entry point; two AddEdge calls draw the line to the annotator and then the formatter; Build produces an immutable Workflow. Each executor's [MessageHandler] return value is the entire routing mechanism — TextNormalizerExecutor.NormalizeAsync returns a trimmed, lowercased string, and that string becomes WordCountAnnotatorExecutor's input automatically because of the edge between them, with no manual 'send to next' call anywhere. WithOutputFrom decides what counts as the workflow's answer: every executor can pass messages on, but only ReportFormatterExecutor is designated as a source of terminal results, so when FormatAsync returns the finished report it shows up as a WorkflowOutputEvent, regardless of how many other executors ran along the way. A fresh set of executors is built per run, because a Workflow object can only be claimed by one runner at a time; reusing it throws.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executor is a partial class with [MessageHandler] methods. Derive from Executor, pass a unique ID to the base constructor, mark the class partial, and put [MessageHandler] on each method that handles a message type. The method's first parameter is the input type, followed by IWorkflowContext and a CancellationToken; its return type — ValueTask&lt;TOut&gt; here — is the output type. At compile time the Generators package reads those signatures and writes the executor's ConfigureProtocol override for you: which message types it accepts, and what it can send onward. In this lesson all three executors are string in, string out, and none of them writes any routing code. The handler methods can stay private, because only the generated code inside the same class calls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lesson's graph is a straight line — TextNormalizerExecutor to WordCountAnnotatorExecutor to ReportFormatterExecutor — but edges support far more. AddFanOutEdge sends one executor's output to several targets at once. AddFanInBarrierEdge waits for multiple sources before firing a single target. And AddEdge has an overload taking a Func&lt;TMessage, bool&gt; condition for routing based on message content. Lesson 11 uses that conditional overload to route and filter, and Lessons 13 to 16 build on these richer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proceeds in supersteps, not free-running concurrency. MAF's workflow runner uses a Bulk-Synchronous-Parallel, Pregel-style model: each superstep collects pending messages, routes them, runs every targeted executor concurrently, and waits for all of them to finish before starting the next superstep. This lesson's streaming output shows exactly three completions in sequence because each stage depends on the previous one's output. Independent branches in a fan-out would run within the same superstep,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Non-streaming and streaming are two ways to observe the same run. InProcessExecution.RunAsync runs a workflow to completion and hands back every event that occurred, all at once, via Run.NewEvents. Filtering for WorkflowOutputEvent picks out just the final report, ignoring the bookkeeping events — superstep boundaries and individual executor invocations — also in that list. InProcessExecution.RunStreamingAsync returns a StreamingRun immediately; its WatchStreamAsync() is an IAsyncEnumerable&lt;WorkflowEvent&gt; that yields events as the graph actually executes. This lesson prints a line each time an executor completes, which makes the three-stage progression visible. On the slide, each streaming line is shortened: the real line ends in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and functions are both just executors. WorkflowBuilder accepts an AIAgent directly wherever it accepts an Executor: in the bonus section a ChatClientAgent becomes the workflow's sole node with no wrapping code at all. An agent node collects the chat messages it receives and only calls the model once it receives a TurnToken. A TurnToken is an ordinary workflow message, so it goes wherever messages go. run.TrySendMessageAsync(new TurnToken(emitEvents: true)) delivers it to the workflow's starting executor, which here is the agent itself. emitEvents: true is what makes the agent's streaming text visible: without it the agent still runs, but no per-token AgentResponseUpdateEvent is emitted for the loop to print. When an agent sits further down a graph, the executor feeding it sends the ChatMessage and then the TurnToken with context.SendMessageAsync, and both travel along the same edge. Lesson 12 introduces AgentWorkflowBuilder, which builds whole agent pipelines this way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text is deterministic — no model call is involved in the main pipeline — and the streaming section shows three completions in order. The greeter agent's exact phrasing will vary between runs because it's a live model response, but the shape won't change: three completions, then one streamed agent sentence. On the slide, the streaming section's repeated report block (the three report lines) is replaced with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today's pieces go. Conditional edges come back in the next lesson, Lesson 11, where edge conditions route support tickets, and a ticket no condition matches is filtered out. Agents as workflow nodes become Lesson 12's Sequential Pattern, where AgentWorkflowBuilder.BuildSequential chains agents without hand-wired edges. Independent branches running in parallel become Lesson 13's BuildConcurrent, which runs agents against the same input and merges their results. The run's event stream is how Lesson 17's Human-in-the-Loop sees a RequestInfoEvent and pauses for a human. And supersteps are the unit of durability in Lesson 18: a checkpoint is captured after every superstep. The graph model underlies the capstone pipeline in Lessons 22 to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10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Workflows 101 (Graph Model)</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Orchestration as a directed graph</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single ChatClientAgent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Lesson10-Workflows101/</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a workflow differs from an agent conversation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Executors as nodes, edges as data flow</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Writing an executor with [MessageHandler]</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Supersteps, streaming and non-streaming runs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Dropping an agent into the graph as a node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new workflow packages</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Microsoft.Agents.</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AI.Workflows</a:t>
            </a:r>
            <a:endParaRPr lang="en-US" sz="13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1.24.0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WorkflowBuilder, Executor, IWorkflowContext</a:t>
            </a:r>
            <a:endParaRPr lang="en-US" sz="1200" dirty="0"/>
          </a:p>
        </p:txBody>
      </p:sp>
      <p:sp>
        <p:nvSpPr>
          <p:cNvPr id="9" name="Shape 6"/>
          <p:cNvSpPr/>
          <p:nvPr/>
        </p:nvSpPr>
        <p:spPr>
          <a:xfrm>
            <a:off x="3291840" y="1371600"/>
            <a:ext cx="2560320" cy="2011680"/>
          </a:xfrm>
          <a:prstGeom prst="roundRect">
            <a:avLst>
              <a:gd name="adj" fmla="val 3636"/>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Workflows.</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Generators</a:t>
            </a:r>
            <a:endParaRPr lang="en-US" sz="13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1.24.0, build-time only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Writes ConfigureProtocol for you</a:t>
            </a:r>
            <a:endParaRPr lang="en-US" sz="1200" dirty="0"/>
          </a:p>
        </p:txBody>
      </p:sp>
      <p:sp>
        <p:nvSpPr>
          <p:cNvPr id="14" name="Shape 10"/>
          <p:cNvSpPr/>
          <p:nvPr/>
        </p:nvSpPr>
        <p:spPr>
          <a:xfrm>
            <a:off x="6126480" y="1371600"/>
            <a:ext cx="2560320" cy="2011680"/>
          </a:xfrm>
          <a:prstGeom prst="roundRect">
            <a:avLst>
              <a:gd name="adj" fmla="val 363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OpenAI adapter</a:t>
            </a:r>
            <a:endParaRPr lang="en-US" sz="14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MEAI.OpenAI 10.10.1 and OpenAI 2.14.0, for the bonus only</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MAF_LLM, MAF_MODEL and OPENAI_API_KEY are needed for the bonus agent node only.</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workflow is a graph you declare</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Agent (Lessons 1–9)</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picks the next step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path is decided turn by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Flexible, but not predictable</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Workflow (from today)</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declare every step and edge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MAF runs exactly that graph</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Control, at the cost of model choice</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Lessons 10–19 all build on this graph model.</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Executors are nodes; edges carry the data</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TextNormalizer</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Entry point. Lowercases and trims the text.</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WordCountAnnotator</a:t>
            </a:r>
            <a:endParaRPr lang="en-US" sz="14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Appends the word count</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ReportFormatter</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WithOutputFrom makes this the workflow's answer</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handler's return value is the whole routing mechanism.</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350" b="1" dirty="0">
                <a:solidFill>
                  <a:srgbClr val="1F2937"/>
                </a:solidFill>
                <a:latin typeface="Cambria" pitchFamily="34" charset="0"/>
                <a:ea typeface="Cambria" pitchFamily="34" charset="-122"/>
                <a:cs typeface="Cambria" pitchFamily="34" charset="-120"/>
              </a:rPr>
              <a:t>An executor is a partial class with [MessageHandler]</a:t>
            </a:r>
            <a:endParaRPr lang="en-US" sz="235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You write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partial class deriving from Executor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unique ID passed to the base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[MessageHandler] methods: type in, type out</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generator writes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ConfigureProtocol override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Which message types it accepts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What it can send onward</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Handlers can stay private: only the generated code calls them.</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Edges come in more shapes than a line</a:t>
            </a:r>
            <a:endParaRPr lang="en-US" sz="2800" dirty="0"/>
          </a:p>
        </p:txBody>
      </p:sp>
      <p:sp>
        <p:nvSpPr>
          <p:cNvPr id="4" name="Shape 2"/>
          <p:cNvSpPr/>
          <p:nvPr/>
        </p:nvSpPr>
        <p:spPr>
          <a:xfrm>
            <a:off x="457200" y="1371600"/>
            <a:ext cx="3977640" cy="1394460"/>
          </a:xfrm>
          <a:prstGeom prst="roundRect">
            <a:avLst>
              <a:gd name="adj" fmla="val 5246"/>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AddEdge</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source to one target. Today's straight-line pipeline.</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AddEdge + condition</a:t>
            </a:r>
            <a:endParaRPr lang="en-US" sz="14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Func&lt;TMessage, bool&gt; routes on message content</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ourier New" pitchFamily="34" charset="0"/>
                <a:ea typeface="Courier New" pitchFamily="34" charset="-122"/>
                <a:cs typeface="Courier New" pitchFamily="34" charset="-120"/>
              </a:rPr>
              <a:t>AddFanOutEdge</a:t>
            </a:r>
            <a:endParaRPr lang="en-US" sz="14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output sent to several targets at once</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AddFanInBarrierEdge</a:t>
            </a:r>
            <a:endParaRPr lang="en-US" sz="13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Waits for every source before firing one target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Execution moves in supersteps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Collect</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Gather every pending message</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Route</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Follow the edges to their targets</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Run together</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targeted executor runs concurrently</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Barrier</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Wait for all, then start the next superstep</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Today's three stages depend on each other, so they take three supersteps.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ways to observe the same run</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RunAsync</a:t>
            </a:r>
            <a:endParaRPr lang="en-US" sz="1700" dirty="0"/>
          </a:p>
        </p:txBody>
      </p:sp>
      <p:sp>
        <p:nvSpPr>
          <p:cNvPr id="8" name="Text 5"/>
          <p:cNvSpPr txBox="1"/>
          <p:nvPr/>
        </p:nvSpPr>
        <p:spPr>
          <a:xfrm>
            <a:off x="68580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event, after the run ends</a:t>
            </a:r>
            <a:endParaRPr lang="en-US" sz="1300" dirty="0"/>
          </a:p>
        </p:txBody>
      </p:sp>
      <p:sp>
        <p:nvSpPr>
          <p:cNvPr id="9" name="Shape 6"/>
          <p:cNvSpPr/>
          <p:nvPr/>
        </p:nvSpPr>
        <p:spPr>
          <a:xfrm>
            <a:off x="685800" y="2633472"/>
            <a:ext cx="3474720" cy="1143000"/>
          </a:xfrm>
          <a:prstGeom prst="roundRect">
            <a:avLst>
              <a:gd name="adj" fmla="val 6400"/>
            </a:avLst>
          </a:prstGeom>
          <a:solidFill>
            <a:srgbClr val="0F1420"/>
          </a:solidFill>
          <a:ln w="12700">
            <a:solidFill>
              <a:srgbClr val="0F1420"/>
            </a:solidFill>
            <a:prstDash val="solid"/>
          </a:ln>
        </p:spPr>
      </p:sp>
      <p:sp>
        <p:nvSpPr>
          <p:cNvPr id="10" name="Text 7"/>
          <p:cNvSpPr txBox="1"/>
          <p:nvPr/>
        </p:nvSpPr>
        <p:spPr>
          <a:xfrm>
            <a:off x="868680" y="2770632"/>
            <a:ext cx="3108960" cy="868680"/>
          </a:xfrm>
          <a:prstGeom prst="rect">
            <a:avLst/>
          </a:prstGeom>
          <a:noFill/>
          <a:ln/>
        </p:spPr>
        <p:txBody>
          <a:bodyPr wrap="square" lIns="0" tIns="0" rIns="0" bIns="0" rtlCol="0" anchor="t"/>
          <a:lstStyle/>
          <a:p>
            <a:pPr indent="0" marL="0">
              <a:buNone/>
            </a:pPr>
            <a:r>
              <a:rPr lang="en-US" sz="1100" dirty="0">
                <a:solidFill>
                  <a:srgbClr val="9FE6B8"/>
                </a:solidFill>
                <a:latin typeface="Courier New" pitchFamily="34" charset="0"/>
                <a:ea typeface="Courier New" pitchFamily="34" charset="-122"/>
                <a:cs typeface="Courier New" pitchFamily="34" charset="-120"/>
              </a:rPr>
              <a:t>=== Workflow Report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hello world from a workflow</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(5 words)</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RunStreamingAsync</a:t>
            </a:r>
            <a:endParaRPr lang="en-US" sz="1700" dirty="0"/>
          </a:p>
        </p:txBody>
      </p:sp>
      <p:sp>
        <p:nvSpPr>
          <p:cNvPr id="15" name="Text 11"/>
          <p:cNvSpPr txBox="1"/>
          <p:nvPr/>
        </p:nvSpPr>
        <p:spPr>
          <a:xfrm>
            <a:off x="498348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WatchStreamAsync yields events live</a:t>
            </a:r>
            <a:endParaRPr lang="en-US" sz="1300" dirty="0"/>
          </a:p>
        </p:txBody>
      </p:sp>
      <p:sp>
        <p:nvSpPr>
          <p:cNvPr id="16" name="Shape 12"/>
          <p:cNvSpPr/>
          <p:nvPr/>
        </p:nvSpPr>
        <p:spPr>
          <a:xfrm>
            <a:off x="4983480" y="2633472"/>
            <a:ext cx="3474720" cy="1143000"/>
          </a:xfrm>
          <a:prstGeom prst="roundRect">
            <a:avLst>
              <a:gd name="adj" fmla="val 6400"/>
            </a:avLst>
          </a:prstGeom>
          <a:solidFill>
            <a:srgbClr val="0F1420"/>
          </a:solidFill>
          <a:ln w="12700">
            <a:solidFill>
              <a:srgbClr val="0F1420"/>
            </a:solidFill>
            <a:prstDash val="solid"/>
          </a:ln>
        </p:spPr>
      </p:sp>
      <p:sp>
        <p:nvSpPr>
          <p:cNvPr id="17" name="Text 13"/>
          <p:cNvSpPr txBox="1"/>
          <p:nvPr/>
        </p:nvSpPr>
        <p:spPr>
          <a:xfrm>
            <a:off x="5166360" y="2770632"/>
            <a:ext cx="3108960" cy="8686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TextNormalizerExecutor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WordCountAnnotatorExecutor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ReportFormatterExecutor ...</a:t>
            </a:r>
            <a:endParaRPr lang="en-US" sz="1100" dirty="0"/>
          </a:p>
        </p:txBody>
      </p:sp>
      <p:sp>
        <p:nvSpPr>
          <p:cNvPr id="18" name="Text 1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19" name="Text 1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BONUS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 agent is an executor too</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ChatClientAgent as a node</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new WorkflowBuilder(greeterAgent) accepts the agent directly. No adapter class.</a:t>
            </a:r>
            <a:endParaRPr lang="en-US" sz="10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TurnToken</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Agent nodes buffer input until a TurnToken arrives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emitEvents: true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Without it, no AgentResponseUpdateEvent is emitted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Downstream agents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feeder sends the ChatMessage, then the TurnToken</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stages, then one streamed agent</a:t>
            </a:r>
            <a:endParaRPr lang="en-US" sz="2800" dirty="0"/>
          </a:p>
        </p:txBody>
      </p:sp>
      <p:sp>
        <p:nvSpPr>
          <p:cNvPr id="4" name="Shape 2"/>
          <p:cNvSpPr/>
          <p:nvPr/>
        </p:nvSpPr>
        <p:spPr>
          <a:xfrm>
            <a:off x="457200" y="1325880"/>
            <a:ext cx="5257800" cy="2392680"/>
          </a:xfrm>
          <a:prstGeom prst="roundRect">
            <a:avLst>
              <a:gd name="adj" fmla="val 3057"/>
            </a:avLst>
          </a:prstGeom>
          <a:solidFill>
            <a:srgbClr val="0F1420"/>
          </a:solidFill>
          <a:ln w="12700">
            <a:solidFill>
              <a:srgbClr val="0F1420"/>
            </a:solidFill>
            <a:prstDash val="solid"/>
          </a:ln>
        </p:spPr>
      </p:sp>
      <p:sp>
        <p:nvSpPr>
          <p:cNvPr id="5" name="Text 3"/>
          <p:cNvSpPr txBox="1"/>
          <p:nvPr/>
        </p:nvSpPr>
        <p:spPr>
          <a:xfrm>
            <a:off x="640080" y="1463040"/>
            <a:ext cx="4892040" cy="2118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Non-streaming execution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Workflow Report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hello world from a workflow (5 words)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Streaming execution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TextNormalizerExecutor completed.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WordCountAnnotatorExecutor completed.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ReportFormatterExecutor completed.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Bonus: a single agent as a workflow node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Well, hello there, World!</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Deterministic</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model call in the main pipeline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Bonus varies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greeter's phrasing is a live model reply</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Conditional edges</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11  </a:t>
            </a:r>
            <a:pPr indent="0" marL="0">
              <a:buNone/>
            </a:pPr>
            <a:r>
              <a:rPr lang="en-US" sz="1250" dirty="0">
                <a:solidFill>
                  <a:srgbClr val="FFFFFF"/>
                </a:solidFill>
                <a:latin typeface="Calibri" pitchFamily="34" charset="0"/>
                <a:ea typeface="Calibri" pitchFamily="34" charset="-122"/>
                <a:cs typeface="Calibri" pitchFamily="34" charset="-120"/>
              </a:rPr>
              <a:t>Edge conditions route tickets, and a missing match filters them</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 as workflow nodes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12  </a:t>
            </a:r>
            <a:pPr indent="0" marL="0">
              <a:buNone/>
            </a:pPr>
            <a:r>
              <a:rPr lang="en-US" sz="1250" dirty="0">
                <a:solidFill>
                  <a:srgbClr val="FFFFFF"/>
                </a:solidFill>
                <a:latin typeface="Calibri" pitchFamily="34" charset="0"/>
                <a:ea typeface="Calibri" pitchFamily="34" charset="-122"/>
                <a:cs typeface="Calibri" pitchFamily="34" charset="-120"/>
              </a:rPr>
              <a:t>BuildSequential chains agents with no hand-wired edges</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Independent branches run in parallel</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13  </a:t>
            </a:r>
            <a:pPr indent="0" marL="0">
              <a:buNone/>
            </a:pPr>
            <a:r>
              <a:rPr lang="en-US" sz="1250" dirty="0">
                <a:solidFill>
                  <a:srgbClr val="FFFFFF"/>
                </a:solidFill>
                <a:latin typeface="Calibri" pitchFamily="34" charset="0"/>
                <a:ea typeface="Calibri" pitchFamily="34" charset="-122"/>
                <a:cs typeface="Calibri" pitchFamily="34" charset="-120"/>
              </a:rPr>
              <a:t>BuildConcurrent runs agents on one input and merges the results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run's event stream</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A RequestInfoEvent pauses the run for a human decision</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Supersteps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A checkpoint is captured after every superstep</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10 — Workflows 101</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 — Workflows 101 (Graph Model)</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2026-10-08T00:09:30Z</dcterms:created>
  <dcterms:modified xsi:type="dcterms:W3CDTF">2026-10-08T00:09:30Z</dcterms:modified>
</cp:coreProperties>
</file>