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role-specialized agents, ProductAgent, EngineeringAgent and DesignAgent, discuss a single feature question in a shared conversational context, each seeing every prior contribution before adding its own perspective. This is different from every other orchestration pattern so far: Lesson 12's sequential chain and Lesson 14's handoff both eventually settle on one agent's answer, and Lesson 13's concurrent pattern keeps agents from seeing each other at all. Group chat is the pattern where multiple agents genuinely converse. The lesson assumes Lessons 12 to 14: AgentWorkflowBuilder, InProcessExecution.RunAsync, and the List&lt;ChatMessage&gt; transcript shape. CreateGroupChatBuilderWith is the fourth sibling builder from that class. Setup is unchanged from Lessons 10 to 14: Microsoft.Agents.AI and Microsoft.Agents.AI.Workflows 1.24.0, which supplies CreateGroupChatBuilderWith and RoundRobinGroupChatManager, plus Microsoft.Extensions.AI.OpenAI 10.10.1 and OpenAI 2.14.0, with OPENAI_API_KEY set.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code, place group chat among the patterns so far. Lesson 12's sequential chain passes each agent the previous one's output and settles on the last agent's answer. Lesson 13's concurrent pattern keeps agents from seeing each other at all. Lesson 14's handoff routes to a single specialist, who gives the answer. Group chat is different: every agent sees the entire conversation before it speaks, and each one adds its own perspective. None of Lesson 13's isolation, none of Lesson 14's single-branch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chat has a genuinely different builder shape than every prior pattern. CreateHandoffBuilderWith takes a single agent; BuildSequential and BuildConcurrent take a plain list of agents. CreateGroupChatBuilderWith takes neither. Its only parameter is a Func from IReadOnlyList&lt;AIAgent&gt; to GroupChatManager: a factory function. Participants are supplied separately, through AddParticipants on the builder it returns. The factory receives that same participant list and is responsible for producing the GroupChatManager that will decide the speaking order. In the code, the lambda's agents parameter is the list the framework passes in once it knows the participants from AddParticipants. The manager factory and the participant list are configured independently, then wired together internally when Build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GroupChatManager is the abstraction for who talks next, and it is pluggable. Its one abstract method is SelectNextAgentAsync, which takes the IReadOnlyList&lt;ChatMessage&gt; history and a CancellationToken and returns a ValueTask&lt;AIAgent&gt;: given everything said so far, pick the next speaker. RoundRobinGroupChatManager, shipped in the package, is the simplest possible implementation: cycle through the participant list in the order it was given, one turn each. Writing a custom GroupChatManager is the natural next step past round robin. Because SelectNextAgentAsync is the only abstract member, a subclass could pick the next speaker based on the conversation's content, for example whoever hasn't spoken yet and is most relevant, instead of a fixed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also decides when the conversation stops. GroupChatManager.MaximumIterationCount defaults to a generous 40 iterations, one agent turn each. That would let a small demo run far longer than intended. This lesson sets MaximumIterationCount to participants.Count explicitly, producing exactly one round-robin round: one turn per agent, then done. RoundRobinGroupChatManager's constructor also takes an optional custom termination function, a Func of the manager, the messages and a CancellationToken returning ValueTask&lt;bool&gt;, for stopping based on the conversation's actual content rather than a fixed turn count. It isn't needed for this bounded one-round demo, but the hook exists for a group chat that should end once, say, the group reaches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sees the entire conversation before it speaks, and the final output is a growing shared transcript. By the time DesignAgent takes its turn, it has the original question, ProductAgent's point and EngineeringAgent's point all in context. Each agent was given a distinct, non-overlapping role, constrained to one lens and one sentence, which is what makes the transcript read like three different perspectives rather than three similar answers. A single InProcessExecution.RunAsync call drives the whole multi-turn conversation: unlike a hand-rolled loop calling each agent yourself, the workflow runs all three turns internally, governed by the manager's SelectNextAgentAsync and ShouldTerminateAsync logic, and returns only once the conversation has stopped. The final WorkflowOutputEvent.Data is a List&lt;ChatMessage&gt;, the same shape every prior orchestration lesson produced, with the question plus one message per participant, in speaking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transcript always contains exactly four messages: the question, then ProductAgent, EngineeringAgent and DesignAgent, in the exact order participants was constructed, because that is what round robin means. The exact wording from each agent will vary between runs, since every contribution is a live model call, but the shape will not. On the slide, lines are rewrapped to fit, and two replies are trimmed with '...': ProductAgent's ends 'especially in low-light conditions', and DesignAgent's ends 'particularly in low-light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lesson's ideas go, and most of them lead straight into Lesson 16. The two-step wiring, a manager supplied first and participants added separately with AddParticipants, reappears in MagenticWorkflowBuilder, except that its first argument is a single fixed manager agent rather than a factory function. Here a GroupChatManager chooses the next speaker by rotation; in Magentic-One the manager is itself an agent that decomposes the goal and directs the specialists. The runaway-cost lesson carries over too: Lesson 16 calls Magentic's unbounded WithMaxRounds the same category of gotcha as MaximumIterationCount defaulting to 40, and caps it with WithMaxRounds and WithMaxStalls. Finally, Lesson 24's series review lists group chat as not needed for the capstone: its Researcher, Analyst and Writer hand off typed results along the edges of one graph rather than sharing a conversation (Lesson 24, review table, row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15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Group Chat Pattern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Agents that genuinely converse in a shared context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Lessons 12–14's AgentWorkflowBuilder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Lesson15-GroupChatPattern/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Building a group chat from a manager factory</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GroupChatManager picks the next speaker</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Capping the conversation before it runs away</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every agent sees the whole transcript</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GROUP CHAT FITS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Who sees what, pattern by pattern</a:t>
            </a:r>
            <a:endParaRPr lang="en-US" sz="2800" dirty="0"/>
          </a:p>
        </p:txBody>
      </p:sp>
      <p:sp>
        <p:nvSpPr>
          <p:cNvPr id="4" name="Shape 2"/>
          <p:cNvSpPr/>
          <p:nvPr/>
        </p:nvSpPr>
        <p:spPr>
          <a:xfrm>
            <a:off x="457200" y="1371600"/>
            <a:ext cx="1851660" cy="2286000"/>
          </a:xfrm>
          <a:prstGeom prst="roundRect">
            <a:avLst>
              <a:gd name="adj" fmla="val 395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Sequential</a:t>
            </a:r>
            <a:endParaRPr lang="en-US" sz="1350" dirty="0"/>
          </a:p>
        </p:txBody>
      </p:sp>
      <p:sp>
        <p:nvSpPr>
          <p:cNvPr id="8" name="Text 5"/>
          <p:cNvSpPr txBox="1"/>
          <p:nvPr/>
        </p:nvSpPr>
        <p:spPr>
          <a:xfrm>
            <a:off x="640080" y="2057400"/>
            <a:ext cx="1485900" cy="1508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12. Each agent sees the previous output</a:t>
            </a:r>
            <a:endParaRPr lang="en-US" sz="1200" dirty="0"/>
          </a:p>
        </p:txBody>
      </p:sp>
      <p:sp>
        <p:nvSpPr>
          <p:cNvPr id="9" name="Shape 6"/>
          <p:cNvSpPr/>
          <p:nvPr/>
        </p:nvSpPr>
        <p:spPr>
          <a:xfrm>
            <a:off x="2583180" y="1371600"/>
            <a:ext cx="1851660" cy="2286000"/>
          </a:xfrm>
          <a:prstGeom prst="roundRect">
            <a:avLst>
              <a:gd name="adj" fmla="val 395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Concurrent</a:t>
            </a:r>
            <a:endParaRPr lang="en-US" sz="1350" dirty="0"/>
          </a:p>
        </p:txBody>
      </p:sp>
      <p:sp>
        <p:nvSpPr>
          <p:cNvPr id="13" name="Text 9"/>
          <p:cNvSpPr txBox="1"/>
          <p:nvPr/>
        </p:nvSpPr>
        <p:spPr>
          <a:xfrm>
            <a:off x="2766060" y="2057400"/>
            <a:ext cx="1485900" cy="1508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13. Agents never see each other</a:t>
            </a:r>
            <a:endParaRPr lang="en-US" sz="1200" dirty="0"/>
          </a:p>
        </p:txBody>
      </p:sp>
      <p:sp>
        <p:nvSpPr>
          <p:cNvPr id="14" name="Shape 10"/>
          <p:cNvSpPr/>
          <p:nvPr/>
        </p:nvSpPr>
        <p:spPr>
          <a:xfrm>
            <a:off x="4709160" y="1371600"/>
            <a:ext cx="1851660" cy="2286000"/>
          </a:xfrm>
          <a:prstGeom prst="roundRect">
            <a:avLst>
              <a:gd name="adj" fmla="val 395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Handoff</a:t>
            </a:r>
            <a:endParaRPr lang="en-US" sz="1400" dirty="0"/>
          </a:p>
        </p:txBody>
      </p:sp>
      <p:sp>
        <p:nvSpPr>
          <p:cNvPr id="18" name="Text 13"/>
          <p:cNvSpPr txBox="1"/>
          <p:nvPr/>
        </p:nvSpPr>
        <p:spPr>
          <a:xfrm>
            <a:off x="4892040" y="2057400"/>
            <a:ext cx="1485900" cy="1508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14. One specialist answers</a:t>
            </a:r>
            <a:endParaRPr lang="en-US" sz="1200" dirty="0"/>
          </a:p>
        </p:txBody>
      </p:sp>
      <p:sp>
        <p:nvSpPr>
          <p:cNvPr id="19" name="Shape 14"/>
          <p:cNvSpPr/>
          <p:nvPr/>
        </p:nvSpPr>
        <p:spPr>
          <a:xfrm>
            <a:off x="6835140" y="1371600"/>
            <a:ext cx="1851660" cy="2286000"/>
          </a:xfrm>
          <a:prstGeom prst="roundRect">
            <a:avLst>
              <a:gd name="adj" fmla="val 3951"/>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Group chat</a:t>
            </a:r>
            <a:endParaRPr lang="en-US" sz="1400" dirty="0"/>
          </a:p>
        </p:txBody>
      </p:sp>
      <p:sp>
        <p:nvSpPr>
          <p:cNvPr id="23" name="Text 17"/>
          <p:cNvSpPr txBox="1"/>
          <p:nvPr/>
        </p:nvSpPr>
        <p:spPr>
          <a:xfrm>
            <a:off x="7018020" y="2057400"/>
            <a:ext cx="1485900" cy="1508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Lesson 15. Everyone sees everything, in turn</a:t>
            </a:r>
            <a:endParaRPr lang="en-US" sz="1200" dirty="0"/>
          </a:p>
        </p:txBody>
      </p:sp>
      <p:sp>
        <p:nvSpPr>
          <p:cNvPr id="24" name="Text 18"/>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Group chat is the first pattern where agents actually converse.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manager factory, not a list of agents</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12–14</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BuildSequential, BuildConcurrent: a list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CreateHandoffBuilderWith: one 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agents are the argument</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CreateGroupChatBuilderWith</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Takes a factory that builds a manager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Participants come from AddParticipants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Wired together when Build runs</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factory receives the participant list and returns the GroupChatManager.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GroupChatManager decides who talks next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650" b="1" dirty="0">
                <a:solidFill>
                  <a:srgbClr val="FFFFFF"/>
                </a:solidFill>
                <a:latin typeface="Calibri" pitchFamily="34" charset="0"/>
                <a:ea typeface="Calibri" pitchFamily="34" charset="-122"/>
                <a:cs typeface="Calibri" pitchFamily="34" charset="-120"/>
              </a:rPr>
              <a:t>GroupChatManager</a:t>
            </a:r>
            <a:endParaRPr lang="en-US" sz="165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Pluggable. Given the history so far, pick the next speaker.</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Next speaker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SelectNextAgentAsync: the one abstract method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Round robin</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RoundRobinGroupChatManager cycles the list in order</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Custom manager</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subclass could pick by content, not rotation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Round robin is the simplest correct manager, not the only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manager also decides when to stop</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Default: 40</a:t>
            </a:r>
            <a:endParaRPr lang="en-US" sz="16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GroupChatManager.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MaximumIterationCount: one agent turn each</a:t>
            </a:r>
            <a:endParaRPr lang="en-US" sz="1200" dirty="0"/>
          </a:p>
        </p:txBody>
      </p:sp>
      <p:sp>
        <p:nvSpPr>
          <p:cNvPr id="9" name="Shape 6"/>
          <p:cNvSpPr/>
          <p:nvPr/>
        </p:nvSpPr>
        <p:spPr>
          <a:xfrm>
            <a:off x="3291840" y="1371600"/>
            <a:ext cx="2560320" cy="2103120"/>
          </a:xfrm>
          <a:prstGeom prst="roundRect">
            <a:avLst>
              <a:gd name="adj" fmla="val 3478"/>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Set: 3</a:t>
            </a:r>
            <a:endParaRPr lang="en-US" sz="16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MaximumIterationCount = participants.Count. One round, one turn each</a:t>
            </a:r>
            <a:endParaRPr lang="en-US" sz="120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Custom stop</a:t>
            </a:r>
            <a:endParaRPr lang="en-US" sz="16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optional constructor function can end on content, such as agreement</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generous default lets a small demo run far longer than intended.</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Each speaker sees everything said before</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question</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"Should we add a dark mode toggle to the app?"</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ProductAgent</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Sees the question. Adds user value</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EngineeringAgent</a:t>
            </a:r>
            <a:endParaRPr lang="en-US" sz="12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Sees the question and Product's point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DesignAgent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Sees all three before adding the UX view</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RunAsync drives every turn. The output is the growing shared transcript.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perspectives, in round-robin order</a:t>
            </a:r>
            <a:endParaRPr lang="en-US" sz="2800" dirty="0"/>
          </a:p>
        </p:txBody>
      </p:sp>
      <p:sp>
        <p:nvSpPr>
          <p:cNvPr id="4" name="Shape 2"/>
          <p:cNvSpPr/>
          <p:nvPr/>
        </p:nvSpPr>
        <p:spPr>
          <a:xfrm>
            <a:off x="457200" y="1325880"/>
            <a:ext cx="52578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48920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Group chat: one round-robin round, three role-based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perspectives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User: Should we add a dark mode toggle to the app?</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[user] Should we add a dark mode toggle to the app?</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[ProductAgent] Dark mode offers users a more comfortable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viewing experience and can reduce eye strain,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[EngineeringAgent] Implementing dark mode will require 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comprehensive theming strategy to ensure consistent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styling across all UI components and assets.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[DesignAgent] A dark mode option provides users with 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personalized viewing experience that reduces eye strain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and improves focus, ...</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Four messages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question plus one per participant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order</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Product, Engineering, Design: the order they were added</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manager wired apart from AddParticipants</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MagenticWorkflowBuilder takes a manager agent, then AddParticipants</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manager chooses the next speaker</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Magentic's manager agent plans the goal and directs specialists</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Cap MaximumIterationCount explicitly</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WithMaxRounds and WithMaxStalls bound Magentic's loop</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Agents conversing in a shared context</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Not needed: capstone agents hand off typed results instead</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2 orchestration toolkit (the capstone uses a typed graph instead)</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15 — Group Chat Pattern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15 — Group Chat Pattern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2026-10-08T00:09:31Z</dcterms:created>
  <dcterms:modified xsi:type="dcterms:W3CDTF">2026-10-08T00:09:31Z</dcterms:modified>
</cp:coreProperties>
</file>