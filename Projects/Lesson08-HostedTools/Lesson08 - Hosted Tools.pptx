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single-purpose agents each get exactly one kind of tool: a local C# function for OpsAgent, OpenAI's hosted web search for ResearchAgent, and OpenAI's hosted code execution for CodeAgent. The point isn't the tools themselves. It's what's fundamentally different about where each one runs, and what you can and cannot see or control as a result. A fourth agent then holds a local tool and a hosted tool at once, and every demo prints the tool activity recorded in its response, so the output proves which tools actually ran instead of asking you to trust the answer text. We assume Lesson 2's local function tools; the lesson is otherwise standalone.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Packages: Microsoft.Agents.AI 1.24.0, Microsoft.Extensions.AI.OpenAI 10.10.1, here over the OpenAI SDK's ResponsesClient, and OpenAI 2.14.0. The hosted-tool markers, HostedWebSearchTool and HostedCodeInterpreterTool, live in Microsoft.Extensions.AI, already a transitive dependency of Microsoft.Agents.AI, and so do WebSearchToolCallContent, CodeInterpreterToolCallContent and CitationAnnotation, the content types ToolActivityReporter reads. Environment: MAF_LLM, which must be OPENAI here, MAF_MODEL, gpt-4.1-mini in the demo, and OPENAI_API_KEY. All three are required. This lesson is OpenAI-only and uses the Responses API. Every other lesson builds its IChatClient with ChatClientFactory over Chat Completions and can switch provider through MAF_LLM. Hosted tools don't fit that shape: OpenAI runs web search and code execution through the Responses API. On Chat Completions gpt-4.1-mini can't use web search and code execution isn't offered at all, and the other providers' OpenAI-compatible endpoints don't run them either. So OpenAIResponsesClientFactory builds the client with GetResponsesClient().AsIChatClient(model) and refuses to start if MAF_LLM names another provider. OPENAI001: OpenAI marks the Responses API, GetResponsesClient and the AsIChatClient overload that wraps it, as experimental, so using it is a compile error until you opt in. OpenAIResponsesClientFactory opts in by suppressing OPENAI001 around those two calls only, with a matching pragma warning restore. And hosted tool calls are billed separately from chat tokens: if ResearchAgent fails or says it can't search, check your OpenAI usage and limits before assuming the code is broken. OpenAIResponsesClientFactory.Create reads MAF_LLM, MAF_MODEL and OPENAI_API_KEY through the same requiredVariable delegate as ChatClientFactory, refuses any provider but OPENAI, and all four agents share the one client it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local function tool's implementation lives in your process. Lesson 2's AIFunctionFactory.Create pattern, reused here as OpsTools.GetOnCallEngineer, means the model asks your process to run a specific method, your process runs it, and your process hands the result back. Every step happens on hardware you control. A hosted tool's implementation lives on the provider's infrastructure, and you write zero code for it. OpenAI does the actual searching or code-running entirely on its own servers. There's no C# method anywhere in this project that performs a web search or executes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HostedWebSearchTool and HostedCodeInterpreterTool aren't implementations of anything; they're markers. Attaching one to an agent tells the underlying IChatClient you're allowed to use your own built-in capability for this. The markers are provider-agnostic: HostedWebSearchTool doesn't name OpenAI anywhere, and the adapter translates the generic marker into its provider's own capability. Over the Responses API, Microsoft.Extensions.AI.OpenAI sends web_search and code_interpreter tool entries. Over Chat Completions the same markers are translated differently or dropped, which is why the API you build the client on matters as much as the provider. ResearchAgent gets new HostedWebSearchTool(), and CodeAgent follows the identical shape with HostedCodeInterpreterTool, which OpenAI runs in a sandbox container it manages.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see what a hosted tool did only through what the provider reports back. A local tool shows up in the response as a FunctionCallContent your own process answered. A hosted tool runs out of sight; the adapter surfaces it as WebSearchToolCallContent or CodeInterpreterToolCallContent, and web results as CitationAnnotations on the answer text. An answer alone proves nothing, because the model could have answered from memory, so ToolActivityReporter.Print walks every AIContent in the response's messages, matches those three content types, and reads each content's Annotations for citations. If it finds nothing, it says the model answered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Hosted tools never reach Lesson 6's function-calling middleware. FunctionCallLoggingMiddleware only fires for AIFunction-typed tools flowing through FunctionInvokingChatClient's local invocation loop. Hosted tools are plain AITool, not AIFunction, and never touch that loop. There's no local invocation to intercept, log, or gate with an approval check, which is the next lesson's topic, Lesson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and hosted tools can share one agent. On OpenAI's Responses API a single request can carry both function declarations and built-in tools, and the model can use both in one run. MixedAgent's tools list combines AIFunctionFactory.Create(OpsTools.GetOnCallEngineer) with new HostedWebSearchTool, and its prompt needs both: who is on call, which is local data, and whether there is current outage news, which needs the live web. Its report shows the local function call and the web search side by side. Not every provider allows the combination, so check before you design around it. Notice too that the agent code never changes shape: every agent is built through the same AgentFactory.CreateAgent call. The only difference between local, hosted and mixed is which kinds of AITool end up in the tools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to reach for each. Prefer a local tool when the capability is your own, such as internal APIs or your data, when you need to log, gate or approve each call, or when the work must stay inside your boundary. Prefer a hosted tool when the capability is generic and the provider already runs it well, such as live web search or sandboxed code execution, and you accept that it runs on the provider's infrastructure, is billed by the provider, and is visible to you only through what the provider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Bracketed lines are placeholders, exactly as the lesson shows them: headlines and sources change daily, and the generated code varies between runs. What to look for is the evidence under each answer: a local function call line for the local tool, source lines for web search, the executed code for code execution, and both kinds together for MixedAgent. Depending on what the provider reports, a web search may also show a hosted web search line with the queries it ran. If a hosted demo prints [tool] none - the model answered on its own, the model chose not to use the tool, and the answer above it is the model's own. On the slide, the two hosted headers and the placeholder answers are trimmed with '...', and the placeholder line for the executed Python code is omitted.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Because a local tool runs in your own process, it can be stopped before it runs: Lesson 9 wraps a local AIFunction in ApprovalRequiredAIFunction, something no hosted tool allows. Reading the response's content to see what happened carries straight into Lesson 9 too, where a paused run returns a ToolApprovalRequestContent instead of an answer. And the local-versus-hosted choice comes back in the capstone: the Researcher's tool comes from a local MCP server, and Lesson 24's series review lists a provider-hosted web search, alongside that MCP tool, as the Researcher's ready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8  ·  PHASE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Hosted Tools</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Tools that run on the provider, not in your process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 2's function tools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Lesson08-HostedTools/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Where a local tool runs, and where a hosted one runs</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Hosted tools as markers, not implementations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Proving which tools ran from the response</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Local and hosted tools on one agent</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When to reach for each</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8 — Hosted Tools</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OpenAI only, on the Responses API</a:t>
            </a:r>
            <a:endParaRPr lang="en-US" sz="2800" dirty="0"/>
          </a:p>
        </p:txBody>
      </p:sp>
      <p:sp>
        <p:nvSpPr>
          <p:cNvPr id="4" name="Shape 2"/>
          <p:cNvSpPr/>
          <p:nvPr/>
        </p:nvSpPr>
        <p:spPr>
          <a:xfrm>
            <a:off x="457200" y="1371600"/>
            <a:ext cx="2560320" cy="2011680"/>
          </a:xfrm>
          <a:prstGeom prst="roundRect">
            <a:avLst>
              <a:gd name="adj" fmla="val 3636"/>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OpenAI only</a:t>
            </a:r>
            <a:endParaRPr lang="en-US" sz="1500" dirty="0"/>
          </a:p>
        </p:txBody>
      </p:sp>
      <p:sp>
        <p:nvSpPr>
          <p:cNvPr id="8" name="Text 5"/>
          <p:cNvSpPr txBox="1"/>
          <p:nvPr/>
        </p:nvSpPr>
        <p:spPr>
          <a:xfrm>
            <a:off x="640080" y="2057400"/>
            <a:ext cx="2194560" cy="123444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OpenAIResponsesClientFactory replaces ChatClientFactory. MAF_LLM must be OPENAI.</a:t>
            </a:r>
            <a:endParaRPr lang="en-US" sz="1100" dirty="0"/>
          </a:p>
        </p:txBody>
      </p:sp>
      <p:sp>
        <p:nvSpPr>
          <p:cNvPr id="9" name="Shape 6"/>
          <p:cNvSpPr/>
          <p:nvPr/>
        </p:nvSpPr>
        <p:spPr>
          <a:xfrm>
            <a:off x="3291840" y="1371600"/>
            <a:ext cx="25603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ourier New" pitchFamily="34" charset="0"/>
                <a:ea typeface="Courier New" pitchFamily="34" charset="-122"/>
                <a:cs typeface="Courier New" pitchFamily="34" charset="-120"/>
              </a:rPr>
              <a:t>OPENAI001</a:t>
            </a:r>
            <a:endParaRPr lang="en-US" sz="1400" dirty="0"/>
          </a:p>
        </p:txBody>
      </p:sp>
      <p:sp>
        <p:nvSpPr>
          <p:cNvPr id="13" name="Text 9"/>
          <p:cNvSpPr txBox="1"/>
          <p:nvPr/>
        </p:nvSpPr>
        <p:spPr>
          <a:xfrm>
            <a:off x="347472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opt-in to OpenAI's experimental Responses API, around two calls</a:t>
            </a:r>
            <a:endParaRPr lang="en-US" sz="1200" dirty="0"/>
          </a:p>
        </p:txBody>
      </p:sp>
      <p:sp>
        <p:nvSpPr>
          <p:cNvPr id="14" name="Shape 10"/>
          <p:cNvSpPr/>
          <p:nvPr/>
        </p:nvSpPr>
        <p:spPr>
          <a:xfrm>
            <a:off x="6126480" y="1371600"/>
            <a:ext cx="2560320" cy="2011680"/>
          </a:xfrm>
          <a:prstGeom prst="roundRect">
            <a:avLst>
              <a:gd name="adj" fmla="val 3636"/>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Hosted markers</a:t>
            </a:r>
            <a:endParaRPr lang="en-US" sz="1500" dirty="0"/>
          </a:p>
        </p:txBody>
      </p:sp>
      <p:sp>
        <p:nvSpPr>
          <p:cNvPr id="18" name="Text 13"/>
          <p:cNvSpPr txBox="1"/>
          <p:nvPr/>
        </p:nvSpPr>
        <p:spPr>
          <a:xfrm>
            <a:off x="630936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HostedWebSearchTool and HostedCodeInterpreterTool, in Microsoft.Extensions.AI</a:t>
            </a:r>
            <a:endParaRPr lang="en-US" sz="1200" dirty="0"/>
          </a:p>
        </p:txBody>
      </p:sp>
      <p:sp>
        <p:nvSpPr>
          <p:cNvPr id="19" name="Text 14"/>
          <p:cNvSpPr txBox="1"/>
          <p:nvPr/>
        </p:nvSpPr>
        <p:spPr>
          <a:xfrm>
            <a:off x="457200" y="361188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Hosted tool calls are billed separately from chat tokens.</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8 — Hosted Tools</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Where the tool actually runs</a:t>
            </a:r>
            <a:endParaRPr lang="en-US" sz="2800" dirty="0"/>
          </a:p>
        </p:txBody>
      </p:sp>
      <p:sp>
        <p:nvSpPr>
          <p:cNvPr id="4" name="Shape 2"/>
          <p:cNvSpPr/>
          <p:nvPr/>
        </p:nvSpPr>
        <p:spPr>
          <a:xfrm>
            <a:off x="457200" y="1371600"/>
            <a:ext cx="3931920" cy="2103120"/>
          </a:xfrm>
          <a:prstGeom prst="roundRect">
            <a:avLst>
              <a:gd name="adj" fmla="val 3478"/>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Local function tool</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Your method, your process, your hardware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asks; your code runs it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OpsTools.GetOnCallEngineer</a:t>
            </a:r>
            <a:endParaRPr lang="en-US" sz="1300" dirty="0"/>
          </a:p>
        </p:txBody>
      </p:sp>
      <p:sp>
        <p:nvSpPr>
          <p:cNvPr id="9" name="Shape 6"/>
          <p:cNvSpPr/>
          <p:nvPr/>
        </p:nvSpPr>
        <p:spPr>
          <a:xfrm>
            <a:off x="4754880" y="1371600"/>
            <a:ext cx="3931920" cy="2103120"/>
          </a:xfrm>
          <a:prstGeom prst="roundRect">
            <a:avLst>
              <a:gd name="adj" fmla="val 3478"/>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Hosted tool</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Runs on the provider's infrastructure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 write zero code for it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Web search and code execution on OpenAI</a:t>
            </a:r>
            <a:endParaRPr lang="en-US" sz="1300" dirty="0"/>
          </a:p>
        </p:txBody>
      </p:sp>
      <p:sp>
        <p:nvSpPr>
          <p:cNvPr id="14" name="Text 10"/>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C# method in this project searches the web or runs Python.</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8 — Hosted Tools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marker, not an implementation</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000" b="1" dirty="0">
                <a:solidFill>
                  <a:srgbClr val="1F2937"/>
                </a:solidFill>
                <a:latin typeface="Calibri" pitchFamily="34" charset="0"/>
                <a:ea typeface="Calibri" pitchFamily="34" charset="-122"/>
                <a:cs typeface="Calibri" pitchFamily="34" charset="-120"/>
              </a:rPr>
              <a:t>HostedWebSearchTool</a:t>
            </a:r>
            <a:endParaRPr lang="en-US" sz="10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Added to tools like any AITool. No method inside.</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IChatClient adapter</a:t>
            </a:r>
            <a:endParaRPr lang="en-US" sz="14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Translates the generic marker for its provider</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Responses API</a:t>
            </a:r>
            <a:endParaRPr lang="en-US" sz="15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Sends a web_search or code_interpreter entry</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OpenAI runs it</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 its own servers, billed by OpenAI</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Over Chat Completions the same marker is translated differently or dropped.</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8 — Hosted Tools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Evidence, not trust</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68580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ToolActivityReporter</a:t>
            </a:r>
            <a:endParaRPr lang="en-US" sz="1350" dirty="0"/>
          </a:p>
        </p:txBody>
      </p:sp>
      <p:sp>
        <p:nvSpPr>
          <p:cNvPr id="8" name="Text 5"/>
          <p:cNvSpPr txBox="1"/>
          <p:nvPr/>
        </p:nvSpPr>
        <p:spPr>
          <a:xfrm>
            <a:off x="685800" y="2990088"/>
            <a:ext cx="2057400"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Walks every AIContent in the response and prints what ran</a:t>
            </a:r>
            <a:endParaRPr lang="en-US" sz="12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Local call</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FunctionCallContent your process answered</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Web search</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WebSearchToolCallContent, with its queries</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Code run</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CodeInterpreterToolCallContent, with the code</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Citations</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CitationAnnotation on the answer: [source] lines</a:t>
            </a:r>
            <a:endParaRPr lang="en-US" sz="1200" dirty="0"/>
          </a:p>
        </p:txBody>
      </p:sp>
      <p:sp>
        <p:nvSpPr>
          <p:cNvPr id="33" name="Text 26"/>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An answer alone proves nothing. The model could have answered from memory.</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8 — Hosted Tools</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Hosted tools skip your local loop</a:t>
            </a:r>
            <a:endParaRPr lang="en-US" sz="2800" dirty="0"/>
          </a:p>
        </p:txBody>
      </p:sp>
      <p:sp>
        <p:nvSpPr>
          <p:cNvPr id="4" name="Shape 2"/>
          <p:cNvSpPr/>
          <p:nvPr/>
        </p:nvSpPr>
        <p:spPr>
          <a:xfrm>
            <a:off x="457200" y="1371600"/>
            <a:ext cx="2560320" cy="2011680"/>
          </a:xfrm>
          <a:prstGeom prst="roundRect">
            <a:avLst>
              <a:gd name="adj" fmla="val 363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Lesson 6 middleware</a:t>
            </a:r>
            <a:endParaRPr lang="en-US" sz="1500" dirty="0"/>
          </a:p>
        </p:txBody>
      </p:sp>
      <p:sp>
        <p:nvSpPr>
          <p:cNvPr id="8" name="Text 5"/>
          <p:cNvSpPr txBox="1"/>
          <p:nvPr/>
        </p:nvSpPr>
        <p:spPr>
          <a:xfrm>
            <a:off x="64008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Function-call logging fires only for AIFunction calls</a:t>
            </a:r>
            <a:endParaRPr lang="en-US" sz="1200" dirty="0"/>
          </a:p>
        </p:txBody>
      </p:sp>
      <p:sp>
        <p:nvSpPr>
          <p:cNvPr id="9" name="Shape 6"/>
          <p:cNvSpPr/>
          <p:nvPr/>
        </p:nvSpPr>
        <p:spPr>
          <a:xfrm>
            <a:off x="3291840" y="1371600"/>
            <a:ext cx="25603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Lesson 9 approvals</a:t>
            </a:r>
            <a:endParaRPr lang="en-US" sz="1500" dirty="0"/>
          </a:p>
        </p:txBody>
      </p:sp>
      <p:sp>
        <p:nvSpPr>
          <p:cNvPr id="13" name="Text 9"/>
          <p:cNvSpPr txBox="1"/>
          <p:nvPr/>
        </p:nvSpPr>
        <p:spPr>
          <a:xfrm>
            <a:off x="347472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Nothing runs locally, so there is nothing to gate</a:t>
            </a:r>
            <a:endParaRPr lang="en-US" sz="1200" dirty="0"/>
          </a:p>
        </p:txBody>
      </p:sp>
      <p:sp>
        <p:nvSpPr>
          <p:cNvPr id="14" name="Shape 10"/>
          <p:cNvSpPr/>
          <p:nvPr/>
        </p:nvSpPr>
        <p:spPr>
          <a:xfrm>
            <a:off x="6126480" y="1371600"/>
            <a:ext cx="2560320" cy="2011680"/>
          </a:xfrm>
          <a:prstGeom prst="roundRect">
            <a:avLst>
              <a:gd name="adj" fmla="val 3636"/>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Plain AITool</a:t>
            </a:r>
            <a:endParaRPr lang="en-US" sz="1500" dirty="0"/>
          </a:p>
        </p:txBody>
      </p:sp>
      <p:sp>
        <p:nvSpPr>
          <p:cNvPr id="18" name="Text 13"/>
          <p:cNvSpPr txBox="1"/>
          <p:nvPr/>
        </p:nvSpPr>
        <p:spPr>
          <a:xfrm>
            <a:off x="6309360" y="2057400"/>
            <a:ext cx="2194560" cy="12344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A hosted tool is not an AIFunction. It never enters FunctionInvokingChatClient.</a:t>
            </a:r>
            <a:endParaRPr lang="en-US" sz="1150" dirty="0"/>
          </a:p>
        </p:txBody>
      </p:sp>
      <p:sp>
        <p:nvSpPr>
          <p:cNvPr id="19" name="Text 14"/>
          <p:cNvSpPr txBox="1"/>
          <p:nvPr/>
        </p:nvSpPr>
        <p:spPr>
          <a:xfrm>
            <a:off x="457200" y="361188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Need to log, gate or approve each call? That calls for a local tool.</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8 — Hosted Tools</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Both kinds on one agent</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One prompt</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Who is on call, and is there outage news?</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Local lookup</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GetOnCallEngineer answers who is on call</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Hosted search</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Web search finds current Azure outage news</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MixedAgent</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One answer, with both kinds of evidence</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Responses API allows both in one request. Not every provider does.</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8 — Hosted Tools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When to reach for each</a:t>
            </a:r>
            <a:endParaRPr lang="en-US" sz="2800" dirty="0"/>
          </a:p>
        </p:txBody>
      </p:sp>
      <p:sp>
        <p:nvSpPr>
          <p:cNvPr id="4" name="Shape 2"/>
          <p:cNvSpPr/>
          <p:nvPr/>
        </p:nvSpPr>
        <p:spPr>
          <a:xfrm>
            <a:off x="457200" y="1371600"/>
            <a:ext cx="3931920" cy="2286000"/>
          </a:xfrm>
          <a:prstGeom prst="roundRect">
            <a:avLst>
              <a:gd name="adj" fmla="val 3200"/>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Choose local</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capability is your own: internal APIs, your data</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 must log, gate or approve each call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work must stay inside your boundary</a:t>
            </a:r>
            <a:endParaRPr lang="en-US" sz="1300" dirty="0"/>
          </a:p>
        </p:txBody>
      </p:sp>
      <p:sp>
        <p:nvSpPr>
          <p:cNvPr id="9" name="Shape 6"/>
          <p:cNvSpPr/>
          <p:nvPr/>
        </p:nvSpPr>
        <p:spPr>
          <a:xfrm>
            <a:off x="4754880" y="1371600"/>
            <a:ext cx="3931920" cy="2286000"/>
          </a:xfrm>
          <a:prstGeom prst="roundRect">
            <a:avLst>
              <a:gd name="adj" fmla="val 320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Choose hosted</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capability is generic and well run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Live web search, sandboxed code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 accept provider billing and visibility</a:t>
            </a:r>
            <a:endParaRPr lang="en-US" sz="13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8 — Hosted Tools</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Every answer shows its evidence</a:t>
            </a:r>
            <a:endParaRPr lang="en-US" sz="2800" dirty="0"/>
          </a:p>
        </p:txBody>
      </p:sp>
      <p:sp>
        <p:nvSpPr>
          <p:cNvPr id="4" name="Shape 2"/>
          <p:cNvSpPr/>
          <p:nvPr/>
        </p:nvSpPr>
        <p:spPr>
          <a:xfrm>
            <a:off x="457200" y="1325880"/>
            <a:ext cx="5257800" cy="2194560"/>
          </a:xfrm>
          <a:prstGeom prst="roundRect">
            <a:avLst>
              <a:gd name="adj" fmla="val 3333"/>
            </a:avLst>
          </a:prstGeom>
          <a:solidFill>
            <a:srgbClr val="0F1420"/>
          </a:solidFill>
          <a:ln w="12700">
            <a:solidFill>
              <a:srgbClr val="0F1420"/>
            </a:solidFill>
            <a:prstDash val="solid"/>
          </a:ln>
        </p:spPr>
      </p:sp>
      <p:sp>
        <p:nvSpPr>
          <p:cNvPr id="5" name="Text 3"/>
          <p:cNvSpPr txBox="1"/>
          <p:nvPr/>
        </p:nvSpPr>
        <p:spPr>
          <a:xfrm>
            <a:off x="640080" y="1463040"/>
            <a:ext cx="4892040" cy="1920240"/>
          </a:xfrm>
          <a:prstGeom prst="rect">
            <a:avLst/>
          </a:prstGeom>
          <a:noFill/>
          <a:ln/>
        </p:spPr>
        <p:txBody>
          <a:bodyPr wrap="square" lIns="0" tIns="0" rIns="0" bIns="0" rtlCol="0" anchor="t"/>
          <a:lstStyle/>
          <a:p>
            <a:pPr indent="0" marL="0">
              <a:buNone/>
            </a:pPr>
            <a:r>
              <a:rPr lang="en-US" sz="900" b="1" dirty="0">
                <a:solidFill>
                  <a:srgbClr val="F5A623"/>
                </a:solidFill>
                <a:latin typeface="Courier New" pitchFamily="34" charset="0"/>
                <a:ea typeface="Courier New" pitchFamily="34" charset="-122"/>
                <a:cs typeface="Courier New" pitchFamily="34" charset="-120"/>
              </a:rPr>
              <a:t>=== Local function tool (runs in this process) ===</a:t>
            </a:r>
            <a:endParaRPr lang="en-US" sz="900" dirty="0"/>
          </a:p>
          <a:p>
            <a:pPr indent="0" marL="0">
              <a:buNone/>
            </a:pPr>
            <a:r>
              <a:rPr lang="en-US" sz="900" dirty="0">
                <a:solidFill>
                  <a:srgbClr val="9FE6B8"/>
                </a:solidFill>
                <a:latin typeface="Courier New" pitchFamily="34" charset="0"/>
                <a:ea typeface="Courier New" pitchFamily="34" charset="-122"/>
                <a:cs typeface="Courier New" pitchFamily="34" charset="-120"/>
              </a:rPr>
              <a:t>Priya Patel is currently on call for the Payments team.</a:t>
            </a:r>
            <a:endParaRPr lang="en-US" sz="900" dirty="0"/>
          </a:p>
          <a:p>
            <a:pPr indent="0" marL="0">
              <a:buNone/>
            </a:pPr>
            <a:r>
              <a:rPr lang="en-US" sz="900" dirty="0">
                <a:solidFill>
                  <a:srgbClr val="D7E3F4"/>
                </a:solidFill>
                <a:latin typeface="Courier New" pitchFamily="34" charset="0"/>
                <a:ea typeface="Courier New" pitchFamily="34" charset="-122"/>
                <a:cs typeface="Courier New" pitchFamily="34" charset="-120"/>
              </a:rPr>
              <a:t>  [tool] local function call: GetOnCallEngineer</a:t>
            </a:r>
            <a:endParaRPr lang="en-US" sz="900" dirty="0"/>
          </a:p>
          <a:p>
            <a:pPr indent="0" marL="0">
              <a:buNone/>
            </a:pPr>
            <a:r>
              <a:rPr lang="en-US" sz="900" b="1" dirty="0">
                <a:solidFill>
                  <a:srgbClr val="F5A623"/>
                </a:solidFill>
                <a:latin typeface="Courier New" pitchFamily="34" charset="0"/>
                <a:ea typeface="Courier New" pitchFamily="34" charset="-122"/>
                <a:cs typeface="Courier New" pitchFamily="34" charset="-120"/>
              </a:rPr>
              <a:t>=== Hosted web search tool (runs on OpenAI's ...) ===</a:t>
            </a:r>
            <a:endParaRPr lang="en-US" sz="900" dirty="0"/>
          </a:p>
          <a:p>
            <a:pPr indent="0" marL="0">
              <a:buNone/>
            </a:pPr>
            <a:r>
              <a:rPr lang="en-US" sz="900" dirty="0">
                <a:solidFill>
                  <a:srgbClr val="9FE6B8"/>
                </a:solidFill>
                <a:latin typeface="Courier New" pitchFamily="34" charset="0"/>
                <a:ea typeface="Courier New" pitchFamily="34" charset="-122"/>
                <a:cs typeface="Courier New" pitchFamily="34" charset="-120"/>
              </a:rPr>
              <a:t>[A current .NET headline from the past week, ...]</a:t>
            </a:r>
            <a:endParaRPr lang="en-US" sz="900" dirty="0"/>
          </a:p>
          <a:p>
            <a:pPr indent="0" marL="0">
              <a:buNone/>
            </a:pPr>
            <a:r>
              <a:rPr lang="en-US" sz="900" dirty="0">
                <a:solidFill>
                  <a:srgbClr val="D7E3F4"/>
                </a:solidFill>
                <a:latin typeface="Courier New" pitchFamily="34" charset="0"/>
                <a:ea typeface="Courier New" pitchFamily="34" charset="-122"/>
                <a:cs typeface="Courier New" pitchFamily="34" charset="-120"/>
              </a:rPr>
              <a:t>  [source] [Article title] - [https://...]</a:t>
            </a:r>
            <a:endParaRPr lang="en-US" sz="900" dirty="0"/>
          </a:p>
          <a:p>
            <a:pPr indent="0" marL="0">
              <a:buNone/>
            </a:pPr>
            <a:r>
              <a:rPr lang="en-US" sz="900" b="1" dirty="0">
                <a:solidFill>
                  <a:srgbClr val="F5A623"/>
                </a:solidFill>
                <a:latin typeface="Courier New" pitchFamily="34" charset="0"/>
                <a:ea typeface="Courier New" pitchFamily="34" charset="-122"/>
                <a:cs typeface="Courier New" pitchFamily="34" charset="-120"/>
              </a:rPr>
              <a:t>=== Hosted code execution tool (runs on OpenAI's ...) ===</a:t>
            </a:r>
            <a:endParaRPr lang="en-US" sz="900" dirty="0"/>
          </a:p>
          <a:p>
            <a:pPr indent="0" marL="0">
              <a:buNone/>
            </a:pPr>
            <a:r>
              <a:rPr lang="en-US" sz="900" dirty="0">
                <a:solidFill>
                  <a:srgbClr val="9FE6B8"/>
                </a:solidFill>
                <a:latin typeface="Courier New" pitchFamily="34" charset="0"/>
                <a:ea typeface="Courier New" pitchFamily="34" charset="-122"/>
                <a:cs typeface="Courier New" pitchFamily="34" charset="-120"/>
              </a:rPr>
              <a:t>The 15th Fibonacci number is 610.</a:t>
            </a:r>
            <a:endParaRPr lang="en-US" sz="900" dirty="0"/>
          </a:p>
          <a:p>
            <a:pPr indent="0" marL="0">
              <a:buNone/>
            </a:pPr>
            <a:r>
              <a:rPr lang="en-US" sz="900" dirty="0">
                <a:solidFill>
                  <a:srgbClr val="D7E3F4"/>
                </a:solidFill>
                <a:latin typeface="Courier New" pitchFamily="34" charset="0"/>
                <a:ea typeface="Courier New" pitchFamily="34" charset="-122"/>
                <a:cs typeface="Courier New" pitchFamily="34" charset="-120"/>
              </a:rPr>
              <a:t>  [tool] hosted code execution:</a:t>
            </a:r>
            <a:endParaRPr lang="en-US" sz="900" dirty="0"/>
          </a:p>
          <a:p>
            <a:pPr indent="0" marL="0">
              <a:buNone/>
            </a:pPr>
            <a:r>
              <a:rPr lang="en-US" sz="900" b="1" dirty="0">
                <a:solidFill>
                  <a:srgbClr val="F5A623"/>
                </a:solidFill>
                <a:latin typeface="Courier New" pitchFamily="34" charset="0"/>
                <a:ea typeface="Courier New" pitchFamily="34" charset="-122"/>
                <a:cs typeface="Courier New" pitchFamily="34" charset="-120"/>
              </a:rPr>
              <a:t>=== A local tool and a hosted tool on one agent ===</a:t>
            </a:r>
            <a:endParaRPr lang="en-US" sz="900" dirty="0"/>
          </a:p>
          <a:p>
            <a:pPr indent="0" marL="0">
              <a:buNone/>
            </a:pPr>
            <a:r>
              <a:rPr lang="en-US" sz="900" dirty="0">
                <a:solidFill>
                  <a:srgbClr val="9FE6B8"/>
                </a:solidFill>
                <a:latin typeface="Courier New" pitchFamily="34" charset="0"/>
                <a:ea typeface="Courier New" pitchFamily="34" charset="-122"/>
                <a:cs typeface="Courier New" pitchFamily="34" charset="-120"/>
              </a:rPr>
              <a:t>[Jordan Lee is on call for the Platform team, ...]</a:t>
            </a:r>
            <a:endParaRPr lang="en-US" sz="900" dirty="0"/>
          </a:p>
          <a:p>
            <a:pPr indent="0" marL="0">
              <a:buNone/>
            </a:pPr>
            <a:r>
              <a:rPr lang="en-US" sz="900" dirty="0">
                <a:solidFill>
                  <a:srgbClr val="D7E3F4"/>
                </a:solidFill>
                <a:latin typeface="Courier New" pitchFamily="34" charset="0"/>
                <a:ea typeface="Courier New" pitchFamily="34" charset="-122"/>
                <a:cs typeface="Courier New" pitchFamily="34" charset="-120"/>
              </a:rPr>
              <a:t>  [tool] local function call: GetOnCallEngineer</a:t>
            </a:r>
            <a:endParaRPr lang="en-US" sz="900" dirty="0"/>
          </a:p>
          <a:p>
            <a:pPr indent="0" marL="0">
              <a:buNone/>
            </a:pPr>
            <a:r>
              <a:rPr lang="en-US" sz="900" dirty="0">
                <a:solidFill>
                  <a:srgbClr val="D7E3F4"/>
                </a:solidFill>
                <a:latin typeface="Courier New" pitchFamily="34" charset="0"/>
                <a:ea typeface="Courier New" pitchFamily="34" charset="-122"/>
                <a:cs typeface="Courier New" pitchFamily="34" charset="-120"/>
              </a:rPr>
              <a:t>  [source] [Article title] - [https://...]</a:t>
            </a:r>
            <a:endParaRPr lang="en-US" sz="9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Local</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local function call line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Hosted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[source] lines or the code that ran</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Mixed</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Both kinds under one answer</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8 — Hosted Tools</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621792"/>
          </a:xfrm>
          <a:prstGeom prst="roundRect">
            <a:avLst>
              <a:gd name="adj" fmla="val 11765"/>
            </a:avLst>
          </a:prstGeom>
          <a:solidFill>
            <a:srgbClr val="1F2943"/>
          </a:solidFill>
          <a:ln w="12700">
            <a:solidFill>
              <a:srgbClr val="1F2943"/>
            </a:solidFill>
            <a:prstDash val="solid"/>
          </a:ln>
        </p:spPr>
      </p:sp>
      <p:sp>
        <p:nvSpPr>
          <p:cNvPr id="5" name="Text 3"/>
          <p:cNvSpPr txBox="1"/>
          <p:nvPr/>
        </p:nvSpPr>
        <p:spPr>
          <a:xfrm>
            <a:off x="621792" y="1234440"/>
            <a:ext cx="265176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Local tools run in your process</a:t>
            </a:r>
            <a:endParaRPr lang="en-US" sz="1300" dirty="0"/>
          </a:p>
        </p:txBody>
      </p:sp>
      <p:sp>
        <p:nvSpPr>
          <p:cNvPr id="6" name="Shape 4"/>
          <p:cNvSpPr/>
          <p:nvPr/>
        </p:nvSpPr>
        <p:spPr>
          <a:xfrm>
            <a:off x="3493008" y="1453896"/>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6217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9  </a:t>
            </a:r>
            <a:pPr indent="0" marL="0">
              <a:buNone/>
            </a:pPr>
            <a:r>
              <a:rPr lang="en-US" sz="1250" dirty="0">
                <a:solidFill>
                  <a:srgbClr val="FFFFFF"/>
                </a:solidFill>
                <a:latin typeface="Calibri" pitchFamily="34" charset="0"/>
                <a:ea typeface="Calibri" pitchFamily="34" charset="-122"/>
                <a:cs typeface="Calibri" pitchFamily="34" charset="-120"/>
              </a:rPr>
              <a:t>ApprovalRequiredAIFunction gates a local AIFunction before it runs</a:t>
            </a:r>
            <a:endParaRPr lang="en-US" sz="1250" dirty="0"/>
          </a:p>
        </p:txBody>
      </p:sp>
      <p:sp>
        <p:nvSpPr>
          <p:cNvPr id="8" name="Shape 6"/>
          <p:cNvSpPr/>
          <p:nvPr/>
        </p:nvSpPr>
        <p:spPr>
          <a:xfrm>
            <a:off x="457200" y="1965960"/>
            <a:ext cx="2926080" cy="621792"/>
          </a:xfrm>
          <a:prstGeom prst="roundRect">
            <a:avLst>
              <a:gd name="adj" fmla="val 11765"/>
            </a:avLst>
          </a:prstGeom>
          <a:solidFill>
            <a:srgbClr val="1F2943"/>
          </a:solidFill>
          <a:ln w="12700">
            <a:solidFill>
              <a:srgbClr val="1F2943"/>
            </a:solidFill>
            <a:prstDash val="solid"/>
          </a:ln>
        </p:spPr>
      </p:sp>
      <p:sp>
        <p:nvSpPr>
          <p:cNvPr id="9" name="Text 7"/>
          <p:cNvSpPr txBox="1"/>
          <p:nvPr/>
        </p:nvSpPr>
        <p:spPr>
          <a:xfrm>
            <a:off x="621792" y="1965960"/>
            <a:ext cx="265176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Tool activity is response content</a:t>
            </a:r>
            <a:endParaRPr lang="en-US" sz="1300" dirty="0"/>
          </a:p>
        </p:txBody>
      </p:sp>
      <p:sp>
        <p:nvSpPr>
          <p:cNvPr id="10" name="Shape 8"/>
          <p:cNvSpPr/>
          <p:nvPr/>
        </p:nvSpPr>
        <p:spPr>
          <a:xfrm>
            <a:off x="3493008" y="2185416"/>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965960"/>
            <a:ext cx="4709160" cy="6217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9  </a:t>
            </a:r>
            <a:pPr indent="0" marL="0">
              <a:buNone/>
            </a:pPr>
            <a:r>
              <a:rPr lang="en-US" sz="1250" dirty="0">
                <a:solidFill>
                  <a:srgbClr val="FFFFFF"/>
                </a:solidFill>
                <a:latin typeface="Calibri" pitchFamily="34" charset="0"/>
                <a:ea typeface="Calibri" pitchFamily="34" charset="-122"/>
                <a:cs typeface="Calibri" pitchFamily="34" charset="-120"/>
              </a:rPr>
              <a:t>A pending approval arrives as ToolApprovalRequestContent</a:t>
            </a:r>
            <a:endParaRPr lang="en-US" sz="1250" dirty="0"/>
          </a:p>
        </p:txBody>
      </p:sp>
      <p:sp>
        <p:nvSpPr>
          <p:cNvPr id="12" name="Shape 10"/>
          <p:cNvSpPr/>
          <p:nvPr/>
        </p:nvSpPr>
        <p:spPr>
          <a:xfrm>
            <a:off x="457200" y="2697480"/>
            <a:ext cx="2926080" cy="621792"/>
          </a:xfrm>
          <a:prstGeom prst="roundRect">
            <a:avLst>
              <a:gd name="adj" fmla="val 11765"/>
            </a:avLst>
          </a:prstGeom>
          <a:solidFill>
            <a:srgbClr val="1F2943"/>
          </a:solidFill>
          <a:ln w="12700">
            <a:solidFill>
              <a:srgbClr val="1F2943"/>
            </a:solidFill>
            <a:prstDash val="solid"/>
          </a:ln>
        </p:spPr>
      </p:sp>
      <p:sp>
        <p:nvSpPr>
          <p:cNvPr id="13" name="Text 11"/>
          <p:cNvSpPr txBox="1"/>
          <p:nvPr/>
        </p:nvSpPr>
        <p:spPr>
          <a:xfrm>
            <a:off x="621792" y="2697480"/>
            <a:ext cx="265176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Choosing local or hosted</a:t>
            </a:r>
            <a:endParaRPr lang="en-US" sz="1300" dirty="0"/>
          </a:p>
        </p:txBody>
      </p:sp>
      <p:sp>
        <p:nvSpPr>
          <p:cNvPr id="14" name="Shape 12"/>
          <p:cNvSpPr/>
          <p:nvPr/>
        </p:nvSpPr>
        <p:spPr>
          <a:xfrm>
            <a:off x="3493008" y="291693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697480"/>
            <a:ext cx="4709160" cy="6217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The review: hosted web search is ready for the Researcher</a:t>
            </a:r>
            <a:endParaRPr lang="en-US" sz="1250" dirty="0"/>
          </a:p>
        </p:txBody>
      </p:sp>
      <p:sp>
        <p:nvSpPr>
          <p:cNvPr id="16" name="Text 14"/>
          <p:cNvSpPr txBox="1"/>
          <p:nvPr/>
        </p:nvSpPr>
        <p:spPr>
          <a:xfrm>
            <a:off x="457200" y="361188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1 — a single governed agent; a next step for the capstone</a:t>
            </a:r>
            <a:endParaRPr lang="en-US" sz="1300" dirty="0"/>
          </a:p>
        </p:txBody>
      </p:sp>
      <p:sp>
        <p:nvSpPr>
          <p:cNvPr id="17"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8 — Hosted Tools</a:t>
            </a:r>
            <a:endParaRPr lang="en-US" sz="900" dirty="0"/>
          </a:p>
        </p:txBody>
      </p:sp>
      <p:sp>
        <p:nvSpPr>
          <p:cNvPr id="18"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8 — Hosted Tools</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2026-10-07T23:53:44Z</dcterms:created>
  <dcterms:modified xsi:type="dcterms:W3CDTF">2026-10-07T23:53:44Z</dcterms:modified>
</cp:coreProperties>
</file>