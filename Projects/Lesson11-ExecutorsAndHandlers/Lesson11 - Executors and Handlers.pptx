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goes beyond Lesson 10's straight-line pipeline. A single TriageExecutor handles two entirely different message types through two separate handlers, and its outgoing edges route each resulting ticket to a different downstream executor based on a condition — or, when no condition matches, drop the message entirely. Four runs against the same workflow shape demonstrate routing, filtering and multi-type dispatch. Prerequisites: Lesson 10's graph model, WorkflowBuilder, Executor, IWorkflowContext and InProcessExecution.RunAsync, and its executor shape — a partial class deriving from Executor with [MessageHandler] methods — which this lesson extends to more than one handler per executor. Setup is Lesson 10's workflow packages: Microsoft.Agents.AI, Microsoft.Agents.AI.Workflows and Microsoft.Agents.AI.Workflows.Generators, all 1.24.0, the generator referenced build-time only with PrivateAssets="all". No ChatClientFactory, no model provider and no API key — every executor is plain C#, so the routing, filtering and multi-type mechanics can be seen in isolation before Lesson 12 reintroduces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executor, multiple handlers, one type per handler. TriageExecutor has two [MessageHandler] methods: HandleTicketAsync, taking a SupportTicket, and HandleFollowUpAsync, taking a TicketFollowUp. At compile time the source generator registers one route per method, keyed on its first parameter's type; at run time the executor looks at the type of whatever message arrives and calls the matching method — there is no manual if (message is X) branching to write. Each handler method can have any name; the input type is what identifies it. This is the Handlers half of the lesson's title: a single node that legitimately speaks more than one message type. And because TriageExecutor is the start executor, a workflow's declared input types come from its handlers: InProcessExecution.RunAsync accepts either a SupportTicket or a TicketFollowUp as the initial input to the exact same built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a property of the edge, not the executor. WorkflowBuilder.AddEdge(triage, urgent, condition) and AddEdge(triage, standard, condition) both originate from TriageExecutor, each guarded by a Func&lt;SupportTicket?, bool&gt;. TriageExecutor has no idea two downstream paths exist — it just returns a ticket, and the graph decides where that ticket goes based on the conditions. Alice's priority-5 ticket satisfies the first condition and reaches UrgentTicketExecutor; Bob's priority-3 ticket satisfies only the second and reaches StandardTicketExecutor. Both terminal executors are registered with WithOutputFrom, so both produce a WorkflowOutputEvent.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Filtering is what happens when no edge condition matches. The conditions are mutually exclusive by construction, with a deliberate gap: &gt;= 4, and &gt;= 2 and &lt; 4, together cover priorities 2 through 5. Carol's priority-1 ticket satisfies neither. TriageExecutor still runs and still returns a ticket, but with no outgoing edge willing to accept it, the message goes nowhere. No exception, no error event — the workflow quietly finishes having produced no WorkflowOutputEvent, so RunOnceAsync's producedOutput flag stays false and it prints the 'filtered out' message. Filtering, in this graph model, is simply the absence of a matching path, not a distinct API to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Handlers can transform between types, not just pass data through. The SupportTicket handler is a no-op pass-through; the TicketFollowUp handler converts an entirely different input type into a SupportTicket by inventing a fixed escalated priority. Both handlers' return type is the same, SupportTicket, which is exactly what lets the same downstream edges apply regardless of which handler produced the ticket. Dana's TicketFollowUp runs against the exact same BuildTriageWorkflow() graph used for the SupportTicket runs, becomes a priority-4 SupportTicket, and takes the same urgent edge as Alice's ticket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type erasure will break input dispatch, so pass the concrete type through. Early testing for this lesson wrapped the run call in a helper typed to accept object, and every single run silently produced zero events — not even a WorkflowStartedEvent. Switching the helper to a generic RunOnceAsync&lt;TInput&gt;(TInput input, ...), preserving the compile-time type all the way into InProcessExecution.RunAsync, fixed it immediately. Every call site lets the compiler infer TInput from the argument, so RunAsync always receives a strongly-typed SupportTicket or TicketFollowUp, never a boxed object. If your own workflow code seems to do nothing at all with no error, check whether the input's static type got erased to object on the way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value here is deterministic — no model call is involved anywhere in this lesson — so this exact output reproduces on every run. Two long lines are wrapped to fit the panel; no words are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today's ideas go next. A workflow's input type comes from its start node; in Lesson 12, agent workflows built by AgentWorkflowBuilder take a ChatMessage and return a List&lt;ChatMessage&gt; transcript. Today's routing is chosen by code, in a condition on the edge; Lesson 14's Handoff Pattern lets the model choose the route at run time, decided fresh on each conversation. Custom nodes and conditional edges in a plain WorkflowBuilder graph come back in Lesson 17: a RequestPort is a node you wire in with AddEdge, and two conditional AddEdge&lt;ReviewDecision&gt; calls send approved facts on to the writer and rejected ones back to the researcher. And the capstone's graph is built from custom executors: in Lesson 23, AnalysisExecutor and WriterExecutor are partial classes whose [MessageHandler] methods call agent.RunAsync, and Lesson 24's review lists Lesson 11 as exactly that — custom nodes, two of them partial with [MessageHandler].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11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Executors &amp; Handlers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Custom nodes that transform, route and filter</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10's linear pipeline</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Lesson11-ExecutorsAndHandlers/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executor with a handler per message type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Transforming one message type into another</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Routing with conditions on the edges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Filtering as the absence of a matching path</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input's static type matters</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11 — Executors &amp; Handlers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executor, a handler per message type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TriageExecutor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Dispatches on the runtime type of each message. No if (message is X) to write.</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SupportTicket</a:t>
            </a:r>
            <a:endParaRPr lang="en-US" sz="13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Handler 1: a pass-through</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TicketFollowUp</a:t>
            </a:r>
            <a:endParaRPr lang="en-US" sz="12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Handler 2: converts to a SupportTicket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Workflow input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Either type can start the same built workflow</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11 — Executors &amp; Handlers</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Routing is a property of the edge</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450" b="1" dirty="0">
                <a:solidFill>
                  <a:srgbClr val="1F2937"/>
                </a:solidFill>
                <a:latin typeface="Calibri" pitchFamily="34" charset="0"/>
                <a:ea typeface="Calibri" pitchFamily="34" charset="-122"/>
                <a:cs typeface="Calibri" pitchFamily="34" charset="-120"/>
              </a:rPr>
              <a:t>SupportTicket</a:t>
            </a:r>
            <a:endParaRPr lang="en-US" sz="145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Alice, priority 5</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TriageExecutor</a:t>
            </a:r>
            <a:endParaRPr lang="en-US" sz="135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Returns the ticket. Knows nothing of the paths.</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Edge conditions</a:t>
            </a:r>
            <a:endParaRPr lang="en-US" sz="15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&gt;= 4 to Urgent</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&gt;= 2 and &lt; 4 to Standard</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UrgentTicket</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Output: URGENT: Alice</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graph decides where the ticket goes, not the executor.</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11 — Executors &amp; Handlers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Filtering is a missing path</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Priority 4–5</a:t>
            </a:r>
            <a:endParaRPr lang="en-US" sz="15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Urgent edge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Alice</a:t>
            </a:r>
            <a:endParaRPr lang="en-US" sz="12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Priority 2–3</a:t>
            </a:r>
            <a:endParaRPr lang="en-US" sz="15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Standard edge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Bob</a:t>
            </a:r>
            <a:endParaRPr lang="en-US" sz="1200" dirty="0"/>
          </a:p>
        </p:txBody>
      </p:sp>
      <p:sp>
        <p:nvSpPr>
          <p:cNvPr id="14" name="Shape 10"/>
          <p:cNvSpPr/>
          <p:nvPr/>
        </p:nvSpPr>
        <p:spPr>
          <a:xfrm>
            <a:off x="6126480" y="1371600"/>
            <a:ext cx="2560320" cy="2011680"/>
          </a:xfrm>
          <a:prstGeom prst="roundRect">
            <a:avLst>
              <a:gd name="adj" fmla="val 363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Priority 1</a:t>
            </a:r>
            <a:endParaRPr lang="en-US" sz="15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No edge matches</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Carol: no output at all</a:t>
            </a:r>
            <a:endParaRPr lang="en-US" sz="120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exception and no error event. The run just finishes.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11 — Executors &amp; Handlers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Handlers can change the message type</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TicketFollowUp</a:t>
            </a:r>
            <a:endParaRPr lang="en-US" sz="135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Dana: "Still not fixed, please help!"</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Handler 2</a:t>
            </a:r>
            <a:endParaRPr lang="en-US" sz="15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Builds a SupportTicket with a fixed priority of 4</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Same edges</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Both handlers return SupportTicket</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Urgent output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URGENT: Dana - [Follow-up] ...</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11 — Executors &amp; Handlers</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Keep the input's concrete type</a:t>
            </a:r>
            <a:endParaRPr lang="en-US" sz="2800" dirty="0"/>
          </a:p>
        </p:txBody>
      </p:sp>
      <p:sp>
        <p:nvSpPr>
          <p:cNvPr id="4" name="Shape 2"/>
          <p:cNvSpPr/>
          <p:nvPr/>
        </p:nvSpPr>
        <p:spPr>
          <a:xfrm>
            <a:off x="457200" y="1371600"/>
            <a:ext cx="3931920" cy="2103120"/>
          </a:xfrm>
          <a:prstGeom prst="roundRect">
            <a:avLst>
              <a:gd name="adj" fmla="val 3478"/>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DC2626"/>
          </a:solidFill>
          <a:ln w="12700">
            <a:solidFill>
              <a:srgbClr val="DC2626"/>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Helper takes object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type is erased on the way in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Zero events, not even WorkflowStartedEvent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error to explain why</a:t>
            </a:r>
            <a:endParaRPr lang="en-US" sz="1300" dirty="0"/>
          </a:p>
        </p:txBody>
      </p:sp>
      <p:sp>
        <p:nvSpPr>
          <p:cNvPr id="9" name="Shape 6"/>
          <p:cNvSpPr/>
          <p:nvPr/>
        </p:nvSpPr>
        <p:spPr>
          <a:xfrm>
            <a:off x="4754880" y="1371600"/>
            <a:ext cx="393192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RunOnceAsync&lt;TInput&gt;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compiler infers TInput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RunAsync sees SupportTicket or TicketFollowUp</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right handler is dispatched</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workflow that silently does nothing? Check for a boxed input.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11 — Executors &amp; Handlers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runs, one workflow shape</a:t>
            </a:r>
            <a:endParaRPr lang="en-US" sz="2800" dirty="0"/>
          </a:p>
        </p:txBody>
      </p:sp>
      <p:sp>
        <p:nvSpPr>
          <p:cNvPr id="4" name="Shape 2"/>
          <p:cNvSpPr/>
          <p:nvPr/>
        </p:nvSpPr>
        <p:spPr>
          <a:xfrm>
            <a:off x="457200" y="1325880"/>
            <a:ext cx="5257800" cy="2392680"/>
          </a:xfrm>
          <a:prstGeom prst="roundRect">
            <a:avLst>
              <a:gd name="adj" fmla="val 3057"/>
            </a:avLst>
          </a:prstGeom>
          <a:solidFill>
            <a:srgbClr val="0F1420"/>
          </a:solidFill>
          <a:ln w="12700">
            <a:solidFill>
              <a:srgbClr val="0F1420"/>
            </a:solidFill>
            <a:prstDash val="solid"/>
          </a:ln>
        </p:spPr>
      </p:sp>
      <p:sp>
        <p:nvSpPr>
          <p:cNvPr id="5" name="Text 3"/>
          <p:cNvSpPr txBox="1"/>
          <p:nvPr/>
        </p:nvSpPr>
        <p:spPr>
          <a:xfrm>
            <a:off x="640080" y="1463040"/>
            <a:ext cx="4892040" cy="21183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Urgent ticket (priority 5)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Output: URGENT: Alice - My payment failed!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Standard ticket (priority 3)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Output: Queued: Bob - Question about my invoice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Low-priority ticket (priority 1) - expect no output ===</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(no output - filtered out, no routing condition</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matched)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Follow-up message (a different input type)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Output: URGENT: Dana - [Follow-up] Still not fixed,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please help!</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Routed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Alice and Bob take different edges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Filtered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Carol's ticket matches no edge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Converted</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Dana's follow-up becomes urgent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11 — Executors &amp; Handlers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587502"/>
          </a:xfrm>
          <a:prstGeom prst="roundRect">
            <a:avLst>
              <a:gd name="adj" fmla="val 12451"/>
            </a:avLst>
          </a:prstGeom>
          <a:solidFill>
            <a:srgbClr val="1F2943"/>
          </a:solidFill>
          <a:ln w="12700">
            <a:solidFill>
              <a:srgbClr val="1F2943"/>
            </a:solidFill>
            <a:prstDash val="solid"/>
          </a:ln>
        </p:spPr>
      </p:sp>
      <p:sp>
        <p:nvSpPr>
          <p:cNvPr id="5" name="Text 3"/>
          <p:cNvSpPr txBox="1"/>
          <p:nvPr/>
        </p:nvSpPr>
        <p:spPr>
          <a:xfrm>
            <a:off x="621792" y="123444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Workflow input comes from the start node</a:t>
            </a:r>
            <a:endParaRPr lang="en-US" sz="1300" dirty="0"/>
          </a:p>
        </p:txBody>
      </p:sp>
      <p:sp>
        <p:nvSpPr>
          <p:cNvPr id="6" name="Shape 4"/>
          <p:cNvSpPr/>
          <p:nvPr/>
        </p:nvSpPr>
        <p:spPr>
          <a:xfrm>
            <a:off x="3493008" y="1436751"/>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12  </a:t>
            </a:r>
            <a:pPr indent="0" marL="0">
              <a:buNone/>
            </a:pPr>
            <a:r>
              <a:rPr lang="en-US" sz="1250" dirty="0">
                <a:solidFill>
                  <a:srgbClr val="FFFFFF"/>
                </a:solidFill>
                <a:latin typeface="Calibri" pitchFamily="34" charset="0"/>
                <a:ea typeface="Calibri" pitchFamily="34" charset="-122"/>
                <a:cs typeface="Calibri" pitchFamily="34" charset="-120"/>
              </a:rPr>
              <a:t>Agent workflows take a ChatMessage and return a transcript</a:t>
            </a:r>
            <a:endParaRPr lang="en-US" sz="1250" dirty="0"/>
          </a:p>
        </p:txBody>
      </p:sp>
      <p:sp>
        <p:nvSpPr>
          <p:cNvPr id="8" name="Shape 6"/>
          <p:cNvSpPr/>
          <p:nvPr/>
        </p:nvSpPr>
        <p:spPr>
          <a:xfrm>
            <a:off x="457200" y="1931670"/>
            <a:ext cx="2926080" cy="587502"/>
          </a:xfrm>
          <a:prstGeom prst="roundRect">
            <a:avLst>
              <a:gd name="adj" fmla="val 12451"/>
            </a:avLst>
          </a:prstGeom>
          <a:solidFill>
            <a:srgbClr val="1F2943"/>
          </a:solidFill>
          <a:ln w="12700">
            <a:solidFill>
              <a:srgbClr val="1F2943"/>
            </a:solidFill>
            <a:prstDash val="solid"/>
          </a:ln>
        </p:spPr>
      </p:sp>
      <p:sp>
        <p:nvSpPr>
          <p:cNvPr id="9" name="Text 7"/>
          <p:cNvSpPr txBox="1"/>
          <p:nvPr/>
        </p:nvSpPr>
        <p:spPr>
          <a:xfrm>
            <a:off x="621792" y="193167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Routing chosen by code on the edge</a:t>
            </a:r>
            <a:endParaRPr lang="en-US" sz="1300" dirty="0"/>
          </a:p>
        </p:txBody>
      </p:sp>
      <p:sp>
        <p:nvSpPr>
          <p:cNvPr id="10" name="Shape 8"/>
          <p:cNvSpPr/>
          <p:nvPr/>
        </p:nvSpPr>
        <p:spPr>
          <a:xfrm>
            <a:off x="3493008" y="2133981"/>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3167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14  </a:t>
            </a:r>
            <a:pPr indent="0" marL="0">
              <a:buNone/>
            </a:pPr>
            <a:r>
              <a:rPr lang="en-US" sz="1250" dirty="0">
                <a:solidFill>
                  <a:srgbClr val="FFFFFF"/>
                </a:solidFill>
                <a:latin typeface="Calibri" pitchFamily="34" charset="0"/>
                <a:ea typeface="Calibri" pitchFamily="34" charset="-122"/>
                <a:cs typeface="Calibri" pitchFamily="34" charset="-120"/>
              </a:rPr>
              <a:t>Handoff lets the model choose the route at run time</a:t>
            </a:r>
            <a:endParaRPr lang="en-US" sz="1250" dirty="0"/>
          </a:p>
        </p:txBody>
      </p:sp>
      <p:sp>
        <p:nvSpPr>
          <p:cNvPr id="12" name="Shape 10"/>
          <p:cNvSpPr/>
          <p:nvPr/>
        </p:nvSpPr>
        <p:spPr>
          <a:xfrm>
            <a:off x="457200" y="2628900"/>
            <a:ext cx="2926080" cy="587502"/>
          </a:xfrm>
          <a:prstGeom prst="roundRect">
            <a:avLst>
              <a:gd name="adj" fmla="val 12451"/>
            </a:avLst>
          </a:prstGeom>
          <a:solidFill>
            <a:srgbClr val="1F2943"/>
          </a:solidFill>
          <a:ln w="12700">
            <a:solidFill>
              <a:srgbClr val="1F2943"/>
            </a:solidFill>
            <a:prstDash val="solid"/>
          </a:ln>
        </p:spPr>
      </p:sp>
      <p:sp>
        <p:nvSpPr>
          <p:cNvPr id="13" name="Text 11"/>
          <p:cNvSpPr txBox="1"/>
          <p:nvPr/>
        </p:nvSpPr>
        <p:spPr>
          <a:xfrm>
            <a:off x="621792" y="262890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Conditional edges in a custom graph</a:t>
            </a:r>
            <a:endParaRPr lang="en-US" sz="1300" dirty="0"/>
          </a:p>
        </p:txBody>
      </p:sp>
      <p:sp>
        <p:nvSpPr>
          <p:cNvPr id="14" name="Shape 12"/>
          <p:cNvSpPr/>
          <p:nvPr/>
        </p:nvSpPr>
        <p:spPr>
          <a:xfrm>
            <a:off x="3493008" y="2831211"/>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2890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17  </a:t>
            </a:r>
            <a:pPr indent="0" marL="0">
              <a:buNone/>
            </a:pPr>
            <a:r>
              <a:rPr lang="en-US" sz="1250" dirty="0">
                <a:solidFill>
                  <a:srgbClr val="FFFFFF"/>
                </a:solidFill>
                <a:latin typeface="Calibri" pitchFamily="34" charset="0"/>
                <a:ea typeface="Calibri" pitchFamily="34" charset="-122"/>
                <a:cs typeface="Calibri" pitchFamily="34" charset="-120"/>
              </a:rPr>
              <a:t>A RequestPort node and conditional edges loop rejected facts back</a:t>
            </a:r>
            <a:endParaRPr lang="en-US" sz="1250" dirty="0"/>
          </a:p>
        </p:txBody>
      </p:sp>
      <p:sp>
        <p:nvSpPr>
          <p:cNvPr id="16" name="Shape 14"/>
          <p:cNvSpPr/>
          <p:nvPr/>
        </p:nvSpPr>
        <p:spPr>
          <a:xfrm>
            <a:off x="457200" y="3326130"/>
            <a:ext cx="2926080" cy="587502"/>
          </a:xfrm>
          <a:prstGeom prst="roundRect">
            <a:avLst>
              <a:gd name="adj" fmla="val 12451"/>
            </a:avLst>
          </a:prstGeom>
          <a:solidFill>
            <a:srgbClr val="1F2943"/>
          </a:solidFill>
          <a:ln w="12700">
            <a:solidFill>
              <a:srgbClr val="1F2943"/>
            </a:solidFill>
            <a:prstDash val="solid"/>
          </a:ln>
        </p:spPr>
      </p:sp>
      <p:sp>
        <p:nvSpPr>
          <p:cNvPr id="17" name="Text 15"/>
          <p:cNvSpPr txBox="1"/>
          <p:nvPr/>
        </p:nvSpPr>
        <p:spPr>
          <a:xfrm>
            <a:off x="621792" y="332613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Custom [MessageHandler] executors</a:t>
            </a:r>
            <a:endParaRPr lang="en-US" sz="1300" dirty="0"/>
          </a:p>
        </p:txBody>
      </p:sp>
      <p:sp>
        <p:nvSpPr>
          <p:cNvPr id="18" name="Shape 16"/>
          <p:cNvSpPr/>
          <p:nvPr/>
        </p:nvSpPr>
        <p:spPr>
          <a:xfrm>
            <a:off x="3493008" y="3528441"/>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32613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AnalysisExecutor and WriterExecutor run agents inside handlers</a:t>
            </a:r>
            <a:endParaRPr lang="en-US" sz="1250" dirty="0"/>
          </a:p>
        </p:txBody>
      </p:sp>
      <p:sp>
        <p:nvSpPr>
          <p:cNvPr id="20" name="Text 18"/>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11 — Executors &amp; Handlers</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 — Executors &amp; Handlers</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2026-10-07T23:53:45Z</dcterms:created>
  <dcterms:modified xsi:type="dcterms:W3CDTF">2026-10-07T23:53:45Z</dcterms:modified>
</cp:coreProperties>
</file>