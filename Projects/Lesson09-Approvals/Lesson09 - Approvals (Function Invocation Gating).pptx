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lesson a WeatherAgent's only tool is wrapped so that every call to it pauses and waits for approval before it actually runs, instead of executing the moment the model decides to call it. This is the first governance layer in the series: a structured pause-and-resume mechanism the caller must satisfy before a tool's side effects happen, and the foundation for the multi-step Human-in-the-Loop pattern in Lesson 17. We assume Lesson 2's local function tools and Lesson 4's AgentSession, since the approve or reject exchange spans two RunAsync calls that must share state. Setup changes nothing: no new packages. Microsoft.Agents.AI 1.24.0, Microsoft.Extensions.AI.OpenAI 10.10.1 and OpenAI 2.14.0 as before, and the approval types live in Microsoft.Extensions.AI, already a transitive dependency. The approval API in one breath: ApprovalRequiredAIFunction wraps a tool so it needs approval before it runs. A pending call comes back as ToolApprovalRequestContent, whose ToolCall property, typed as the general ToolCallContent because approval applies to any tool, not only functions, describes the proposed call. You answer it with a ToolApprovalResponseContent, created by CreateResponse with the decision and a reason. Environment: OPENAI_API_KEY plus the required MAF_LLM and MAF_MODEL.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Gating is applied to the tool, not the agent. The tool is built exactly like any Lesson 2 tool: AIFunctionFactory.Create(WeatherTools.GetWeather) produces a plain AIFunction. Then new ApprovalRequiredAIFunction(weatherFunction) wraps it in a decorator that intercepts invocation. Only the wrapped version goes into the agent's tools list; the agent never sees the unwrapped function. WeatherTools.GetWeather itself has no idea it's gated.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approval-pending run doesn't fail; it pauses. When the model decides to call a gated tool, RunAsync returns normally, but its AgentResponse contains a ToolApprovalRequestContent instead of a final answer, and the tool has not executed. RunApprovalScenarioAsync calls agent.RunAsync(prompt, session) and immediately checks response.Messages for any ToolApprovalRequestContent. For this lesson's prompts there always is one: the model wants to call GetWeather, but the wrapper stops it before it runs. Checking for this content type after every run is how your code tells the agent is done apart from the agent is waiting on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ToolApprovalRequestContent.ToolCall carries the specific proposed call. It is typed as the general ToolCallContent, but for a function tool its runtime type is FunctionCallContent, so a pattern-matching cast, is FunctionCallContent functionCall, unlocks Name and Arguments. That is exactly what gets printed as the approval requested line, standing in for what a real reviewer would see in a UI, and exactly what a human reviewer or an automated policy needs to decide whether the call should proceed.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Resolving the request means building a response and continuing the same session. The decision is simulated with a plain bool parameter; in a real application it would come from an interactive prompt, a review queue or a programmatic policy. Getting the decision is outside MAF's concern. The lesson hardcodes true for Amsterdam and false for Tokyo so both outcomes show in one run. requestContent.CreateResponse(approve, reason) builds a ToolApprovalResponseContent, which is wrapped in a new ChatMessage with ChatRole.User and passed into another RunAsync call on the same AgentSession the request came from, so the agent has the context to resume rather than start over. And two independent sessions keep the scenarios apart: CreateSessionAsync is called fresh inside RunApprovalScenarioAsync for each one, so Tokyo's rejected call has no leftover context from Amsterdam's approved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session also records every approval request it hands out, and an approval response only counts on the session that recorded the matching request. Send the response on a different session and it is ignored: the tool never runs. That is the second reason the lesson resumes on the same AgentSession. The first is context, so the agent picks up rather than starting over; the second is that the session is where the pending request lives, so it is the only place an answer to it means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Rejection doesn't crash anything; the model just finds out its tool call didn't happen. In the second scenario the call is rejected outright, and the agent responds with a plain-language apology instead of weather data. The rejection is ordinary conversational context to the model, not an exception your code has to handle specially. With approval, the second RunAsync runs the now-approved tool and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foundation, not the finished feature. The lesson hand-rolls the simplest possible loop: one gated tool, one pending request, one decision. MAF also ships AIAgentBuilder.UseToolApproval with ToolApprovalAgentOptions.AutoApprovalRules, which layers don't ask again for this tool, or don't ask again with these exact arguments, on top of the same request and response primitive. That's useful once you have more than one gated tool or want to avoid re-prompting for identical, already-trusted calls. Lesson 17 takes the governance instinct up a level, to a checkpoint in a running multi-agent workflow. As Lesson 17 itself points out, that checkpoint works at a different level: a request port in the graph holds one agent's finished output until a person decides where it goes, and the pause belongs to the workflow's Run, not to any agent's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scenario prints the approval request with the proposed tool and arguments, the explicit decision, and then either real weather data or a graceful non-answer. The model's exact rejection wording may vary between runs, because the model chooses its own phrasing; the shape won't. On the slide long lines are wrapped, and the final sentence of the rejection, Please try again later, is trimmed with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approvals go next. The bonus Skills 1 lesson resolves its skill tools with the same ToolApprovalRequestContent and ToolApprovalResponseContent exchange, looping over several pending requests instead of one. Skills 2 adds the layered policy previewed today, UseToolApproval with auto-approval rules. Lesson 17 moves the checkpoint up a level: a request port inside a multi-agent graph pauses the run between the Researcher and the Writer, and the pause belongs to the workflow's Run rather than an agent's session. And the capstone reuses today's two types directly: Lesson 22 designs, and Lesson 23 builds, a report-approval request port typed ToolApprovalRequestContent to ToolApprovalResponseContent, sitting between the Analyst and the Writer. Lesson 24's series review lists them as the same approval contents, now carried by a workflow 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9  ·  PHASE 1</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Approvals</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Function invocation gating: no side effects without a yes</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 2 tools + Lesson 4 sessions</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Lesson09-Approvals/</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Gating a tool with ApprovalRequiredAIFunction</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Telling a paused run from a finished one</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Reading the proposed call a reviewer decides on</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Resuming on the same AgentSession</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a rejection is just conversation</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9 — Approvals</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Gate the tool, not the agent</a:t>
            </a:r>
            <a:endParaRPr lang="en-US" sz="2800" dirty="0"/>
          </a:p>
        </p:txBody>
      </p:sp>
      <p:sp>
        <p:nvSpPr>
          <p:cNvPr id="4" name="Shape 2"/>
          <p:cNvSpPr/>
          <p:nvPr/>
        </p:nvSpPr>
        <p:spPr>
          <a:xfrm>
            <a:off x="457200" y="1417320"/>
            <a:ext cx="1796796" cy="2221992"/>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GetWeather</a:t>
            </a:r>
            <a:endParaRPr lang="en-US" sz="1500" dirty="0"/>
          </a:p>
        </p:txBody>
      </p:sp>
      <p:sp>
        <p:nvSpPr>
          <p:cNvPr id="8" name="Text 5"/>
          <p:cNvSpPr txBox="1"/>
          <p:nvPr/>
        </p:nvSpPr>
        <p:spPr>
          <a:xfrm>
            <a:off x="640080"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An ordinary method. It has no idea it's gated.</a:t>
            </a:r>
            <a:endParaRPr lang="en-US" sz="1200" dirty="0"/>
          </a:p>
        </p:txBody>
      </p:sp>
      <p:sp>
        <p:nvSpPr>
          <p:cNvPr id="9" name="Shape 6"/>
          <p:cNvSpPr/>
          <p:nvPr/>
        </p:nvSpPr>
        <p:spPr>
          <a:xfrm>
            <a:off x="2318004" y="2418588"/>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221992"/>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AIFunction</a:t>
            </a:r>
            <a:endParaRPr lang="en-US" sz="1500" dirty="0"/>
          </a:p>
        </p:txBody>
      </p:sp>
      <p:sp>
        <p:nvSpPr>
          <p:cNvPr id="14" name="Text 10"/>
          <p:cNvSpPr txBox="1"/>
          <p:nvPr/>
        </p:nvSpPr>
        <p:spPr>
          <a:xfrm>
            <a:off x="2784348"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Built with AIFunctionFactory</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.Create, as in Lesson 2</a:t>
            </a:r>
            <a:endParaRPr lang="en-US" sz="1200" dirty="0"/>
          </a:p>
        </p:txBody>
      </p:sp>
      <p:sp>
        <p:nvSpPr>
          <p:cNvPr id="15" name="Shape 11"/>
          <p:cNvSpPr/>
          <p:nvPr/>
        </p:nvSpPr>
        <p:spPr>
          <a:xfrm>
            <a:off x="4462272" y="2418588"/>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221992"/>
          </a:xfrm>
          <a:prstGeom prst="roundRect">
            <a:avLst>
              <a:gd name="adj" fmla="val 4071"/>
            </a:avLst>
          </a:prstGeom>
          <a:solidFill>
            <a:srgbClr val="512BD4"/>
          </a:solidFill>
          <a:ln w="12700">
            <a:solidFill>
              <a:srgbClr val="512BD4"/>
            </a:solidFill>
            <a:prstDash val="solid"/>
          </a:ln>
        </p:spPr>
      </p:sp>
      <p:sp>
        <p:nvSpPr>
          <p:cNvPr id="17" name="Shape 13"/>
          <p:cNvSpPr/>
          <p:nvPr/>
        </p:nvSpPr>
        <p:spPr>
          <a:xfrm>
            <a:off x="4928616" y="1618488"/>
            <a:ext cx="457200" cy="457200"/>
          </a:xfrm>
          <a:prstGeom prst="ellipse">
            <a:avLst/>
          </a:prstGeom>
          <a:solidFill>
            <a:srgbClr val="FFFFFF"/>
          </a:solidFill>
          <a:ln w="12700">
            <a:solidFill>
              <a:srgbClr val="FFFFFF"/>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64008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ApprovalRequired</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AIFunction</a:t>
            </a:r>
            <a:endParaRPr lang="en-US" sz="1200" dirty="0"/>
          </a:p>
        </p:txBody>
      </p:sp>
      <p:sp>
        <p:nvSpPr>
          <p:cNvPr id="20" name="Text 15"/>
          <p:cNvSpPr txBox="1"/>
          <p:nvPr/>
        </p:nvSpPr>
        <p:spPr>
          <a:xfrm>
            <a:off x="4928616" y="2834640"/>
            <a:ext cx="1476756"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 decorator that intercepts invocation</a:t>
            </a:r>
            <a:endParaRPr lang="en-US" sz="1200" dirty="0"/>
          </a:p>
        </p:txBody>
      </p:sp>
      <p:sp>
        <p:nvSpPr>
          <p:cNvPr id="21" name="Shape 16"/>
          <p:cNvSpPr/>
          <p:nvPr/>
        </p:nvSpPr>
        <p:spPr>
          <a:xfrm>
            <a:off x="6606540" y="2418588"/>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221992"/>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6400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WeatherAgent</a:t>
            </a:r>
            <a:endParaRPr lang="en-US" sz="1500" dirty="0"/>
          </a:p>
        </p:txBody>
      </p:sp>
      <p:sp>
        <p:nvSpPr>
          <p:cNvPr id="26" name="Text 20"/>
          <p:cNvSpPr txBox="1"/>
          <p:nvPr/>
        </p:nvSpPr>
        <p:spPr>
          <a:xfrm>
            <a:off x="7072884" y="2834640"/>
            <a:ext cx="1476756"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Sees only the wrapped tool</a:t>
            </a:r>
            <a:endParaRPr lang="en-US" sz="1200" dirty="0"/>
          </a:p>
        </p:txBody>
      </p:sp>
      <p:sp>
        <p:nvSpPr>
          <p:cNvPr id="27" name="Text 21"/>
          <p:cNvSpPr txBox="1"/>
          <p:nvPr/>
        </p:nvSpPr>
        <p:spPr>
          <a:xfrm>
            <a:off x="457200" y="39593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Nothing about the tool's implementation changes.</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9 — Approvals</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gated run pauses, it doesn't fail</a:t>
            </a:r>
            <a:endParaRPr lang="en-US" sz="2800" dirty="0"/>
          </a:p>
        </p:txBody>
      </p:sp>
      <p:sp>
        <p:nvSpPr>
          <p:cNvPr id="4" name="Shape 2"/>
          <p:cNvSpPr/>
          <p:nvPr/>
        </p:nvSpPr>
        <p:spPr>
          <a:xfrm>
            <a:off x="457200" y="1371600"/>
            <a:ext cx="3931920" cy="2606040"/>
          </a:xfrm>
          <a:prstGeom prst="roundRect">
            <a:avLst>
              <a:gd name="adj" fmla="val 2807"/>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Ungated tool</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tool runs the moment it's chosen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RunAsync returns the answer</a:t>
            </a:r>
            <a:endParaRPr lang="en-US" sz="1300" dirty="0"/>
          </a:p>
        </p:txBody>
      </p:sp>
      <p:sp>
        <p:nvSpPr>
          <p:cNvPr id="9" name="Shape 6"/>
          <p:cNvSpPr/>
          <p:nvPr/>
        </p:nvSpPr>
        <p:spPr>
          <a:xfrm>
            <a:off x="4754880" y="1371600"/>
            <a:ext cx="3931920" cy="2606040"/>
          </a:xfrm>
          <a:prstGeom prst="roundRect">
            <a:avLst>
              <a:gd name="adj" fmla="val 2807"/>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Gated tool</a:t>
            </a:r>
            <a:endParaRPr lang="en-US" sz="1700" dirty="0"/>
          </a:p>
        </p:txBody>
      </p:sp>
      <p:sp>
        <p:nvSpPr>
          <p:cNvPr id="13" name="Text 9"/>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RunAsync returns normally, tool not run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response holds a request</a:t>
            </a:r>
            <a:endParaRPr lang="en-US" sz="1300" dirty="0"/>
          </a:p>
        </p:txBody>
      </p:sp>
      <p:sp>
        <p:nvSpPr>
          <p:cNvPr id="14" name="Shape 10"/>
          <p:cNvSpPr/>
          <p:nvPr/>
        </p:nvSpPr>
        <p:spPr>
          <a:xfrm>
            <a:off x="4983480" y="2907792"/>
            <a:ext cx="3474720" cy="868680"/>
          </a:xfrm>
          <a:prstGeom prst="roundRect">
            <a:avLst>
              <a:gd name="adj" fmla="val 8421"/>
            </a:avLst>
          </a:prstGeom>
          <a:solidFill>
            <a:srgbClr val="0F1420"/>
          </a:solidFill>
          <a:ln w="12700">
            <a:solidFill>
              <a:srgbClr val="0F1420"/>
            </a:solidFill>
            <a:prstDash val="solid"/>
          </a:ln>
        </p:spPr>
      </p:sp>
      <p:sp>
        <p:nvSpPr>
          <p:cNvPr id="15" name="Text 11"/>
          <p:cNvSpPr txBox="1"/>
          <p:nvPr/>
        </p:nvSpPr>
        <p:spPr>
          <a:xfrm>
            <a:off x="5166360" y="3044952"/>
            <a:ext cx="3108960" cy="59436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Approval requested to call</a:t>
            </a:r>
            <a:endParaRPr lang="en-US" sz="1100" dirty="0"/>
          </a:p>
          <a:p>
            <a:pPr indent="0" marL="0">
              <a:buNone/>
            </a:pPr>
            <a:r>
              <a:rPr lang="en-US" sz="1100" dirty="0">
                <a:solidFill>
                  <a:srgbClr val="D7E3F4"/>
                </a:solidFill>
                <a:latin typeface="Courier New" pitchFamily="34" charset="0"/>
                <a:ea typeface="Courier New" pitchFamily="34" charset="-122"/>
                <a:cs typeface="Courier New" pitchFamily="34" charset="-120"/>
              </a:rPr>
              <a:t>'GetWeather' with arguments:</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location=Amsterdam</a:t>
            </a:r>
            <a:endParaRPr lang="en-US" sz="1100" dirty="0"/>
          </a:p>
        </p:txBody>
      </p:sp>
      <p:sp>
        <p:nvSpPr>
          <p:cNvPr id="16" name="Text 12"/>
          <p:cNvSpPr txBox="1"/>
          <p:nvPr/>
        </p:nvSpPr>
        <p:spPr>
          <a:xfrm>
            <a:off x="457200" y="425196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Check every response: is the agent done, or waiting on you?</a:t>
            </a:r>
            <a:endParaRPr lang="en-US" sz="1400" dirty="0"/>
          </a:p>
        </p:txBody>
      </p:sp>
      <p:sp>
        <p:nvSpPr>
          <p:cNvPr id="17"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9 — Approvals</a:t>
            </a:r>
            <a:endParaRPr lang="en-US" sz="900" dirty="0"/>
          </a:p>
        </p:txBody>
      </p:sp>
      <p:sp>
        <p:nvSpPr>
          <p:cNvPr id="18"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the reviewer decides on</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68580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ToolApproval</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RequestContent</a:t>
            </a:r>
            <a:endParaRPr lang="en-US" sz="1600" dirty="0"/>
          </a:p>
        </p:txBody>
      </p:sp>
      <p:sp>
        <p:nvSpPr>
          <p:cNvPr id="8" name="Text 5"/>
          <p:cNvSpPr txBox="1"/>
          <p:nvPr/>
        </p:nvSpPr>
        <p:spPr>
          <a:xfrm>
            <a:off x="685800" y="2990088"/>
            <a:ext cx="2057400"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The specific call the model proposed, not yet run</a:t>
            </a:r>
            <a:endParaRPr lang="en-US" sz="1200" dirty="0"/>
          </a:p>
        </p:txBody>
      </p:sp>
      <p:sp>
        <p:nvSpPr>
          <p:cNvPr id="9" name="Shape 6"/>
          <p:cNvSpPr/>
          <p:nvPr/>
        </p:nvSpPr>
        <p:spPr>
          <a:xfrm>
            <a:off x="2926080" y="1645920"/>
            <a:ext cx="502920" cy="0"/>
          </a:xfrm>
          <a:prstGeom prst="line">
            <a:avLst/>
          </a:prstGeom>
          <a:noFill/>
          <a:ln w="25400">
            <a:solidFill>
              <a:srgbClr val="F5A623"/>
            </a:solidFill>
            <a:prstDash val="solid"/>
          </a:ln>
        </p:spPr>
      </p:sp>
      <p:sp>
        <p:nvSpPr>
          <p:cNvPr id="10" name="Shape 7"/>
          <p:cNvSpPr/>
          <p:nvPr/>
        </p:nvSpPr>
        <p:spPr>
          <a:xfrm>
            <a:off x="3429000" y="1417320"/>
            <a:ext cx="5257800" cy="457200"/>
          </a:xfrm>
          <a:prstGeom prst="roundRect">
            <a:avLst>
              <a:gd name="adj" fmla="val 16000"/>
            </a:avLst>
          </a:prstGeom>
          <a:solidFill>
            <a:srgbClr val="EFEBFC"/>
          </a:solidFill>
          <a:ln w="12700">
            <a:solidFill>
              <a:srgbClr val="EFEBFC"/>
            </a:solidFill>
            <a:prstDash val="solid"/>
          </a:ln>
        </p:spPr>
      </p:sp>
      <p:sp>
        <p:nvSpPr>
          <p:cNvPr id="11" name="Shape 8"/>
          <p:cNvSpPr/>
          <p:nvPr/>
        </p:nvSpPr>
        <p:spPr>
          <a:xfrm>
            <a:off x="3593592" y="145389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553748"/>
            <a:ext cx="184343" cy="184343"/>
          </a:xfrm>
          <a:prstGeom prst="rect">
            <a:avLst/>
          </a:prstGeom>
        </p:spPr>
      </p:pic>
      <p:sp>
        <p:nvSpPr>
          <p:cNvPr id="13" name="Text 9"/>
          <p:cNvSpPr txBox="1"/>
          <p:nvPr/>
        </p:nvSpPr>
        <p:spPr>
          <a:xfrm>
            <a:off x="4142232" y="1508760"/>
            <a:ext cx="132588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.ToolCall</a:t>
            </a:r>
            <a:endParaRPr lang="en-US" sz="1500" dirty="0"/>
          </a:p>
        </p:txBody>
      </p:sp>
      <p:sp>
        <p:nvSpPr>
          <p:cNvPr id="14" name="Text 10"/>
          <p:cNvSpPr txBox="1"/>
          <p:nvPr/>
        </p:nvSpPr>
        <p:spPr>
          <a:xfrm>
            <a:off x="5577840" y="150876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Typed as the general ToolCallContent</a:t>
            </a:r>
            <a:endParaRPr lang="en-US" sz="1200" dirty="0"/>
          </a:p>
        </p:txBody>
      </p:sp>
      <p:sp>
        <p:nvSpPr>
          <p:cNvPr id="15" name="Shape 11"/>
          <p:cNvSpPr/>
          <p:nvPr/>
        </p:nvSpPr>
        <p:spPr>
          <a:xfrm>
            <a:off x="2926080" y="2286000"/>
            <a:ext cx="502920" cy="0"/>
          </a:xfrm>
          <a:prstGeom prst="line">
            <a:avLst/>
          </a:prstGeom>
          <a:noFill/>
          <a:ln w="25400">
            <a:solidFill>
              <a:srgbClr val="F5A623"/>
            </a:solidFill>
            <a:prstDash val="solid"/>
          </a:ln>
        </p:spPr>
      </p:sp>
      <p:sp>
        <p:nvSpPr>
          <p:cNvPr id="16" name="Shape 12"/>
          <p:cNvSpPr/>
          <p:nvPr/>
        </p:nvSpPr>
        <p:spPr>
          <a:xfrm>
            <a:off x="3429000" y="2057400"/>
            <a:ext cx="5257800" cy="457200"/>
          </a:xfrm>
          <a:prstGeom prst="roundRect">
            <a:avLst>
              <a:gd name="adj" fmla="val 16000"/>
            </a:avLst>
          </a:prstGeom>
          <a:solidFill>
            <a:srgbClr val="EFEBFC"/>
          </a:solidFill>
          <a:ln w="12700">
            <a:solidFill>
              <a:srgbClr val="EFEBFC"/>
            </a:solidFill>
            <a:prstDash val="solid"/>
          </a:ln>
        </p:spPr>
      </p:sp>
      <p:sp>
        <p:nvSpPr>
          <p:cNvPr id="17" name="Shape 13"/>
          <p:cNvSpPr/>
          <p:nvPr/>
        </p:nvSpPr>
        <p:spPr>
          <a:xfrm>
            <a:off x="3593592" y="209397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193828"/>
            <a:ext cx="184343" cy="184343"/>
          </a:xfrm>
          <a:prstGeom prst="rect">
            <a:avLst/>
          </a:prstGeom>
        </p:spPr>
      </p:pic>
      <p:sp>
        <p:nvSpPr>
          <p:cNvPr id="19" name="Text 14"/>
          <p:cNvSpPr txBox="1"/>
          <p:nvPr/>
        </p:nvSpPr>
        <p:spPr>
          <a:xfrm>
            <a:off x="4142232" y="2148840"/>
            <a:ext cx="132588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Runtime type</a:t>
            </a:r>
            <a:endParaRPr lang="en-US" sz="1500" dirty="0"/>
          </a:p>
        </p:txBody>
      </p:sp>
      <p:sp>
        <p:nvSpPr>
          <p:cNvPr id="20" name="Text 15"/>
          <p:cNvSpPr txBox="1"/>
          <p:nvPr/>
        </p:nvSpPr>
        <p:spPr>
          <a:xfrm>
            <a:off x="5577840" y="214884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FunctionCallContent, for a function tool</a:t>
            </a:r>
            <a:endParaRPr lang="en-US" sz="1200" dirty="0"/>
          </a:p>
        </p:txBody>
      </p:sp>
      <p:sp>
        <p:nvSpPr>
          <p:cNvPr id="21" name="Shape 16"/>
          <p:cNvSpPr/>
          <p:nvPr/>
        </p:nvSpPr>
        <p:spPr>
          <a:xfrm>
            <a:off x="2926080" y="2926080"/>
            <a:ext cx="502920" cy="0"/>
          </a:xfrm>
          <a:prstGeom prst="line">
            <a:avLst/>
          </a:prstGeom>
          <a:noFill/>
          <a:ln w="25400">
            <a:solidFill>
              <a:srgbClr val="F5A623"/>
            </a:solidFill>
            <a:prstDash val="solid"/>
          </a:ln>
        </p:spPr>
      </p:sp>
      <p:sp>
        <p:nvSpPr>
          <p:cNvPr id="22" name="Shape 17"/>
          <p:cNvSpPr/>
          <p:nvPr/>
        </p:nvSpPr>
        <p:spPr>
          <a:xfrm>
            <a:off x="3429000" y="2697480"/>
            <a:ext cx="5257800" cy="457200"/>
          </a:xfrm>
          <a:prstGeom prst="roundRect">
            <a:avLst>
              <a:gd name="adj" fmla="val 16000"/>
            </a:avLst>
          </a:prstGeom>
          <a:solidFill>
            <a:srgbClr val="EFEBFC"/>
          </a:solidFill>
          <a:ln w="12700">
            <a:solidFill>
              <a:srgbClr val="EFEBFC"/>
            </a:solidFill>
            <a:prstDash val="solid"/>
          </a:ln>
        </p:spPr>
      </p:sp>
      <p:sp>
        <p:nvSpPr>
          <p:cNvPr id="23" name="Shape 18"/>
          <p:cNvSpPr/>
          <p:nvPr/>
        </p:nvSpPr>
        <p:spPr>
          <a:xfrm>
            <a:off x="3593592" y="27340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2833908"/>
            <a:ext cx="184343" cy="184343"/>
          </a:xfrm>
          <a:prstGeom prst="rect">
            <a:avLst/>
          </a:prstGeom>
        </p:spPr>
      </p:pic>
      <p:sp>
        <p:nvSpPr>
          <p:cNvPr id="25" name="Text 19"/>
          <p:cNvSpPr txBox="1"/>
          <p:nvPr/>
        </p:nvSpPr>
        <p:spPr>
          <a:xfrm>
            <a:off x="4142232" y="2788920"/>
            <a:ext cx="132588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.Name</a:t>
            </a:r>
            <a:endParaRPr lang="en-US" sz="1500" dirty="0"/>
          </a:p>
        </p:txBody>
      </p:sp>
      <p:sp>
        <p:nvSpPr>
          <p:cNvPr id="26" name="Text 20"/>
          <p:cNvSpPr txBox="1"/>
          <p:nvPr/>
        </p:nvSpPr>
        <p:spPr>
          <a:xfrm>
            <a:off x="5577840" y="278892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Which tool: GetWeather</a:t>
            </a:r>
            <a:endParaRPr lang="en-US" sz="1200" dirty="0"/>
          </a:p>
        </p:txBody>
      </p:sp>
      <p:sp>
        <p:nvSpPr>
          <p:cNvPr id="27" name="Shape 21"/>
          <p:cNvSpPr/>
          <p:nvPr/>
        </p:nvSpPr>
        <p:spPr>
          <a:xfrm>
            <a:off x="2926080" y="3566160"/>
            <a:ext cx="502920" cy="0"/>
          </a:xfrm>
          <a:prstGeom prst="line">
            <a:avLst/>
          </a:prstGeom>
          <a:noFill/>
          <a:ln w="25400">
            <a:solidFill>
              <a:srgbClr val="F5A623"/>
            </a:solidFill>
            <a:prstDash val="solid"/>
          </a:ln>
        </p:spPr>
      </p:sp>
      <p:sp>
        <p:nvSpPr>
          <p:cNvPr id="28" name="Shape 22"/>
          <p:cNvSpPr/>
          <p:nvPr/>
        </p:nvSpPr>
        <p:spPr>
          <a:xfrm>
            <a:off x="3429000" y="3337560"/>
            <a:ext cx="5257800" cy="457200"/>
          </a:xfrm>
          <a:prstGeom prst="roundRect">
            <a:avLst>
              <a:gd name="adj" fmla="val 16000"/>
            </a:avLst>
          </a:prstGeom>
          <a:solidFill>
            <a:srgbClr val="EFEBFC"/>
          </a:solidFill>
          <a:ln w="12700">
            <a:solidFill>
              <a:srgbClr val="EFEBFC"/>
            </a:solidFill>
            <a:prstDash val="solid"/>
          </a:ln>
        </p:spPr>
      </p:sp>
      <p:sp>
        <p:nvSpPr>
          <p:cNvPr id="29" name="Shape 23"/>
          <p:cNvSpPr/>
          <p:nvPr/>
        </p:nvSpPr>
        <p:spPr>
          <a:xfrm>
            <a:off x="3593592" y="3374136"/>
            <a:ext cx="384048" cy="384048"/>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3693444" y="3473988"/>
            <a:ext cx="184343" cy="184343"/>
          </a:xfrm>
          <a:prstGeom prst="rect">
            <a:avLst/>
          </a:prstGeom>
        </p:spPr>
      </p:pic>
      <p:sp>
        <p:nvSpPr>
          <p:cNvPr id="31" name="Text 24"/>
          <p:cNvSpPr txBox="1"/>
          <p:nvPr/>
        </p:nvSpPr>
        <p:spPr>
          <a:xfrm>
            <a:off x="4142232" y="3429000"/>
            <a:ext cx="1325880" cy="2743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.Arguments</a:t>
            </a:r>
            <a:endParaRPr lang="en-US" sz="1500" dirty="0"/>
          </a:p>
        </p:txBody>
      </p:sp>
      <p:sp>
        <p:nvSpPr>
          <p:cNvPr id="32" name="Text 25"/>
          <p:cNvSpPr txBox="1"/>
          <p:nvPr/>
        </p:nvSpPr>
        <p:spPr>
          <a:xfrm>
            <a:off x="5577840" y="3429000"/>
            <a:ext cx="2971800" cy="27432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With what: location=Amsterdam</a:t>
            </a:r>
            <a:endParaRPr lang="en-US" sz="1200" dirty="0"/>
          </a:p>
        </p:txBody>
      </p:sp>
      <p:sp>
        <p:nvSpPr>
          <p:cNvPr id="33" name="Text 26"/>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Exactly what a human, or an automated policy, needs to decide.</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9 — Approvals</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Resume on the same session</a:t>
            </a:r>
            <a:endParaRPr lang="en-US" sz="2800" dirty="0"/>
          </a:p>
        </p:txBody>
      </p:sp>
      <p:sp>
        <p:nvSpPr>
          <p:cNvPr id="4" name="Shape 2"/>
          <p:cNvSpPr/>
          <p:nvPr/>
        </p:nvSpPr>
        <p:spPr>
          <a:xfrm>
            <a:off x="457200" y="1417320"/>
            <a:ext cx="1796796" cy="2185416"/>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Decide</a:t>
            </a:r>
            <a:endParaRPr lang="en-US" sz="1500" dirty="0"/>
          </a:p>
        </p:txBody>
      </p:sp>
      <p:sp>
        <p:nvSpPr>
          <p:cNvPr id="8" name="Text 5"/>
          <p:cNvSpPr txBox="1"/>
          <p:nvPr/>
        </p:nvSpPr>
        <p:spPr>
          <a:xfrm>
            <a:off x="640080"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bool here. A UI, queue or policy in real apps.</a:t>
            </a:r>
            <a:endParaRPr lang="en-US" sz="1200" dirty="0"/>
          </a:p>
        </p:txBody>
      </p:sp>
      <p:sp>
        <p:nvSpPr>
          <p:cNvPr id="9" name="Shape 6"/>
          <p:cNvSpPr/>
          <p:nvPr/>
        </p:nvSpPr>
        <p:spPr>
          <a:xfrm>
            <a:off x="2318004"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185416"/>
          </a:xfrm>
          <a:prstGeom prst="roundRect">
            <a:avLst>
              <a:gd name="adj" fmla="val 4071"/>
            </a:avLst>
          </a:prstGeom>
          <a:solidFill>
            <a:srgbClr val="EFEBFC"/>
          </a:solidFill>
          <a:ln w="12700">
            <a:solidFill>
              <a:srgbClr val="EFEBFC"/>
            </a:solidFill>
            <a:prstDash val="solid"/>
          </a:ln>
        </p:spPr>
      </p:sp>
      <p:sp>
        <p:nvSpPr>
          <p:cNvPr id="11" name="Shape 8"/>
          <p:cNvSpPr/>
          <p:nvPr/>
        </p:nvSpPr>
        <p:spPr>
          <a:xfrm>
            <a:off x="2784348" y="1618488"/>
            <a:ext cx="457200" cy="457200"/>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350" b="1" dirty="0">
                <a:solidFill>
                  <a:srgbClr val="1F2937"/>
                </a:solidFill>
                <a:latin typeface="Calibri" pitchFamily="34" charset="0"/>
                <a:ea typeface="Calibri" pitchFamily="34" charset="-122"/>
                <a:cs typeface="Calibri" pitchFamily="34" charset="-120"/>
              </a:rPr>
              <a:t>CreateResponse</a:t>
            </a:r>
            <a:endParaRPr lang="en-US" sz="1350" dirty="0"/>
          </a:p>
        </p:txBody>
      </p:sp>
      <p:sp>
        <p:nvSpPr>
          <p:cNvPr id="14" name="Text 10"/>
          <p:cNvSpPr txBox="1"/>
          <p:nvPr/>
        </p:nvSpPr>
        <p:spPr>
          <a:xfrm>
            <a:off x="2784348"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approve plus a reason gives a ToolApproval</a:t>
            </a:r>
            <a:endParaRPr lang="en-US" sz="1200" dirty="0"/>
          </a:p>
          <a:p>
            <a:pPr indent="0" marL="0">
              <a:buNone/>
            </a:pPr>
            <a:r>
              <a:rPr lang="en-US" sz="1200" dirty="0">
                <a:solidFill>
                  <a:srgbClr val="6B7280"/>
                </a:solidFill>
                <a:latin typeface="Calibri" pitchFamily="34" charset="0"/>
                <a:ea typeface="Calibri" pitchFamily="34" charset="-122"/>
                <a:cs typeface="Calibri" pitchFamily="34" charset="-120"/>
              </a:rPr>
              <a:t>ResponseContent</a:t>
            </a:r>
            <a:endParaRPr lang="en-US" sz="1200" dirty="0"/>
          </a:p>
        </p:txBody>
      </p:sp>
      <p:sp>
        <p:nvSpPr>
          <p:cNvPr id="15" name="Shape 11"/>
          <p:cNvSpPr/>
          <p:nvPr/>
        </p:nvSpPr>
        <p:spPr>
          <a:xfrm>
            <a:off x="4462272"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185416"/>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User message</a:t>
            </a:r>
            <a:endParaRPr lang="en-US" sz="1500" dirty="0"/>
          </a:p>
        </p:txBody>
      </p:sp>
      <p:sp>
        <p:nvSpPr>
          <p:cNvPr id="20" name="Text 15"/>
          <p:cNvSpPr txBox="1"/>
          <p:nvPr/>
        </p:nvSpPr>
        <p:spPr>
          <a:xfrm>
            <a:off x="4928616"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Wrapped in a ChatMessage with ChatRole.User</a:t>
            </a:r>
            <a:endParaRPr lang="en-US" sz="1200" dirty="0"/>
          </a:p>
        </p:txBody>
      </p:sp>
      <p:sp>
        <p:nvSpPr>
          <p:cNvPr id="21" name="Shape 16"/>
          <p:cNvSpPr/>
          <p:nvPr/>
        </p:nvSpPr>
        <p:spPr>
          <a:xfrm>
            <a:off x="6606540"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185416"/>
          </a:xfrm>
          <a:prstGeom prst="roundRect">
            <a:avLst>
              <a:gd name="adj" fmla="val 4071"/>
            </a:avLst>
          </a:prstGeom>
          <a:solidFill>
            <a:srgbClr val="512BD4"/>
          </a:solidFill>
          <a:ln w="12700">
            <a:solidFill>
              <a:srgbClr val="512BD4"/>
            </a:solidFill>
            <a:prstDash val="solid"/>
          </a:ln>
        </p:spPr>
      </p:sp>
      <p:sp>
        <p:nvSpPr>
          <p:cNvPr id="23" name="Shape 18"/>
          <p:cNvSpPr/>
          <p:nvPr/>
        </p:nvSpPr>
        <p:spPr>
          <a:xfrm>
            <a:off x="7072884" y="1618488"/>
            <a:ext cx="457200" cy="45720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RunAsync again</a:t>
            </a:r>
            <a:endParaRPr lang="en-US" sz="1400" dirty="0"/>
          </a:p>
        </p:txBody>
      </p:sp>
      <p:sp>
        <p:nvSpPr>
          <p:cNvPr id="26" name="Text 20"/>
          <p:cNvSpPr txBox="1"/>
          <p:nvPr/>
        </p:nvSpPr>
        <p:spPr>
          <a:xfrm>
            <a:off x="7072884" y="2606040"/>
            <a:ext cx="1476756"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On the same AgentSession, so the agent picks up</a:t>
            </a:r>
            <a:endParaRPr lang="en-US" sz="1200" dirty="0"/>
          </a:p>
        </p:txBody>
      </p:sp>
      <p:sp>
        <p:nvSpPr>
          <p:cNvPr id="27" name="Text 21"/>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A fresh session per scenario keeps Amsterdam and Tokyo apart.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9 — Approvals</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An approval belongs to its session</a:t>
            </a:r>
            <a:endParaRPr lang="en-US" sz="2800" dirty="0"/>
          </a:p>
        </p:txBody>
      </p:sp>
      <p:sp>
        <p:nvSpPr>
          <p:cNvPr id="4" name="Shape 2"/>
          <p:cNvSpPr/>
          <p:nvPr/>
        </p:nvSpPr>
        <p:spPr>
          <a:xfrm>
            <a:off x="457200" y="1371600"/>
            <a:ext cx="3931920" cy="2103120"/>
          </a:xfrm>
          <a:prstGeom prst="roundRect">
            <a:avLst>
              <a:gd name="adj" fmla="val 3478"/>
            </a:avLst>
          </a:prstGeom>
          <a:solidFill>
            <a:srgbClr val="EFEBFC"/>
          </a:solidFill>
          <a:ln w="12700">
            <a:solidFill>
              <a:srgbClr val="EFEBFC"/>
            </a:solidFill>
            <a:prstDash val="solid"/>
          </a:ln>
        </p:spPr>
      </p:sp>
      <p:sp>
        <p:nvSpPr>
          <p:cNvPr id="5" name="Shape 3"/>
          <p:cNvSpPr/>
          <p:nvPr/>
        </p:nvSpPr>
        <p:spPr>
          <a:xfrm>
            <a:off x="685800" y="1600200"/>
            <a:ext cx="438912" cy="438912"/>
          </a:xfrm>
          <a:prstGeom prst="ellipse">
            <a:avLst/>
          </a:prstGeom>
          <a:solidFill>
            <a:srgbClr val="16A34A"/>
          </a:solidFill>
          <a:ln w="12700">
            <a:solidFill>
              <a:srgbClr val="16A34A"/>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Same session</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It recorded the approval request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response matches that request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decision takes effect</a:t>
            </a:r>
            <a:endParaRPr lang="en-US" sz="1300" dirty="0"/>
          </a:p>
        </p:txBody>
      </p:sp>
      <p:sp>
        <p:nvSpPr>
          <p:cNvPr id="9" name="Shape 6"/>
          <p:cNvSpPr/>
          <p:nvPr/>
        </p:nvSpPr>
        <p:spPr>
          <a:xfrm>
            <a:off x="4754880" y="1371600"/>
            <a:ext cx="3931920" cy="2103120"/>
          </a:xfrm>
          <a:prstGeom prst="roundRect">
            <a:avLst>
              <a:gd name="adj" fmla="val 3478"/>
            </a:avLst>
          </a:prstGeom>
          <a:solidFill>
            <a:srgbClr val="F6F4FE"/>
          </a:solidFill>
          <a:ln w="12700">
            <a:solidFill>
              <a:srgbClr val="F6F4FE"/>
            </a:solidFill>
            <a:prstDash val="solid"/>
          </a:ln>
        </p:spPr>
      </p:sp>
      <p:sp>
        <p:nvSpPr>
          <p:cNvPr id="10" name="Shape 7"/>
          <p:cNvSpPr/>
          <p:nvPr/>
        </p:nvSpPr>
        <p:spPr>
          <a:xfrm>
            <a:off x="4983480" y="1600200"/>
            <a:ext cx="438912" cy="438912"/>
          </a:xfrm>
          <a:prstGeom prst="ellipse">
            <a:avLst/>
          </a:prstGeom>
          <a:solidFill>
            <a:srgbClr val="DC2626"/>
          </a:solidFill>
          <a:ln w="12700">
            <a:solidFill>
              <a:srgbClr val="DC2626"/>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 different session</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 matching request was recorded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response is ignored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tool never runs</a:t>
            </a:r>
            <a:endParaRPr lang="en-US" sz="1300" dirty="0"/>
          </a:p>
        </p:txBody>
      </p:sp>
      <p:sp>
        <p:nvSpPr>
          <p:cNvPr id="14" name="Text 10"/>
          <p:cNvSpPr txBox="1"/>
          <p:nvPr/>
        </p:nvSpPr>
        <p:spPr>
          <a:xfrm>
            <a:off x="457200" y="374904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Send the response on the session that handed out the request.</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9 — Approvals</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Rejection is just conversation</a:t>
            </a:r>
            <a:endParaRPr lang="en-US" sz="2800" dirty="0"/>
          </a:p>
        </p:txBody>
      </p:sp>
      <p:sp>
        <p:nvSpPr>
          <p:cNvPr id="4" name="Shape 2"/>
          <p:cNvSpPr/>
          <p:nvPr/>
        </p:nvSpPr>
        <p:spPr>
          <a:xfrm>
            <a:off x="457200" y="1371600"/>
            <a:ext cx="3977640" cy="2103120"/>
          </a:xfrm>
          <a:prstGeom prst="roundRect">
            <a:avLst>
              <a:gd name="adj" fmla="val 3478"/>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Approved</a:t>
            </a:r>
            <a:endParaRPr lang="en-US" sz="1500" dirty="0"/>
          </a:p>
        </p:txBody>
      </p:sp>
      <p:sp>
        <p:nvSpPr>
          <p:cNvPr id="8" name="Text 5"/>
          <p:cNvSpPr txBox="1"/>
          <p:nvPr/>
        </p:nvSpPr>
        <p:spPr>
          <a:xfrm>
            <a:off x="640080" y="2057400"/>
            <a:ext cx="361188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tool runs now, and the agent answers with real weather data</a:t>
            </a:r>
            <a:endParaRPr lang="en-US" sz="1200" dirty="0"/>
          </a:p>
        </p:txBody>
      </p:sp>
      <p:sp>
        <p:nvSpPr>
          <p:cNvPr id="9" name="Shape 6"/>
          <p:cNvSpPr/>
          <p:nvPr/>
        </p:nvSpPr>
        <p:spPr>
          <a:xfrm>
            <a:off x="4709160" y="1371600"/>
            <a:ext cx="3977640" cy="2103120"/>
          </a:xfrm>
          <a:prstGeom prst="roundRect">
            <a:avLst>
              <a:gd name="adj" fmla="val 3478"/>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Rejected</a:t>
            </a:r>
            <a:endParaRPr lang="en-US" sz="1500" dirty="0"/>
          </a:p>
        </p:txBody>
      </p:sp>
      <p:sp>
        <p:nvSpPr>
          <p:cNvPr id="13" name="Text 9"/>
          <p:cNvSpPr txBox="1"/>
          <p:nvPr/>
        </p:nvSpPr>
        <p:spPr>
          <a:xfrm>
            <a:off x="4892040" y="2057400"/>
            <a:ext cx="361188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exception. The model learns its call didn't happen and replies in plain language.</a:t>
            </a:r>
            <a:endParaRPr lang="en-US" sz="1200" dirty="0"/>
          </a:p>
        </p:txBody>
      </p:sp>
      <p:sp>
        <p:nvSpPr>
          <p:cNvPr id="14" name="Text 10"/>
          <p:cNvSpPr txBox="1"/>
          <p:nvPr/>
        </p:nvSpPr>
        <p:spPr>
          <a:xfrm>
            <a:off x="457200" y="37033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Your code handles both outcomes the same way: read the next response.</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9 — Approvals</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foundation, not the finished feature</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Today's loop</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One gated tool, one pending request, one decision</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325880" cy="487680"/>
          </a:xfrm>
          <a:prstGeom prst="rect">
            <a:avLst/>
          </a:prstGeom>
          <a:noFill/>
          <a:ln/>
        </p:spPr>
        <p:txBody>
          <a:bodyPr wrap="square" lIns="0" tIns="0" rIns="0" bIns="0" rtlCol="0" anchor="ctr"/>
          <a:lstStyle/>
          <a:p>
            <a:pPr indent="0" marL="0">
              <a:buNone/>
            </a:pPr>
            <a:r>
              <a:rPr lang="en-US" sz="1150" b="1" dirty="0">
                <a:solidFill>
                  <a:srgbClr val="1F2937"/>
                </a:solidFill>
                <a:latin typeface="Calibri" pitchFamily="34" charset="0"/>
                <a:ea typeface="Calibri" pitchFamily="34" charset="-122"/>
                <a:cs typeface="Calibri" pitchFamily="34" charset="-120"/>
              </a:rPr>
              <a:t>UseToolApproval</a:t>
            </a:r>
            <a:endParaRPr lang="en-US" sz="115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AIAgentBuilder wraps the same request and response primitive</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Auto rules</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AutoApprovalRules: don't ask again for a tool or exact arguments</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32588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Workflow level</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Lesson 17 gates a whole multi-agent workflow</a:t>
            </a:r>
            <a:endParaRPr lang="en-US" sz="1200" dirty="0"/>
          </a:p>
        </p:txBody>
      </p:sp>
      <p:sp>
        <p:nvSpPr>
          <p:cNvPr id="27" name="Text 2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9 — Approvals</a:t>
            </a:r>
            <a:endParaRPr lang="en-US" sz="900" dirty="0"/>
          </a:p>
        </p:txBody>
      </p:sp>
      <p:sp>
        <p:nvSpPr>
          <p:cNvPr id="28" name="Text 2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approved, one rejected</a:t>
            </a:r>
            <a:endParaRPr lang="en-US" sz="2800" dirty="0"/>
          </a:p>
        </p:txBody>
      </p:sp>
      <p:sp>
        <p:nvSpPr>
          <p:cNvPr id="4" name="Shape 2"/>
          <p:cNvSpPr/>
          <p:nvPr/>
        </p:nvSpPr>
        <p:spPr>
          <a:xfrm>
            <a:off x="457200" y="1325880"/>
            <a:ext cx="5257800" cy="2240280"/>
          </a:xfrm>
          <a:prstGeom prst="roundRect">
            <a:avLst>
              <a:gd name="adj" fmla="val 3265"/>
            </a:avLst>
          </a:prstGeom>
          <a:solidFill>
            <a:srgbClr val="0F1420"/>
          </a:solidFill>
          <a:ln w="12700">
            <a:solidFill>
              <a:srgbClr val="0F1420"/>
            </a:solidFill>
            <a:prstDash val="solid"/>
          </a:ln>
        </p:spPr>
      </p:sp>
      <p:sp>
        <p:nvSpPr>
          <p:cNvPr id="5" name="Text 3"/>
          <p:cNvSpPr txBox="1"/>
          <p:nvPr/>
        </p:nvSpPr>
        <p:spPr>
          <a:xfrm>
            <a:off x="640080" y="1463040"/>
            <a:ext cx="4892040" cy="1965960"/>
          </a:xfrm>
          <a:prstGeom prst="rect">
            <a:avLst/>
          </a:prstGeom>
          <a:noFill/>
          <a:ln/>
        </p:spPr>
        <p:txBody>
          <a:bodyPr wrap="square" lIns="0" tIns="0" rIns="0" bIns="0" rtlCol="0" anchor="t"/>
          <a:lstStyle/>
          <a:p>
            <a:pPr indent="0" marL="0">
              <a:buNone/>
            </a:pPr>
            <a:r>
              <a:rPr lang="en-US" sz="1000" b="1" dirty="0">
                <a:solidFill>
                  <a:srgbClr val="F5A623"/>
                </a:solidFill>
                <a:latin typeface="Courier New" pitchFamily="34" charset="0"/>
                <a:ea typeface="Courier New" pitchFamily="34" charset="-122"/>
                <a:cs typeface="Courier New" pitchFamily="34" charset="-120"/>
              </a:rPr>
              <a:t>=== Scenario 1: approving the tool call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Approval requested to call 'GetWeather' with</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arguments: location=Amsterdam</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Decision: APPROVED</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The weather in Amsterdam is cloudy with a high of 15C.</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Scenario 2: rejecting the tool call ===</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Approval requested to call 'GetWeather' with</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arguments: location=Tokyo</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Decision: REJECTED</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I'm sorry, I cannot fulfill this request. My tool for</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getting the weather is not working at the moment. ...</a:t>
            </a:r>
            <a:endParaRPr lang="en-US" sz="1000" dirty="0"/>
          </a:p>
        </p:txBody>
      </p:sp>
      <p:sp>
        <p:nvSpPr>
          <p:cNvPr id="6" name="Shape 4"/>
          <p:cNvSpPr/>
          <p:nvPr/>
        </p:nvSpPr>
        <p:spPr>
          <a:xfrm>
            <a:off x="6035040" y="1325880"/>
            <a:ext cx="384048" cy="384048"/>
          </a:xfrm>
          <a:prstGeom prst="ellipse">
            <a:avLst/>
          </a:prstGeom>
          <a:solidFill>
            <a:srgbClr val="16A34A"/>
          </a:solidFill>
          <a:ln w="12700">
            <a:solidFill>
              <a:srgbClr val="16A34A"/>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Approved</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tool ran: real weather data</a:t>
            </a:r>
            <a:endParaRPr lang="en-US" sz="1200" dirty="0"/>
          </a:p>
        </p:txBody>
      </p:sp>
      <p:sp>
        <p:nvSpPr>
          <p:cNvPr id="10" name="Shape 7"/>
          <p:cNvSpPr/>
          <p:nvPr/>
        </p:nvSpPr>
        <p:spPr>
          <a:xfrm>
            <a:off x="6035040" y="2423160"/>
            <a:ext cx="384048" cy="384048"/>
          </a:xfrm>
          <a:prstGeom prst="ellipse">
            <a:avLst/>
          </a:prstGeom>
          <a:solidFill>
            <a:srgbClr val="DC2626"/>
          </a:solidFill>
          <a:ln w="12700">
            <a:solidFill>
              <a:srgbClr val="DC2626"/>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Rejected</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graceful non-answer, worded by the model</a:t>
            </a:r>
            <a:endParaRPr lang="en-US" sz="12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  Lesson 9 — Approvals</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587502"/>
          </a:xfrm>
          <a:prstGeom prst="roundRect">
            <a:avLst>
              <a:gd name="adj" fmla="val 12451"/>
            </a:avLst>
          </a:prstGeom>
          <a:solidFill>
            <a:srgbClr val="1F2943"/>
          </a:solidFill>
          <a:ln w="12700">
            <a:solidFill>
              <a:srgbClr val="1F2943"/>
            </a:solidFill>
            <a:prstDash val="solid"/>
          </a:ln>
        </p:spPr>
      </p:sp>
      <p:sp>
        <p:nvSpPr>
          <p:cNvPr id="5" name="Text 3"/>
          <p:cNvSpPr txBox="1"/>
          <p:nvPr/>
        </p:nvSpPr>
        <p:spPr>
          <a:xfrm>
            <a:off x="621792" y="123444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request and response exchange</a:t>
            </a:r>
            <a:endParaRPr lang="en-US" sz="1300" dirty="0"/>
          </a:p>
        </p:txBody>
      </p:sp>
      <p:sp>
        <p:nvSpPr>
          <p:cNvPr id="6" name="Shape 4"/>
          <p:cNvSpPr/>
          <p:nvPr/>
        </p:nvSpPr>
        <p:spPr>
          <a:xfrm>
            <a:off x="3493008" y="1436751"/>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Skills 1  </a:t>
            </a:r>
            <a:pPr indent="0" marL="0">
              <a:buNone/>
            </a:pPr>
            <a:r>
              <a:rPr lang="en-US" sz="1250" dirty="0">
                <a:solidFill>
                  <a:srgbClr val="FFFFFF"/>
                </a:solidFill>
                <a:latin typeface="Calibri" pitchFamily="34" charset="0"/>
                <a:ea typeface="Calibri" pitchFamily="34" charset="-122"/>
                <a:cs typeface="Calibri" pitchFamily="34" charset="-120"/>
              </a:rPr>
              <a:t>Skill tools are approved through the same exchange</a:t>
            </a:r>
            <a:endParaRPr lang="en-US" sz="1250" dirty="0"/>
          </a:p>
        </p:txBody>
      </p:sp>
      <p:sp>
        <p:nvSpPr>
          <p:cNvPr id="8" name="Shape 6"/>
          <p:cNvSpPr/>
          <p:nvPr/>
        </p:nvSpPr>
        <p:spPr>
          <a:xfrm>
            <a:off x="457200" y="1931670"/>
            <a:ext cx="2926080" cy="587502"/>
          </a:xfrm>
          <a:prstGeom prst="roundRect">
            <a:avLst>
              <a:gd name="adj" fmla="val 12451"/>
            </a:avLst>
          </a:prstGeom>
          <a:solidFill>
            <a:srgbClr val="1F2943"/>
          </a:solidFill>
          <a:ln w="12700">
            <a:solidFill>
              <a:srgbClr val="1F2943"/>
            </a:solidFill>
            <a:prstDash val="solid"/>
          </a:ln>
        </p:spPr>
      </p:sp>
      <p:sp>
        <p:nvSpPr>
          <p:cNvPr id="9" name="Text 7"/>
          <p:cNvSpPr txBox="1"/>
          <p:nvPr/>
        </p:nvSpPr>
        <p:spPr>
          <a:xfrm>
            <a:off x="621792" y="193167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UseToolApproval and auto rules</a:t>
            </a:r>
            <a:endParaRPr lang="en-US" sz="1300" dirty="0"/>
          </a:p>
        </p:txBody>
      </p:sp>
      <p:sp>
        <p:nvSpPr>
          <p:cNvPr id="10" name="Shape 8"/>
          <p:cNvSpPr/>
          <p:nvPr/>
        </p:nvSpPr>
        <p:spPr>
          <a:xfrm>
            <a:off x="3493008" y="2133981"/>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93167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Skills 2  </a:t>
            </a:r>
            <a:pPr indent="0" marL="0">
              <a:buNone/>
            </a:pPr>
            <a:r>
              <a:rPr lang="en-US" sz="1250" dirty="0">
                <a:solidFill>
                  <a:srgbClr val="FFFFFF"/>
                </a:solidFill>
                <a:latin typeface="Calibri" pitchFamily="34" charset="0"/>
                <a:ea typeface="Calibri" pitchFamily="34" charset="-122"/>
                <a:cs typeface="Calibri" pitchFamily="34" charset="-120"/>
              </a:rPr>
              <a:t>Layers the approval policy Lesson 9 previewed</a:t>
            </a:r>
            <a:endParaRPr lang="en-US" sz="1250" dirty="0"/>
          </a:p>
        </p:txBody>
      </p:sp>
      <p:sp>
        <p:nvSpPr>
          <p:cNvPr id="12" name="Shape 10"/>
          <p:cNvSpPr/>
          <p:nvPr/>
        </p:nvSpPr>
        <p:spPr>
          <a:xfrm>
            <a:off x="457200" y="2628900"/>
            <a:ext cx="2926080" cy="587502"/>
          </a:xfrm>
          <a:prstGeom prst="roundRect">
            <a:avLst>
              <a:gd name="adj" fmla="val 12451"/>
            </a:avLst>
          </a:prstGeom>
          <a:solidFill>
            <a:srgbClr val="1F2943"/>
          </a:solidFill>
          <a:ln w="12700">
            <a:solidFill>
              <a:srgbClr val="1F2943"/>
            </a:solidFill>
            <a:prstDash val="solid"/>
          </a:ln>
        </p:spPr>
      </p:sp>
      <p:sp>
        <p:nvSpPr>
          <p:cNvPr id="13" name="Text 11"/>
          <p:cNvSpPr txBox="1"/>
          <p:nvPr/>
        </p:nvSpPr>
        <p:spPr>
          <a:xfrm>
            <a:off x="621792" y="262890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Pausing before side effects</a:t>
            </a:r>
            <a:endParaRPr lang="en-US" sz="1300" dirty="0"/>
          </a:p>
        </p:txBody>
      </p:sp>
      <p:sp>
        <p:nvSpPr>
          <p:cNvPr id="14" name="Shape 12"/>
          <p:cNvSpPr/>
          <p:nvPr/>
        </p:nvSpPr>
        <p:spPr>
          <a:xfrm>
            <a:off x="3493008" y="2831211"/>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62890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17  </a:t>
            </a:r>
            <a:pPr indent="0" marL="0">
              <a:buNone/>
            </a:pPr>
            <a:r>
              <a:rPr lang="en-US" sz="1250" dirty="0">
                <a:solidFill>
                  <a:srgbClr val="FFFFFF"/>
                </a:solidFill>
                <a:latin typeface="Calibri" pitchFamily="34" charset="0"/>
                <a:ea typeface="Calibri" pitchFamily="34" charset="-122"/>
                <a:cs typeface="Calibri" pitchFamily="34" charset="-120"/>
              </a:rPr>
              <a:t>A request port pauses the graph between agents</a:t>
            </a:r>
            <a:endParaRPr lang="en-US" sz="1250" dirty="0"/>
          </a:p>
        </p:txBody>
      </p:sp>
      <p:sp>
        <p:nvSpPr>
          <p:cNvPr id="16" name="Shape 14"/>
          <p:cNvSpPr/>
          <p:nvPr/>
        </p:nvSpPr>
        <p:spPr>
          <a:xfrm>
            <a:off x="457200" y="3326130"/>
            <a:ext cx="2926080" cy="587502"/>
          </a:xfrm>
          <a:prstGeom prst="roundRect">
            <a:avLst>
              <a:gd name="adj" fmla="val 12451"/>
            </a:avLst>
          </a:prstGeom>
          <a:solidFill>
            <a:srgbClr val="1F2943"/>
          </a:solidFill>
          <a:ln w="12700">
            <a:solidFill>
              <a:srgbClr val="1F2943"/>
            </a:solidFill>
            <a:prstDash val="solid"/>
          </a:ln>
        </p:spPr>
      </p:sp>
      <p:sp>
        <p:nvSpPr>
          <p:cNvPr id="17" name="Text 15"/>
          <p:cNvSpPr txBox="1"/>
          <p:nvPr/>
        </p:nvSpPr>
        <p:spPr>
          <a:xfrm>
            <a:off x="621792" y="3326130"/>
            <a:ext cx="2651760" cy="58750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approval contents</a:t>
            </a:r>
            <a:endParaRPr lang="en-US" sz="1300" dirty="0"/>
          </a:p>
        </p:txBody>
      </p:sp>
      <p:sp>
        <p:nvSpPr>
          <p:cNvPr id="18" name="Shape 16"/>
          <p:cNvSpPr/>
          <p:nvPr/>
        </p:nvSpPr>
        <p:spPr>
          <a:xfrm>
            <a:off x="3493008" y="3528441"/>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326130"/>
            <a:ext cx="4709160" cy="587502"/>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23  </a:t>
            </a:r>
            <a:pPr indent="0" marL="0">
              <a:buNone/>
            </a:pPr>
            <a:r>
              <a:rPr lang="en-US" sz="1250" dirty="0">
                <a:solidFill>
                  <a:srgbClr val="FFFFFF"/>
                </a:solidFill>
                <a:latin typeface="Calibri" pitchFamily="34" charset="0"/>
                <a:ea typeface="Calibri" pitchFamily="34" charset="-122"/>
                <a:cs typeface="Calibri" pitchFamily="34" charset="-120"/>
              </a:rPr>
              <a:t>The report-approval port carries them before the Writer</a:t>
            </a:r>
            <a:endParaRPr lang="en-US" sz="1250" dirty="0"/>
          </a:p>
        </p:txBody>
      </p:sp>
      <p:sp>
        <p:nvSpPr>
          <p:cNvPr id="20" name="Text 18"/>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Lessons 22–24 Capstone — Research-and-Report Pipeline</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  Lesson 9 — Approvals</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9 — Approvals (Function Invocation Gating)</dc:title>
  <dc:subject>PptxGenJS Presentation</dc:subject>
  <dc:creator>Applied Agentic Orchestration with Microsoft Agent Framework</dc:creator>
  <cp:lastModifiedBy>Applied Agentic Orchestration with Microsoft Agent Framework</cp:lastModifiedBy>
  <cp:revision>1</cp:revision>
  <dcterms:created xsi:type="dcterms:W3CDTF">2026-10-07T23:53:44Z</dcterms:created>
  <dcterms:modified xsi:type="dcterms:W3CDTF">2026-10-07T23:53:44Z</dcterms:modified>
</cp:coreProperties>
</file>