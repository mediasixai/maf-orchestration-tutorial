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lead ManagerAgent decomposes a user request into a plan, tracks a live progress ledger turn by turn, and decides which specialist, ResearchAgent or WriterAgent, should act next, until it judges the request satisfied and synthesizes the final answer itself. This is the most autonomous orchestration pattern in the series: nothing about who talks next, how many rounds happen, or when to stop is fixed by our code. The manager decides all of it at runtime. Prerequisites: Lessons 12 to 15, which introduced AgentWorkflowBuilder, InProcessExecution.RunAsync and the List of ChatMessage output shape. MagenticWorkflowBuilder is the fifth sibling builder from that family, and the one with the biggest departures from its siblings. Setup is unchanged: the same Microsoft.Agents.AI and Microsoft.Agents.AI.Workflows 1.24.0, Microsoft.Extensions.AI.OpenAI 10.10.1 and OpenAI 2.14.0 packages as Lessons 10 to 15, plus the required MAF_LLM and MAF_MODEL, OPENAI and gpt-4.1-mini in the demo, and OPENAI_API_KEY.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distinct manager agent class. ManagerAgent is built with the exact same AgentFactory.CreateAgent helper as every specialist. What makes it the manager is only that it is the one passed to new MagenticWorkflowBuilder(managerAgent), or equivalently AgentWorkflowBuilder.CreateMagenticBuilderWith(managerAgent); both exist and are interchangeable. The specialists are supplied separately with AddParticipants, and the team list holds only the two specialists, not the manager. ResearchAgent and WriterAgent get deliberately narrow, mutually exclusive personas, bullets only versus prose only, so the hand-off between them is obvious in the output. It is a similar two-step wiring shape to Lesson 15's Group Chat builder, except here the first argument is one fixed agent rather than a factory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Magentic-One runs on two internal artifacts, and both surface as workflow events. The task ledger, a fact sheet plus a step-by-step plan, is produced once at the start and surfaced as MagenticPlanCreatedEvent.FullTaskLedger, a ChatMessage. The progress ledger is re-evaluated every round and surfaced as MagenticProgressLedgerUpdatedEvent.ProgressLedger. It exposes NextSpeaker, IsRequestSatisfied, IsInLoop, IsProgressBeingMade and InstructionOrQuestion. That is exactly how the manager decides who talks next and when to stop, round after round, with no fixed graph edges. A single InProcessExecution.RunAsync call drives the whole plan, delegate, re-assess, synthesize loop, exactly like the earlier AgentWorkflowBuilder patterns. The event loop narrates three moments: the plan once, a progress ledger update every round, and the WorkflowOutputEvent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departure from every prior pattern. Sequential, Concurrent, Handoff and Group Chat all returned a List of ChatMessage containing the entire multi-agent conversation. Magentic's WorkflowOutputEvent.Data is also a List of ChatMessage, but it contains exactly one message, authored by the manager agent itself, synthesizing whatever the specialists produced into one final answer. The specialists' raw contributions never appear in the returned list. They only show up in the intermediate events, if you choose to observe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RequirePlanSignoff defaults to true, a deliberate governance-by-default choice. Without RequirePlanSignoff(false), the run pauses right after the plan is created. It emits a RequestInfoEvent whose Request is an ExternalRequest wrapping a MagenticPlanReviewRequest, and InProcessExecution.RunAsync returns with the workflow suspended, not finished. It does not hang; it simply stops emitting events until resumed. Resuming means building an ExternalResponse from MagenticPlanReviewRequest.Approve() or Revise(...) and calling Run.ResumeAsync. That is the same external request and response port Lesson 17 formalizes, distinct from Lesson 9's agent-level ToolApprovalRequestContent. This lesson turns sign-off off to stay unattended; production use would very plausibly keep it on. Round and reset limits are unbounded by default: WithMaxRounds and WithMaxResets take a nullable int that defaults to null. Only WithMaxStalls has a default, 3. An unbounded MaxRounds on an autonomous, re-planning orchestrator is a real runaway-cost risk, the same category of gotcha as Lesson 15's MaximumIterationCount defaulting to 40, just with no cap at all. This lesson sets WithMaxRounds(8) and WithMaxStalls(2)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giving a Magentic specialist tools. Magentic shares one running chat history across the whole team, so a specialist's FunctionCallContent and FunctionResultContent turns are replayed into other agents' turns too. Model APIs validate the order of tool-call and tool-result turns, and a history where one agent's tool calls show up inside another agent's turn can be rejected outright. The request fails rather than the model quietly ignoring the stray turns. How strictly this is enforced differs between providers, and therefore between MAF_LLM settings. This lesson's specialists are deliberately tool-free to keep the focus on planning and delegation. If your own Magentic team needs specialist tools, test the combination against the provider and model you actually deploy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prints the banner and the user request, then the manager's full task ledger: the request, the team, a pre-survey of given facts, facts to look up, facts to derive and educated guesses, then the plan. On the slide the banner, the request and the whole fact sheet are cut to '...', and only the two plan steps are kept. Each progress ledger line was followed in the real output by the manager's instruction, such as 'Please provide two distinct, little-known facts about the planet Saturn.'; those instruction lines are cut, and the ledger headers are rewrapped to fit. The final paragraph, about Saturn's north-pole hexagonal storm and its magnetic field aligned to within 0.01 degrees of its rotation axis, is cut to '...'. Wording varies run to run. What does not vary: exactly one MagenticPlanCreatedEvent, one or more MagenticProgressLedgerUpdatedEvents ending in satisfied = True, and a final answer authored solely by ManagerAgent.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Magentic-One goes. Lesson 17 teaches the in-graph RequestPort pause, and its Core Concepts shows that the plan sign-off we turned off today runs on the same mechanism: a RequestInfoEvent carrying a MagenticPlanReviewRequest, answered with Approve() or Revise(feedback) and Run.ResumeAsync (Lesson 17, Core Concepts). Lesson 18 turns RequirePlanSignoff on, pauses its own run at that plan review, checkpoints the paused run to disk, and restores it in a fresh process (Lesson 18, Prerequisites). Lesson 22 designs the capstone as one hand-built graph and says a planner-led Magentic orchestration is not needed, because the Researcher, Analyst and Writer roles are fixed and known in advance (Lesson 22, Core Concepts, graph shape). Lesson 24's series review records the same verdict: a planner suits open-ended goals, and the pipeline's steps are known in advance. So this pattern reaches the capstone as a design alternative, not as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16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Magentic-One Pattern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lead agent plans, delegates and decides when it is done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Lessons 12–15 builders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Lesson16-MagenticOnePattern/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manager is just an ordinary agent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task ledger and the progress ledger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output is one synthesized message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Plan sign-off, and the limits you must set yourself</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specialist tools need care here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The manager is a plain agent, not a special type</a:t>
            </a:r>
            <a:endParaRPr lang="en-US" sz="25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ManagerAgent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Built by the same AgentFactory.CreateAgent helper as every specialist.</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Constructor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new MagenticWorkflowBuilder(managerAgent) makes it the manager</a:t>
            </a:r>
            <a:endParaRPr lang="en-US" sz="11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450" b="1" dirty="0">
                <a:solidFill>
                  <a:srgbClr val="1F2937"/>
                </a:solidFill>
                <a:latin typeface="Calibri" pitchFamily="34" charset="0"/>
                <a:ea typeface="Calibri" pitchFamily="34" charset="-122"/>
                <a:cs typeface="Calibri" pitchFamily="34" charset="-120"/>
              </a:rPr>
              <a:t>Participants</a:t>
            </a:r>
            <a:endParaRPr lang="en-US" sz="145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.AddParticipants(team): ResearchAgent and WriterAgent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Same builder</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AgentWorkflowBuilder.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CreateMagenticBuilderWith is equivalent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Being passed to the builder's constructor is the only thing that makes it a manager.</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ledgers decide every round</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Task ledger</a:t>
            </a:r>
            <a:endParaRPr lang="en-US" sz="15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Fact sheet plus plan, produced once at the start</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Progress ledger</a:t>
            </a:r>
            <a:endParaRPr lang="en-US" sz="150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Re-evaluated every round: NextSpeaker, IsRequestSatisfied</a:t>
            </a:r>
            <a:endParaRPr lang="en-US" sz="115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Specialist acts</a:t>
            </a:r>
            <a:endParaRPr lang="en-US" sz="150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Acts on the manager's instruction</a:t>
            </a:r>
            <a:endParaRPr lang="en-US" sz="12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Satisfied</a:t>
            </a:r>
            <a:endParaRPr lang="en-US" sz="15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manager synthesizes the final answer</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graph edges say what comes next. The manager decides at run time.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synthesized message, not the transcript</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Lessons 12–15 patterns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Sequential, Concurrent, Handoff, Group Chat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Output is the whole conversation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agent's turn is in the list</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Magentic-One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Output is still a List&lt;ChatMessage&gt;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holds exactly one message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Authored by ManagerAgent itself</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Specialists' raw bullets and prose appear only in intermediate events.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Defaults: one pause, almost no limits</a:t>
            </a:r>
            <a:endParaRPr lang="en-US" sz="2800" dirty="0"/>
          </a:p>
        </p:txBody>
      </p:sp>
      <p:sp>
        <p:nvSpPr>
          <p:cNvPr id="4" name="Shape 2"/>
          <p:cNvSpPr/>
          <p:nvPr/>
        </p:nvSpPr>
        <p:spPr>
          <a:xfrm>
            <a:off x="457200" y="1371600"/>
            <a:ext cx="3977640" cy="1188720"/>
          </a:xfrm>
          <a:prstGeom prst="roundRect">
            <a:avLst>
              <a:gd name="adj" fmla="val 6154"/>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RequirePlanSignoff</a:t>
            </a:r>
            <a:endParaRPr lang="en-US" sz="1400" dirty="0"/>
          </a:p>
        </p:txBody>
      </p:sp>
      <p:sp>
        <p:nvSpPr>
          <p:cNvPr id="8" name="Text 5"/>
          <p:cNvSpPr txBox="1"/>
          <p:nvPr/>
        </p:nvSpPr>
        <p:spPr>
          <a:xfrm>
            <a:off x="640080" y="2057400"/>
            <a:ext cx="361188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Defaults to true: the run pauses after the plan. This lesson sets false.</a:t>
            </a:r>
            <a:endParaRPr lang="en-US" sz="1200" dirty="0"/>
          </a:p>
        </p:txBody>
      </p:sp>
      <p:sp>
        <p:nvSpPr>
          <p:cNvPr id="9" name="Shape 6"/>
          <p:cNvSpPr/>
          <p:nvPr/>
        </p:nvSpPr>
        <p:spPr>
          <a:xfrm>
            <a:off x="4709160" y="1371600"/>
            <a:ext cx="397764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WithMaxRounds</a:t>
            </a:r>
            <a:endParaRPr lang="en-US" sz="1400" dirty="0"/>
          </a:p>
        </p:txBody>
      </p:sp>
      <p:sp>
        <p:nvSpPr>
          <p:cNvPr id="13" name="Text 9"/>
          <p:cNvSpPr txBox="1"/>
          <p:nvPr/>
        </p:nvSpPr>
        <p:spPr>
          <a:xfrm>
            <a:off x="4892040" y="2057400"/>
            <a:ext cx="361188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Unbounded by default. This lesson caps it at 8.</a:t>
            </a:r>
            <a:endParaRPr lang="en-US" sz="1200" dirty="0"/>
          </a:p>
        </p:txBody>
      </p:sp>
      <p:sp>
        <p:nvSpPr>
          <p:cNvPr id="14" name="Shape 10"/>
          <p:cNvSpPr/>
          <p:nvPr/>
        </p:nvSpPr>
        <p:spPr>
          <a:xfrm>
            <a:off x="457200" y="2788920"/>
            <a:ext cx="3977640" cy="1188720"/>
          </a:xfrm>
          <a:prstGeom prst="roundRect">
            <a:avLst>
              <a:gd name="adj" fmla="val 6154"/>
            </a:avLst>
          </a:prstGeom>
          <a:solidFill>
            <a:srgbClr val="EFEBFC"/>
          </a:solidFill>
          <a:ln w="12700">
            <a:solidFill>
              <a:srgbClr val="EFEBFC"/>
            </a:solidFill>
            <a:prstDash val="solid"/>
          </a:ln>
        </p:spPr>
      </p:sp>
      <p:sp>
        <p:nvSpPr>
          <p:cNvPr id="15" name="Shape 11"/>
          <p:cNvSpPr/>
          <p:nvPr/>
        </p:nvSpPr>
        <p:spPr>
          <a:xfrm>
            <a:off x="640080" y="297180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071652"/>
            <a:ext cx="184343" cy="184343"/>
          </a:xfrm>
          <a:prstGeom prst="rect">
            <a:avLst/>
          </a:prstGeom>
        </p:spPr>
      </p:pic>
      <p:sp>
        <p:nvSpPr>
          <p:cNvPr id="17" name="Text 12"/>
          <p:cNvSpPr txBox="1"/>
          <p:nvPr/>
        </p:nvSpPr>
        <p:spPr>
          <a:xfrm>
            <a:off x="1143000" y="297180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WithMaxResets</a:t>
            </a:r>
            <a:endParaRPr lang="en-US" sz="1400" dirty="0"/>
          </a:p>
        </p:txBody>
      </p:sp>
      <p:sp>
        <p:nvSpPr>
          <p:cNvPr id="18" name="Text 13"/>
          <p:cNvSpPr txBox="1"/>
          <p:nvPr/>
        </p:nvSpPr>
        <p:spPr>
          <a:xfrm>
            <a:off x="640080" y="3474720"/>
            <a:ext cx="361188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Also unbounded by default.</a:t>
            </a:r>
            <a:endParaRPr lang="en-US" sz="1200" dirty="0"/>
          </a:p>
        </p:txBody>
      </p:sp>
      <p:sp>
        <p:nvSpPr>
          <p:cNvPr id="19" name="Shape 14"/>
          <p:cNvSpPr/>
          <p:nvPr/>
        </p:nvSpPr>
        <p:spPr>
          <a:xfrm>
            <a:off x="4709160" y="2788920"/>
            <a:ext cx="397764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489204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071652"/>
            <a:ext cx="184343" cy="184343"/>
          </a:xfrm>
          <a:prstGeom prst="rect">
            <a:avLst/>
          </a:prstGeom>
        </p:spPr>
      </p:pic>
      <p:sp>
        <p:nvSpPr>
          <p:cNvPr id="22" name="Text 16"/>
          <p:cNvSpPr txBox="1"/>
          <p:nvPr/>
        </p:nvSpPr>
        <p:spPr>
          <a:xfrm>
            <a:off x="5394960" y="297180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WithMaxStalls</a:t>
            </a:r>
            <a:endParaRPr lang="en-US" sz="1400" dirty="0"/>
          </a:p>
        </p:txBody>
      </p:sp>
      <p:sp>
        <p:nvSpPr>
          <p:cNvPr id="23" name="Text 17"/>
          <p:cNvSpPr txBox="1"/>
          <p:nvPr/>
        </p:nvSpPr>
        <p:spPr>
          <a:xfrm>
            <a:off x="4892040" y="3474720"/>
            <a:ext cx="361188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one sane default: 3. This lesson uses 2.</a:t>
            </a:r>
            <a:endParaRPr lang="en-US" sz="1200" dirty="0"/>
          </a:p>
        </p:txBody>
      </p:sp>
      <p:sp>
        <p:nvSpPr>
          <p:cNvPr id="24" name="Text 18"/>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An unbounded, re-planning orchestrator is a runaway-cost risk. Cap it.</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Shared history makes specialist tools risky</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Specialist tool call</a:t>
            </a:r>
            <a:endParaRPr lang="en-US" sz="14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Its call and result turns enter the history</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One shared history</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agent sees the whole team's turns</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Replayed elsewhere</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Tool turns land inside another agent's turn</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Request rejected</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Providers validate tool-turn order</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This lesson's specialists are tool-free. Test tools on the provider you deploy.</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 three ledger rounds, one answer</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Manager's fact sheet and plan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ResearchAgent: Find two distinct, little-known facts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about the planet Saturn.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WriterAgent: Using the two facts provided by the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ResearchAgent, craft one short, engaging paragraph.</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Progress ledger: next speaker = ResearchAgent,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satisfied = False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Progress ledger: next speaker = WriterAgent,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satisfied = False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Progress ledger: next speaker = N/A, satisfied = True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Final answer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[ManagerAgent] Here is the short, engaging paragraph ...</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Once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MagenticPlanCreatedEvent with the plan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Every round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Ledger updates until satisfied = True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At the end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single answer authored by ManagerAgent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621792"/>
          </a:xfrm>
          <a:prstGeom prst="roundRect">
            <a:avLst>
              <a:gd name="adj" fmla="val 11765"/>
            </a:avLst>
          </a:prstGeom>
          <a:solidFill>
            <a:srgbClr val="1F2943"/>
          </a:solidFill>
          <a:ln w="12700">
            <a:solidFill>
              <a:srgbClr val="1F2943"/>
            </a:solidFill>
            <a:prstDash val="solid"/>
          </a:ln>
        </p:spPr>
      </p:sp>
      <p:sp>
        <p:nvSpPr>
          <p:cNvPr id="5" name="Text 3"/>
          <p:cNvSpPr txBox="1"/>
          <p:nvPr/>
        </p:nvSpPr>
        <p:spPr>
          <a:xfrm>
            <a:off x="621792" y="123444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 sign-off pauses by default</a:t>
            </a:r>
            <a:endParaRPr lang="en-US" sz="1300" dirty="0"/>
          </a:p>
        </p:txBody>
      </p:sp>
      <p:sp>
        <p:nvSpPr>
          <p:cNvPr id="6" name="Shape 4"/>
          <p:cNvSpPr/>
          <p:nvPr/>
        </p:nvSpPr>
        <p:spPr>
          <a:xfrm>
            <a:off x="3493008" y="145389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The same pause-and-resume mechanism a RequestPort uses</a:t>
            </a:r>
            <a:endParaRPr lang="en-US" sz="1250" dirty="0"/>
          </a:p>
        </p:txBody>
      </p:sp>
      <p:sp>
        <p:nvSpPr>
          <p:cNvPr id="8" name="Shape 6"/>
          <p:cNvSpPr/>
          <p:nvPr/>
        </p:nvSpPr>
        <p:spPr>
          <a:xfrm>
            <a:off x="457200" y="1965960"/>
            <a:ext cx="2926080" cy="621792"/>
          </a:xfrm>
          <a:prstGeom prst="roundRect">
            <a:avLst>
              <a:gd name="adj" fmla="val 11765"/>
            </a:avLst>
          </a:prstGeom>
          <a:solidFill>
            <a:srgbClr val="1F2943"/>
          </a:solidFill>
          <a:ln w="12700">
            <a:solidFill>
              <a:srgbClr val="1F2943"/>
            </a:solidFill>
            <a:prstDash val="solid"/>
          </a:ln>
        </p:spPr>
      </p:sp>
      <p:sp>
        <p:nvSpPr>
          <p:cNvPr id="9" name="Text 7"/>
          <p:cNvSpPr txBox="1"/>
          <p:nvPr/>
        </p:nvSpPr>
        <p:spPr>
          <a:xfrm>
            <a:off x="621792" y="196596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paused plan-review run</a:t>
            </a:r>
            <a:endParaRPr lang="en-US" sz="1300" dirty="0"/>
          </a:p>
        </p:txBody>
      </p:sp>
      <p:sp>
        <p:nvSpPr>
          <p:cNvPr id="10" name="Shape 8"/>
          <p:cNvSpPr/>
          <p:nvPr/>
        </p:nvSpPr>
        <p:spPr>
          <a:xfrm>
            <a:off x="3493008" y="218541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6596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Turns sign-off on and checkpoints the paused run to disk</a:t>
            </a:r>
            <a:endParaRPr lang="en-US" sz="1250" dirty="0"/>
          </a:p>
        </p:txBody>
      </p:sp>
      <p:sp>
        <p:nvSpPr>
          <p:cNvPr id="12" name="Shape 10"/>
          <p:cNvSpPr/>
          <p:nvPr/>
        </p:nvSpPr>
        <p:spPr>
          <a:xfrm>
            <a:off x="457200" y="2697480"/>
            <a:ext cx="2926080" cy="621792"/>
          </a:xfrm>
          <a:prstGeom prst="roundRect">
            <a:avLst>
              <a:gd name="adj" fmla="val 11765"/>
            </a:avLst>
          </a:prstGeom>
          <a:solidFill>
            <a:srgbClr val="1F2943"/>
          </a:solidFill>
          <a:ln w="12700">
            <a:solidFill>
              <a:srgbClr val="1F2943"/>
            </a:solidFill>
            <a:prstDash val="solid"/>
          </a:ln>
        </p:spPr>
      </p:sp>
      <p:sp>
        <p:nvSpPr>
          <p:cNvPr id="13" name="Text 11"/>
          <p:cNvSpPr txBox="1"/>
          <p:nvPr/>
        </p:nvSpPr>
        <p:spPr>
          <a:xfrm>
            <a:off x="621792" y="269748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Manager-led, open-ended planning</a:t>
            </a:r>
            <a:endParaRPr lang="en-US" sz="1300" dirty="0"/>
          </a:p>
        </p:txBody>
      </p:sp>
      <p:sp>
        <p:nvSpPr>
          <p:cNvPr id="14" name="Shape 12"/>
          <p:cNvSpPr/>
          <p:nvPr/>
        </p:nvSpPr>
        <p:spPr>
          <a:xfrm>
            <a:off x="3493008" y="291693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9748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Not needed: the capstone's three roles are fixed</a:t>
            </a:r>
            <a:endParaRPr lang="en-US" sz="1250" dirty="0"/>
          </a:p>
        </p:txBody>
      </p:sp>
      <p:sp>
        <p:nvSpPr>
          <p:cNvPr id="16" name="Text 14"/>
          <p:cNvSpPr txBox="1"/>
          <p:nvPr/>
        </p:nvSpPr>
        <p:spPr>
          <a:xfrm>
            <a:off x="457200" y="361188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 (by contrast)</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16 — Magentic-One Pattern</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16 — Magentic-One Pattern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2026-10-07T23:53:46Z</dcterms:created>
  <dcterms:modified xsi:type="dcterms:W3CDTF">2026-10-07T23:53:46Z</dcterms:modified>
</cp:coreProperties>
</file>