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lesson a SupportAgent gets wrapped in four layers of middleware: a chat-client-level request logger, an agent-run guardrail that can block a request before the agent ever sees it, an agent-run logger, and a function-calling logger, without changing a single line of the agent's own instructions or tools. This is how you add cross-cutting behavior, logging, guardrails and request shaping, to any agent in MAF: as decorators wrapped around the pipeline, not as code baked into the agent itself. The lesson assumes Lessons 1 and 2: IChatClient, ChatClientAgent, RunAsync, and function tools built with AIFunctionFactory.Create. Setup is unchanged: Microsoft.Agents.AI 1.24.0, Microsoft.Extensions.AI.OpenAI 10.10.1 and OpenAI 2.14.0, with OPENAI_API_KEY set. No new packages are needed: AIAgentBuilder and the chat-client builder ship in the packages already referenced. MAF_LLM and MAF_MODEL are both required, with no built-in defaults: set MAF_LLM to OPENAI and MAF_MODEL to gpt-4.1-mini, the values the demos use, or pick AZURE, GEMINI, OLLAMA or LMSTUDIO with a model that provider serves; on Gemini use gemini-2.5-flash, because the factory refuses Gemini 3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MAF's agent pipeline can be customized at three separate layers, and this lesson exercises all three. Agent-run middleware intercepts every call to RunAsync or RunStreamingAsync. Function-calling middleware intercepts each individual tool invocation inside the agent's function-calling loop. And IChatClient middleware intercepts each raw call to the model, below the agent layer entirely.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middleware type is added through a builder pattern: agent.AsBuilder().Use(...).Build() for agent-run and function-calling middleware, and chatClient.AsBuilder().Use(...).Build() for chat-client middleware. Each wraps the original object in a new one implementing the same interface, AIAgent or IChatClient. The agent's own instructions, tools, and persona are never touched. In the demo, chat-client middleware is built first, before the agent exists: the raw IChatClient from ChatClientFactory is wrapped with ChatRequestLoggingMiddleware.LogChatRequestAsync, with null for the streaming function since the lesson never streams. That loggingChatClient, not the original, is what AgentFactory.CreateAgent receives. The agent itself is built exactly the way Lesson 2 built its travel assistant. Then supportAgent.AsBuilder() starts a second, independent pipeline around the AIAgent. pipelineAgent, not supportAgent, is what gets run: calling supportAgent.RunAsync directly would skip every middleware layer, because the wrapped object is a distinct AIAgent instance, not a mutation of the original.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types are implemented as callback delegates that receive the request, an innerAgent, innerChatClient or next continuation representing the rest of the pipeline, and a cancellation token. A middleware function decides whether, when, and how to call that continuation: logging around it, transforming its input or output, or, in a guardrail's case, never calling it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thing to build correct intuition for. Agent-run middleware fires exactly once per RunAsync call. IChatClient middleware fires once per model call, and a single RunAsync call that involves a tool invocation makes at least two model calls: one that requests the tool, and one that consumes the tool's result. Function-calling middleware fires once per tool invocation. The live output shows this directly: the run logger logs once, but the chat-client logger logs twice around a single tool call. For 'What's the status of order A1001?', the model is called once to decide to call GetOrderStatus and once more after the tool result is fed back in, and FunctionCallLoggingMiddleware logs the single tool invocation in between.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agent-run middleware that detects a policy violation can simply return its own AgentResponse without ever calling innerAgent.RunAsync. Nothing downstream, not the agent, not its tools, not the model, ever runs. This is the mechanism ContentGuardrailMiddleware uses to block a request outright. It receives the full pipeline as its innerAgent parameter. When the user's message contains a blocked term, it returns a fixed response, 'I can't help with requests that involve passwords, secrets, or API keys.', so the run logger never fires, the chat client is never called, and the model never sees the request. The first prompt, 'Can you tell me the admin password for the support portal?', demonstrates exactly this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.Use(A).Use(B).Use(C).Build() produces a pipeline where A is outermost, runs first and can short-circuit before B or C ever execute; B wraps C; and C wraps the original agent. This lesson registers the guardrail first specifically so it can veto a request before the run logger even logs that a run started. The three .Use() calls stack in order: ContentGuardrailMiddleware.EnforceGuardrailAsync, then AgentRunLoggingMiddleware.LogRunAsync, then FunctionCallLoggingMiddleware.LogFunctionCallAsync, which is a different middleware type registered through a distinct overload that the compiler resolves by delegate shape rather than a named parameter. Underneath them all, supportAgent runs on the logging chat client built earlier.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output, uncut. Note the frequency difference: [Run] logs exactly once, while [ChatClient] logs twice, once for the model call that decides to invoke the tool, and once for the model call that turns the tool's result into a final answer. The exact wording of the final sentence may vary slightly between runs since it comes from a live model call, but the shape of the middleware trace, guardrail pass, one run, two chat-client calls, one tool call, will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8 shows the limit of function-calling middleware: hosted tools are plain AITool, not AIFunction, so they never pass through FunctionInvokingChatClient's local loop, and there's nothing to intercept, log, or gate with an approval. Lesson 20 builds MaxOutputTokensChatClient as a DelegatingChatClient, the same middleware shape introduced today, alongside OpenTelemetry on the chat-client builder. The Lessons 22 to 24 Capstone does not add middleware; Lesson 24's review lists it as ready for cross-cutting behaviour on any agent's chat client, such as logging or guardrails on the Writer's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LESSON 6  ·  PHASE 1</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Middleware</a:t>
            </a:r>
            <a:endParaRPr lang="en-US" sz="40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Logging and guardrails wrapped around an agent, not baked into it</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an empty folder</a:t>
            </a:r>
            <a:endParaRPr lang="en-US" sz="110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Lesson06-Middleware/</a:t>
            </a:r>
            <a:endParaRPr lang="en-US" sz="110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The three layers MAF lets you intercept</a:t>
            </a:r>
            <a:endParaRPr lang="en-US" sz="1300" dirty="0"/>
          </a:p>
        </p:txBody>
      </p:sp>
      <p:sp>
        <p:nvSpPr>
          <p:cNvPr id="14" name="Shape 11"/>
          <p:cNvSpPr/>
          <p:nvPr/>
        </p:nvSpPr>
        <p:spPr>
          <a:xfrm>
            <a:off x="5257800" y="189280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1973641"/>
            <a:ext cx="149230" cy="149230"/>
          </a:xfrm>
          <a:prstGeom prst="rect">
            <a:avLst/>
          </a:prstGeom>
        </p:spPr>
      </p:pic>
      <p:sp>
        <p:nvSpPr>
          <p:cNvPr id="16" name="Text 12"/>
          <p:cNvSpPr txBox="1"/>
          <p:nvPr/>
        </p:nvSpPr>
        <p:spPr>
          <a:xfrm>
            <a:off x="5715000" y="187452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Middleware as a decorator built with AsBuilder().Use()</a:t>
            </a:r>
            <a:endParaRPr lang="en-US" sz="1300" dirty="0"/>
          </a:p>
        </p:txBody>
      </p:sp>
      <p:sp>
        <p:nvSpPr>
          <p:cNvPr id="17" name="Shape 13"/>
          <p:cNvSpPr/>
          <p:nvPr/>
        </p:nvSpPr>
        <p:spPr>
          <a:xfrm>
            <a:off x="5257800" y="253288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613721"/>
            <a:ext cx="149230" cy="149230"/>
          </a:xfrm>
          <a:prstGeom prst="rect">
            <a:avLst/>
          </a:prstGeom>
        </p:spPr>
      </p:pic>
      <p:sp>
        <p:nvSpPr>
          <p:cNvPr id="19" name="Text 14"/>
          <p:cNvSpPr txBox="1"/>
          <p:nvPr/>
        </p:nvSpPr>
        <p:spPr>
          <a:xfrm>
            <a:off x="5715000" y="251460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How often each layer fires in one run</a:t>
            </a:r>
            <a:endParaRPr lang="en-US" sz="1300" dirty="0"/>
          </a:p>
        </p:txBody>
      </p:sp>
      <p:sp>
        <p:nvSpPr>
          <p:cNvPr id="20" name="Shape 15"/>
          <p:cNvSpPr/>
          <p:nvPr/>
        </p:nvSpPr>
        <p:spPr>
          <a:xfrm>
            <a:off x="5257800" y="317296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253801"/>
            <a:ext cx="149230" cy="149230"/>
          </a:xfrm>
          <a:prstGeom prst="rect">
            <a:avLst/>
          </a:prstGeom>
        </p:spPr>
      </p:pic>
      <p:sp>
        <p:nvSpPr>
          <p:cNvPr id="22" name="Text 16"/>
          <p:cNvSpPr txBox="1"/>
          <p:nvPr/>
        </p:nvSpPr>
        <p:spPr>
          <a:xfrm>
            <a:off x="5715000" y="315468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Blocking a request by never calling next</a:t>
            </a:r>
            <a:endParaRPr lang="en-US" sz="1300" dirty="0"/>
          </a:p>
        </p:txBody>
      </p:sp>
      <p:sp>
        <p:nvSpPr>
          <p:cNvPr id="23" name="Shape 17"/>
          <p:cNvSpPr/>
          <p:nvPr/>
        </p:nvSpPr>
        <p:spPr>
          <a:xfrm>
            <a:off x="5257800" y="3813048"/>
            <a:ext cx="310896" cy="310896"/>
          </a:xfrm>
          <a:prstGeom prst="ellipse">
            <a:avLst/>
          </a:prstGeom>
          <a:solidFill>
            <a:srgbClr val="512BD4"/>
          </a:solidFill>
          <a:ln w="12700">
            <a:solidFill>
              <a:srgbClr val="512BD4"/>
            </a:solidFill>
            <a:prstDash val="solid"/>
          </a:ln>
        </p:spPr>
      </p:sp>
      <p:pic>
        <p:nvPicPr>
          <p:cNvPr id="24" name="Image 4" descr="preencoded.png">    </p:cNvPr>
          <p:cNvPicPr>
            <a:picLocks noChangeAspect="1"/>
          </p:cNvPicPr>
          <p:nvPr/>
        </p:nvPicPr>
        <p:blipFill>
          <a:blip r:embed="rId5"/>
          <a:stretch>
            <a:fillRect/>
          </a:stretch>
        </p:blipFill>
        <p:spPr>
          <a:xfrm>
            <a:off x="5338633" y="3893881"/>
            <a:ext cx="149230" cy="149230"/>
          </a:xfrm>
          <a:prstGeom prst="rect">
            <a:avLst/>
          </a:prstGeom>
        </p:spPr>
      </p:pic>
      <p:sp>
        <p:nvSpPr>
          <p:cNvPr id="25" name="Text 18"/>
          <p:cNvSpPr txBox="1"/>
          <p:nvPr/>
        </p:nvSpPr>
        <p:spPr>
          <a:xfrm>
            <a:off x="5715000" y="379476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Why registration order is wrapping order</a:t>
            </a:r>
            <a:endParaRPr lang="en-US" sz="1300" dirty="0"/>
          </a:p>
        </p:txBody>
      </p:sp>
      <p:sp>
        <p:nvSpPr>
          <p:cNvPr id="26"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  Lesson 6 — Middleware</a:t>
            </a:r>
            <a:endParaRPr lang="en-US" sz="900" dirty="0"/>
          </a:p>
        </p:txBody>
      </p:sp>
      <p:sp>
        <p:nvSpPr>
          <p:cNvPr id="27"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Three layers you can intercept</a:t>
            </a:r>
            <a:endParaRPr lang="en-US" sz="280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4572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SupportAgent</a:t>
            </a:r>
            <a:endParaRPr lang="en-US" sz="1800" dirty="0"/>
          </a:p>
        </p:txBody>
      </p:sp>
      <p:sp>
        <p:nvSpPr>
          <p:cNvPr id="8" name="Text 5"/>
          <p:cNvSpPr txBox="1"/>
          <p:nvPr/>
        </p:nvSpPr>
        <p:spPr>
          <a:xfrm>
            <a:off x="685800" y="2743200"/>
            <a:ext cx="2057400" cy="9601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Its instructions, tools and persona are never touched.</a:t>
            </a:r>
            <a:endParaRPr lang="en-US" sz="1300" dirty="0"/>
          </a:p>
        </p:txBody>
      </p:sp>
      <p:sp>
        <p:nvSpPr>
          <p:cNvPr id="9" name="Shape 6"/>
          <p:cNvSpPr/>
          <p:nvPr/>
        </p:nvSpPr>
        <p:spPr>
          <a:xfrm>
            <a:off x="2926080" y="1752600"/>
            <a:ext cx="502920" cy="0"/>
          </a:xfrm>
          <a:prstGeom prst="line">
            <a:avLst/>
          </a:prstGeom>
          <a:noFill/>
          <a:ln w="25400">
            <a:solidFill>
              <a:srgbClr val="F5A623"/>
            </a:solidFill>
            <a:prstDash val="solid"/>
          </a:ln>
        </p:spPr>
      </p:sp>
      <p:sp>
        <p:nvSpPr>
          <p:cNvPr id="10" name="Shape 7"/>
          <p:cNvSpPr/>
          <p:nvPr/>
        </p:nvSpPr>
        <p:spPr>
          <a:xfrm>
            <a:off x="3429000" y="1417320"/>
            <a:ext cx="5257800" cy="670560"/>
          </a:xfrm>
          <a:prstGeom prst="roundRect">
            <a:avLst>
              <a:gd name="adj" fmla="val 10909"/>
            </a:avLst>
          </a:prstGeom>
          <a:solidFill>
            <a:srgbClr val="EFEBFC"/>
          </a:solidFill>
          <a:ln w="12700">
            <a:solidFill>
              <a:srgbClr val="EFEBFC"/>
            </a:solidFill>
            <a:prstDash val="solid"/>
          </a:ln>
        </p:spPr>
      </p:sp>
      <p:sp>
        <p:nvSpPr>
          <p:cNvPr id="11" name="Shape 8"/>
          <p:cNvSpPr/>
          <p:nvPr/>
        </p:nvSpPr>
        <p:spPr>
          <a:xfrm>
            <a:off x="3593592" y="156057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660428"/>
            <a:ext cx="184343" cy="184343"/>
          </a:xfrm>
          <a:prstGeom prst="rect">
            <a:avLst/>
          </a:prstGeom>
        </p:spPr>
      </p:pic>
      <p:sp>
        <p:nvSpPr>
          <p:cNvPr id="13" name="Text 9"/>
          <p:cNvSpPr txBox="1"/>
          <p:nvPr/>
        </p:nvSpPr>
        <p:spPr>
          <a:xfrm>
            <a:off x="4142232" y="1508760"/>
            <a:ext cx="132588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Agent run</a:t>
            </a:r>
            <a:endParaRPr lang="en-US" sz="1500" dirty="0"/>
          </a:p>
        </p:txBody>
      </p:sp>
      <p:sp>
        <p:nvSpPr>
          <p:cNvPr id="14" name="Text 10"/>
          <p:cNvSpPr txBox="1"/>
          <p:nvPr/>
        </p:nvSpPr>
        <p:spPr>
          <a:xfrm>
            <a:off x="5577840" y="150876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Every RunAsync or RunStreamingAsync call</a:t>
            </a:r>
            <a:endParaRPr lang="en-US" sz="1200" dirty="0"/>
          </a:p>
        </p:txBody>
      </p:sp>
      <p:sp>
        <p:nvSpPr>
          <p:cNvPr id="15" name="Shape 11"/>
          <p:cNvSpPr/>
          <p:nvPr/>
        </p:nvSpPr>
        <p:spPr>
          <a:xfrm>
            <a:off x="2926080" y="2606040"/>
            <a:ext cx="502920" cy="0"/>
          </a:xfrm>
          <a:prstGeom prst="line">
            <a:avLst/>
          </a:prstGeom>
          <a:noFill/>
          <a:ln w="25400">
            <a:solidFill>
              <a:srgbClr val="F5A623"/>
            </a:solidFill>
            <a:prstDash val="solid"/>
          </a:ln>
        </p:spPr>
      </p:sp>
      <p:sp>
        <p:nvSpPr>
          <p:cNvPr id="16" name="Shape 12"/>
          <p:cNvSpPr/>
          <p:nvPr/>
        </p:nvSpPr>
        <p:spPr>
          <a:xfrm>
            <a:off x="3429000" y="2270760"/>
            <a:ext cx="5257800" cy="670560"/>
          </a:xfrm>
          <a:prstGeom prst="roundRect">
            <a:avLst>
              <a:gd name="adj" fmla="val 10909"/>
            </a:avLst>
          </a:prstGeom>
          <a:solidFill>
            <a:srgbClr val="EFEBFC"/>
          </a:solidFill>
          <a:ln w="12700">
            <a:solidFill>
              <a:srgbClr val="EFEBFC"/>
            </a:solidFill>
            <a:prstDash val="solid"/>
          </a:ln>
        </p:spPr>
      </p:sp>
      <p:sp>
        <p:nvSpPr>
          <p:cNvPr id="17" name="Shape 13"/>
          <p:cNvSpPr/>
          <p:nvPr/>
        </p:nvSpPr>
        <p:spPr>
          <a:xfrm>
            <a:off x="3593592" y="241401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513868"/>
            <a:ext cx="184343" cy="184343"/>
          </a:xfrm>
          <a:prstGeom prst="rect">
            <a:avLst/>
          </a:prstGeom>
        </p:spPr>
      </p:pic>
      <p:sp>
        <p:nvSpPr>
          <p:cNvPr id="19" name="Text 14"/>
          <p:cNvSpPr txBox="1"/>
          <p:nvPr/>
        </p:nvSpPr>
        <p:spPr>
          <a:xfrm>
            <a:off x="4142232" y="2362200"/>
            <a:ext cx="132588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Function call</a:t>
            </a:r>
            <a:endParaRPr lang="en-US" sz="1500" dirty="0"/>
          </a:p>
        </p:txBody>
      </p:sp>
      <p:sp>
        <p:nvSpPr>
          <p:cNvPr id="20" name="Text 15"/>
          <p:cNvSpPr txBox="1"/>
          <p:nvPr/>
        </p:nvSpPr>
        <p:spPr>
          <a:xfrm>
            <a:off x="5577840" y="236220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Each tool invocation inside the function-calling loop</a:t>
            </a:r>
            <a:endParaRPr lang="en-US" sz="1200" dirty="0"/>
          </a:p>
        </p:txBody>
      </p:sp>
      <p:sp>
        <p:nvSpPr>
          <p:cNvPr id="21" name="Shape 16"/>
          <p:cNvSpPr/>
          <p:nvPr/>
        </p:nvSpPr>
        <p:spPr>
          <a:xfrm>
            <a:off x="2926080" y="3459480"/>
            <a:ext cx="502920" cy="0"/>
          </a:xfrm>
          <a:prstGeom prst="line">
            <a:avLst/>
          </a:prstGeom>
          <a:noFill/>
          <a:ln w="25400">
            <a:solidFill>
              <a:srgbClr val="F5A623"/>
            </a:solidFill>
            <a:prstDash val="solid"/>
          </a:ln>
        </p:spPr>
      </p:sp>
      <p:sp>
        <p:nvSpPr>
          <p:cNvPr id="22" name="Shape 17"/>
          <p:cNvSpPr/>
          <p:nvPr/>
        </p:nvSpPr>
        <p:spPr>
          <a:xfrm>
            <a:off x="3429000" y="3124200"/>
            <a:ext cx="5257800" cy="670560"/>
          </a:xfrm>
          <a:prstGeom prst="roundRect">
            <a:avLst>
              <a:gd name="adj" fmla="val 10909"/>
            </a:avLst>
          </a:prstGeom>
          <a:solidFill>
            <a:srgbClr val="EFEBFC"/>
          </a:solidFill>
          <a:ln w="12700">
            <a:solidFill>
              <a:srgbClr val="EFEBFC"/>
            </a:solidFill>
            <a:prstDash val="solid"/>
          </a:ln>
        </p:spPr>
      </p:sp>
      <p:sp>
        <p:nvSpPr>
          <p:cNvPr id="23" name="Shape 18"/>
          <p:cNvSpPr/>
          <p:nvPr/>
        </p:nvSpPr>
        <p:spPr>
          <a:xfrm>
            <a:off x="3593592" y="32674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3367308"/>
            <a:ext cx="184343" cy="184343"/>
          </a:xfrm>
          <a:prstGeom prst="rect">
            <a:avLst/>
          </a:prstGeom>
        </p:spPr>
      </p:pic>
      <p:sp>
        <p:nvSpPr>
          <p:cNvPr id="25" name="Text 19"/>
          <p:cNvSpPr txBox="1"/>
          <p:nvPr/>
        </p:nvSpPr>
        <p:spPr>
          <a:xfrm>
            <a:off x="4142232" y="3215640"/>
            <a:ext cx="132588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IChatClient</a:t>
            </a:r>
            <a:endParaRPr lang="en-US" sz="1500" dirty="0"/>
          </a:p>
        </p:txBody>
      </p:sp>
      <p:sp>
        <p:nvSpPr>
          <p:cNvPr id="26" name="Text 20"/>
          <p:cNvSpPr txBox="1"/>
          <p:nvPr/>
        </p:nvSpPr>
        <p:spPr>
          <a:xfrm>
            <a:off x="5577840" y="321564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Each raw call to the model, below the agent entirely</a:t>
            </a:r>
            <a:endParaRPr lang="en-US" sz="1200" dirty="0"/>
          </a:p>
        </p:txBody>
      </p:sp>
      <p:sp>
        <p:nvSpPr>
          <p:cNvPr id="27" name="Text 21"/>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This lesson exercises all three.</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6 — Middleware</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A decorator, not a modification</a:t>
            </a:r>
            <a:endParaRPr lang="en-US" sz="2800" dirty="0"/>
          </a:p>
        </p:txBody>
      </p:sp>
      <p:sp>
        <p:nvSpPr>
          <p:cNvPr id="4" name="Shape 2"/>
          <p:cNvSpPr/>
          <p:nvPr/>
        </p:nvSpPr>
        <p:spPr>
          <a:xfrm>
            <a:off x="457200" y="1371600"/>
            <a:ext cx="3931920" cy="1920240"/>
          </a:xfrm>
          <a:prstGeom prst="roundRect">
            <a:avLst>
              <a:gd name="adj" fmla="val 3810"/>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DC2626"/>
          </a:solidFill>
          <a:ln w="12700">
            <a:solidFill>
              <a:srgbClr val="DC2626"/>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supportAgent.RunAsync</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original agent, unchanged</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Skips every middleware layer</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Builder calls never mutate it</a:t>
            </a:r>
            <a:endParaRPr lang="en-US" sz="1300" dirty="0"/>
          </a:p>
        </p:txBody>
      </p:sp>
      <p:sp>
        <p:nvSpPr>
          <p:cNvPr id="9" name="Shape 6"/>
          <p:cNvSpPr/>
          <p:nvPr/>
        </p:nvSpPr>
        <p:spPr>
          <a:xfrm>
            <a:off x="4754880" y="1371600"/>
            <a:ext cx="3931920" cy="1920240"/>
          </a:xfrm>
          <a:prstGeom prst="roundRect">
            <a:avLst>
              <a:gd name="adj" fmla="val 3810"/>
            </a:avLst>
          </a:prstGeom>
          <a:solidFill>
            <a:srgbClr val="EFEBFC"/>
          </a:solidFill>
          <a:ln w="12700">
            <a:solidFill>
              <a:srgbClr val="EFEBFC"/>
            </a:solidFill>
            <a:prstDash val="solid"/>
          </a:ln>
        </p:spPr>
      </p:sp>
      <p:sp>
        <p:nvSpPr>
          <p:cNvPr id="10" name="Shape 7"/>
          <p:cNvSpPr/>
          <p:nvPr/>
        </p:nvSpPr>
        <p:spPr>
          <a:xfrm>
            <a:off x="4983480" y="1600200"/>
            <a:ext cx="438912" cy="438912"/>
          </a:xfrm>
          <a:prstGeom prst="ellipse">
            <a:avLst/>
          </a:prstGeom>
          <a:solidFill>
            <a:srgbClr val="16A34A"/>
          </a:solidFill>
          <a:ln w="12700">
            <a:solidFill>
              <a:srgbClr val="16A34A"/>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pipelineAgent.RunAsync</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new AIAgent that .Build() returns</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Wraps the original, same interface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Every request flows through each layer</a:t>
            </a:r>
            <a:endParaRPr lang="en-US" sz="1300" dirty="0"/>
          </a:p>
        </p:txBody>
      </p:sp>
      <p:sp>
        <p:nvSpPr>
          <p:cNvPr id="14" name="Text 10"/>
          <p:cNvSpPr txBox="1"/>
          <p:nvPr/>
        </p:nvSpPr>
        <p:spPr>
          <a:xfrm>
            <a:off x="457200" y="356616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agent.AsBuilder().Use(...).Build() and chatClient.AsBuilder().Use(...).Build()</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6 — Middleware</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Each middleware is just a function</a:t>
            </a:r>
            <a:endParaRPr lang="en-US" sz="2800" dirty="0"/>
          </a:p>
        </p:txBody>
      </p:sp>
      <p:sp>
        <p:nvSpPr>
          <p:cNvPr id="4" name="Shape 2"/>
          <p:cNvSpPr/>
          <p:nvPr/>
        </p:nvSpPr>
        <p:spPr>
          <a:xfrm>
            <a:off x="457200" y="1417320"/>
            <a:ext cx="1796796" cy="2185416"/>
          </a:xfrm>
          <a:prstGeom prst="roundRect">
            <a:avLst>
              <a:gd name="adj" fmla="val 4071"/>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Request in</a:t>
            </a:r>
            <a:endParaRPr lang="en-US" sz="1500" dirty="0"/>
          </a:p>
        </p:txBody>
      </p:sp>
      <p:sp>
        <p:nvSpPr>
          <p:cNvPr id="8" name="Text 5"/>
          <p:cNvSpPr txBox="1"/>
          <p:nvPr/>
        </p:nvSpPr>
        <p:spPr>
          <a:xfrm>
            <a:off x="640080" y="2606040"/>
            <a:ext cx="1476756"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Messages, plus a cancellation token</a:t>
            </a:r>
            <a:endParaRPr lang="en-US" sz="1200" dirty="0"/>
          </a:p>
        </p:txBody>
      </p:sp>
      <p:sp>
        <p:nvSpPr>
          <p:cNvPr id="9" name="Shape 6"/>
          <p:cNvSpPr/>
          <p:nvPr/>
        </p:nvSpPr>
        <p:spPr>
          <a:xfrm>
            <a:off x="2318004" y="2400300"/>
            <a:ext cx="219456" cy="219456"/>
          </a:xfrm>
          <a:prstGeom prst="rightArrow">
            <a:avLst/>
          </a:prstGeom>
          <a:solidFill>
            <a:srgbClr val="F5A623"/>
          </a:solidFill>
          <a:ln w="12700">
            <a:solidFill>
              <a:srgbClr val="F5A623"/>
            </a:solidFill>
            <a:prstDash val="solid"/>
          </a:ln>
        </p:spPr>
      </p:sp>
      <p:sp>
        <p:nvSpPr>
          <p:cNvPr id="10" name="Shape 7"/>
          <p:cNvSpPr/>
          <p:nvPr/>
        </p:nvSpPr>
        <p:spPr>
          <a:xfrm>
            <a:off x="2601468" y="1417320"/>
            <a:ext cx="1796796" cy="2185416"/>
          </a:xfrm>
          <a:prstGeom prst="roundRect">
            <a:avLst>
              <a:gd name="adj" fmla="val 4071"/>
            </a:avLst>
          </a:prstGeom>
          <a:solidFill>
            <a:srgbClr val="512BD4"/>
          </a:solidFill>
          <a:ln w="12700">
            <a:solidFill>
              <a:srgbClr val="512BD4"/>
            </a:solidFill>
            <a:prstDash val="solid"/>
          </a:ln>
        </p:spPr>
      </p:sp>
      <p:sp>
        <p:nvSpPr>
          <p:cNvPr id="11" name="Shape 8"/>
          <p:cNvSpPr/>
          <p:nvPr/>
        </p:nvSpPr>
        <p:spPr>
          <a:xfrm>
            <a:off x="2784348" y="1618488"/>
            <a:ext cx="457200" cy="457200"/>
          </a:xfrm>
          <a:prstGeom prst="ellipse">
            <a:avLst/>
          </a:prstGeom>
          <a:solidFill>
            <a:srgbClr val="FFFFFF"/>
          </a:solidFill>
          <a:ln w="12700">
            <a:solidFill>
              <a:srgbClr val="FFFFFF"/>
            </a:solidFill>
            <a:prstDash val="solid"/>
          </a:ln>
        </p:spPr>
      </p:sp>
      <p:pic>
        <p:nvPicPr>
          <p:cNvPr id="12" name="Image 1" descr="preencoded.png">    </p:cNvPr>
          <p:cNvPicPr>
            <a:picLocks noChangeAspect="1"/>
          </p:cNvPicPr>
          <p:nvPr/>
        </p:nvPicPr>
        <p:blipFill>
          <a:blip r:embed="rId2"/>
          <a:stretch>
            <a:fillRect/>
          </a:stretch>
        </p:blipFill>
        <p:spPr>
          <a:xfrm>
            <a:off x="2903220" y="1737360"/>
            <a:ext cx="219456" cy="219456"/>
          </a:xfrm>
          <a:prstGeom prst="rect">
            <a:avLst/>
          </a:prstGeom>
        </p:spPr>
      </p:pic>
      <p:sp>
        <p:nvSpPr>
          <p:cNvPr id="13" name="Text 9"/>
          <p:cNvSpPr txBox="1"/>
          <p:nvPr/>
        </p:nvSpPr>
        <p:spPr>
          <a:xfrm>
            <a:off x="2784348" y="2194560"/>
            <a:ext cx="1476756" cy="4114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Your callback</a:t>
            </a:r>
            <a:endParaRPr lang="en-US" sz="1500" dirty="0"/>
          </a:p>
        </p:txBody>
      </p:sp>
      <p:sp>
        <p:nvSpPr>
          <p:cNvPr id="14" name="Text 10"/>
          <p:cNvSpPr txBox="1"/>
          <p:nvPr/>
        </p:nvSpPr>
        <p:spPr>
          <a:xfrm>
            <a:off x="2784348" y="2606040"/>
            <a:ext cx="1476756" cy="905256"/>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Log, transform, or decide</a:t>
            </a:r>
            <a:endParaRPr lang="en-US" sz="1200" dirty="0"/>
          </a:p>
        </p:txBody>
      </p:sp>
      <p:sp>
        <p:nvSpPr>
          <p:cNvPr id="15" name="Shape 11"/>
          <p:cNvSpPr/>
          <p:nvPr/>
        </p:nvSpPr>
        <p:spPr>
          <a:xfrm>
            <a:off x="4462272" y="2400300"/>
            <a:ext cx="219456" cy="219456"/>
          </a:xfrm>
          <a:prstGeom prst="rightArrow">
            <a:avLst/>
          </a:prstGeom>
          <a:solidFill>
            <a:srgbClr val="F5A623"/>
          </a:solidFill>
          <a:ln w="12700">
            <a:solidFill>
              <a:srgbClr val="F5A623"/>
            </a:solidFill>
            <a:prstDash val="solid"/>
          </a:ln>
        </p:spPr>
      </p:sp>
      <p:sp>
        <p:nvSpPr>
          <p:cNvPr id="16" name="Shape 12"/>
          <p:cNvSpPr/>
          <p:nvPr/>
        </p:nvSpPr>
        <p:spPr>
          <a:xfrm>
            <a:off x="4745736" y="1417320"/>
            <a:ext cx="1796796" cy="2185416"/>
          </a:xfrm>
          <a:prstGeom prst="roundRect">
            <a:avLst>
              <a:gd name="adj" fmla="val 4071"/>
            </a:avLst>
          </a:prstGeom>
          <a:solidFill>
            <a:srgbClr val="EFEBFC"/>
          </a:solidFill>
          <a:ln w="12700">
            <a:solidFill>
              <a:srgbClr val="EFEBFC"/>
            </a:solidFill>
            <a:prstDash val="solid"/>
          </a:ln>
        </p:spPr>
      </p:sp>
      <p:sp>
        <p:nvSpPr>
          <p:cNvPr id="17" name="Shape 13"/>
          <p:cNvSpPr/>
          <p:nvPr/>
        </p:nvSpPr>
        <p:spPr>
          <a:xfrm>
            <a:off x="4928616"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047488" y="1737360"/>
            <a:ext cx="219456" cy="219456"/>
          </a:xfrm>
          <a:prstGeom prst="rect">
            <a:avLst/>
          </a:prstGeom>
        </p:spPr>
      </p:pic>
      <p:sp>
        <p:nvSpPr>
          <p:cNvPr id="19" name="Text 14"/>
          <p:cNvSpPr txBox="1"/>
          <p:nvPr/>
        </p:nvSpPr>
        <p:spPr>
          <a:xfrm>
            <a:off x="4928616"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Continuation</a:t>
            </a:r>
            <a:endParaRPr lang="en-US" sz="1500" dirty="0"/>
          </a:p>
        </p:txBody>
      </p:sp>
      <p:sp>
        <p:nvSpPr>
          <p:cNvPr id="20" name="Text 15"/>
          <p:cNvSpPr txBox="1"/>
          <p:nvPr/>
        </p:nvSpPr>
        <p:spPr>
          <a:xfrm>
            <a:off x="4928616" y="2606040"/>
            <a:ext cx="1476756"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innerAgent, innerChatClient or next: the rest of the pipeline</a:t>
            </a:r>
            <a:endParaRPr lang="en-US" sz="1200" dirty="0"/>
          </a:p>
        </p:txBody>
      </p:sp>
      <p:sp>
        <p:nvSpPr>
          <p:cNvPr id="21" name="Shape 16"/>
          <p:cNvSpPr/>
          <p:nvPr/>
        </p:nvSpPr>
        <p:spPr>
          <a:xfrm>
            <a:off x="6606540" y="2400300"/>
            <a:ext cx="219456" cy="219456"/>
          </a:xfrm>
          <a:prstGeom prst="rightArrow">
            <a:avLst/>
          </a:prstGeom>
          <a:solidFill>
            <a:srgbClr val="F5A623"/>
          </a:solidFill>
          <a:ln w="12700">
            <a:solidFill>
              <a:srgbClr val="F5A623"/>
            </a:solidFill>
            <a:prstDash val="solid"/>
          </a:ln>
        </p:spPr>
      </p:sp>
      <p:sp>
        <p:nvSpPr>
          <p:cNvPr id="22" name="Shape 17"/>
          <p:cNvSpPr/>
          <p:nvPr/>
        </p:nvSpPr>
        <p:spPr>
          <a:xfrm>
            <a:off x="6890004" y="1417320"/>
            <a:ext cx="1796796" cy="2185416"/>
          </a:xfrm>
          <a:prstGeom prst="roundRect">
            <a:avLst>
              <a:gd name="adj" fmla="val 4071"/>
            </a:avLst>
          </a:prstGeom>
          <a:solidFill>
            <a:srgbClr val="EFEBFC"/>
          </a:solidFill>
          <a:ln w="12700">
            <a:solidFill>
              <a:srgbClr val="EFEBFC"/>
            </a:solidFill>
            <a:prstDash val="solid"/>
          </a:ln>
        </p:spPr>
      </p:sp>
      <p:sp>
        <p:nvSpPr>
          <p:cNvPr id="23" name="Shape 18"/>
          <p:cNvSpPr/>
          <p:nvPr/>
        </p:nvSpPr>
        <p:spPr>
          <a:xfrm>
            <a:off x="7072884" y="1618488"/>
            <a:ext cx="457200" cy="457200"/>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7191756" y="1737360"/>
            <a:ext cx="219456" cy="219456"/>
          </a:xfrm>
          <a:prstGeom prst="rect">
            <a:avLst/>
          </a:prstGeom>
        </p:spPr>
      </p:pic>
      <p:sp>
        <p:nvSpPr>
          <p:cNvPr id="25" name="Text 19"/>
          <p:cNvSpPr txBox="1"/>
          <p:nvPr/>
        </p:nvSpPr>
        <p:spPr>
          <a:xfrm>
            <a:off x="7072884"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Response out</a:t>
            </a:r>
            <a:endParaRPr lang="en-US" sz="1500" dirty="0"/>
          </a:p>
        </p:txBody>
      </p:sp>
      <p:sp>
        <p:nvSpPr>
          <p:cNvPr id="26" name="Text 20"/>
          <p:cNvSpPr txBox="1"/>
          <p:nvPr/>
        </p:nvSpPr>
        <p:spPr>
          <a:xfrm>
            <a:off x="7072884" y="2606040"/>
            <a:ext cx="1476756"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Logged or reshaped on the way back</a:t>
            </a:r>
            <a:endParaRPr lang="en-US" sz="1200" dirty="0"/>
          </a:p>
        </p:txBody>
      </p:sp>
      <p:sp>
        <p:nvSpPr>
          <p:cNvPr id="27" name="Text 21"/>
          <p:cNvSpPr txBox="1"/>
          <p:nvPr/>
        </p:nvSpPr>
        <p:spPr>
          <a:xfrm>
            <a:off x="457200" y="3922776"/>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The callback decides whether, when and how to call the rest of the pipeline.</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6 — Middleware</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700" b="1" dirty="0">
                <a:solidFill>
                  <a:srgbClr val="1F2937"/>
                </a:solidFill>
                <a:latin typeface="Cambria" pitchFamily="34" charset="0"/>
                <a:ea typeface="Cambria" pitchFamily="34" charset="-122"/>
                <a:cs typeface="Cambria" pitchFamily="34" charset="-120"/>
              </a:rPr>
              <a:t>Different layers fire at different frequencies</a:t>
            </a:r>
            <a:endParaRPr lang="en-US" sz="2700" dirty="0"/>
          </a:p>
        </p:txBody>
      </p:sp>
      <p:sp>
        <p:nvSpPr>
          <p:cNvPr id="4" name="Shape 2"/>
          <p:cNvSpPr/>
          <p:nvPr/>
        </p:nvSpPr>
        <p:spPr>
          <a:xfrm>
            <a:off x="457200" y="1371600"/>
            <a:ext cx="2560320" cy="2103120"/>
          </a:xfrm>
          <a:prstGeom prst="roundRect">
            <a:avLst>
              <a:gd name="adj" fmla="val 3478"/>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737360" cy="384048"/>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[Run]  ×1</a:t>
            </a:r>
            <a:endParaRPr lang="en-US" sz="1700" dirty="0"/>
          </a:p>
        </p:txBody>
      </p:sp>
      <p:sp>
        <p:nvSpPr>
          <p:cNvPr id="8" name="Text 5"/>
          <p:cNvSpPr txBox="1"/>
          <p:nvPr/>
        </p:nvSpPr>
        <p:spPr>
          <a:xfrm>
            <a:off x="640080" y="2057400"/>
            <a:ext cx="2194560" cy="13258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Once per RunAsync call</a:t>
            </a:r>
            <a:endParaRPr lang="en-US" sz="1200" dirty="0"/>
          </a:p>
        </p:txBody>
      </p:sp>
      <p:sp>
        <p:nvSpPr>
          <p:cNvPr id="9" name="Shape 6"/>
          <p:cNvSpPr/>
          <p:nvPr/>
        </p:nvSpPr>
        <p:spPr>
          <a:xfrm>
            <a:off x="3291840" y="1371600"/>
            <a:ext cx="2560320" cy="2103120"/>
          </a:xfrm>
          <a:prstGeom prst="roundRect">
            <a:avLst>
              <a:gd name="adj" fmla="val 3478"/>
            </a:avLst>
          </a:prstGeom>
          <a:solidFill>
            <a:srgbClr val="512BD4"/>
          </a:solidFill>
          <a:ln w="12700">
            <a:solidFill>
              <a:srgbClr val="512BD4"/>
            </a:solidFill>
            <a:prstDash val="solid"/>
          </a:ln>
        </p:spPr>
      </p:sp>
      <p:sp>
        <p:nvSpPr>
          <p:cNvPr id="10" name="Shape 7"/>
          <p:cNvSpPr/>
          <p:nvPr/>
        </p:nvSpPr>
        <p:spPr>
          <a:xfrm>
            <a:off x="3474720" y="1554480"/>
            <a:ext cx="384048" cy="384048"/>
          </a:xfrm>
          <a:prstGeom prst="ellipse">
            <a:avLst/>
          </a:prstGeom>
          <a:solidFill>
            <a:srgbClr val="FFFFFF"/>
          </a:solidFill>
          <a:ln w="12700">
            <a:solidFill>
              <a:srgbClr val="FFFFFF"/>
            </a:solidFill>
            <a:prstDash val="solid"/>
          </a:ln>
        </p:spPr>
      </p:sp>
      <p:pic>
        <p:nvPicPr>
          <p:cNvPr id="11" name="Image 1" descr="preencoded.png">    </p:cNvPr>
          <p:cNvPicPr>
            <a:picLocks noChangeAspect="1"/>
          </p:cNvPicPr>
          <p:nvPr/>
        </p:nvPicPr>
        <p:blipFill>
          <a:blip r:embed="rId2"/>
          <a:stretch>
            <a:fillRect/>
          </a:stretch>
        </p:blipFill>
        <p:spPr>
          <a:xfrm>
            <a:off x="3574572" y="1654332"/>
            <a:ext cx="184343" cy="184343"/>
          </a:xfrm>
          <a:prstGeom prst="rect">
            <a:avLst/>
          </a:prstGeom>
        </p:spPr>
      </p:pic>
      <p:sp>
        <p:nvSpPr>
          <p:cNvPr id="12" name="Text 8"/>
          <p:cNvSpPr txBox="1"/>
          <p:nvPr/>
        </p:nvSpPr>
        <p:spPr>
          <a:xfrm>
            <a:off x="3977640" y="1554480"/>
            <a:ext cx="1737360" cy="38404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[ChatClient]  ×2</a:t>
            </a:r>
            <a:endParaRPr lang="en-US" sz="1700" dirty="0"/>
          </a:p>
        </p:txBody>
      </p:sp>
      <p:sp>
        <p:nvSpPr>
          <p:cNvPr id="13" name="Text 9"/>
          <p:cNvSpPr txBox="1"/>
          <p:nvPr/>
        </p:nvSpPr>
        <p:spPr>
          <a:xfrm>
            <a:off x="3474720" y="2057400"/>
            <a:ext cx="2194560" cy="132588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Once per model call: one to request the tool, one to use its result</a:t>
            </a:r>
            <a:endParaRPr lang="en-US" sz="1200" dirty="0"/>
          </a:p>
        </p:txBody>
      </p:sp>
      <p:sp>
        <p:nvSpPr>
          <p:cNvPr id="14" name="Shape 10"/>
          <p:cNvSpPr/>
          <p:nvPr/>
        </p:nvSpPr>
        <p:spPr>
          <a:xfrm>
            <a:off x="6126480" y="1371600"/>
            <a:ext cx="2560320" cy="2103120"/>
          </a:xfrm>
          <a:prstGeom prst="roundRect">
            <a:avLst>
              <a:gd name="adj" fmla="val 3478"/>
            </a:avLst>
          </a:prstGeom>
          <a:solidFill>
            <a:srgbClr val="EFEBFC"/>
          </a:solidFill>
          <a:ln w="12700">
            <a:solidFill>
              <a:srgbClr val="EFEBFC"/>
            </a:solidFill>
            <a:prstDash val="solid"/>
          </a:ln>
        </p:spPr>
      </p:sp>
      <p:sp>
        <p:nvSpPr>
          <p:cNvPr id="15" name="Shape 11"/>
          <p:cNvSpPr/>
          <p:nvPr/>
        </p:nvSpPr>
        <p:spPr>
          <a:xfrm>
            <a:off x="6309360" y="155448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6409212" y="1654332"/>
            <a:ext cx="184343" cy="184343"/>
          </a:xfrm>
          <a:prstGeom prst="rect">
            <a:avLst/>
          </a:prstGeom>
        </p:spPr>
      </p:pic>
      <p:sp>
        <p:nvSpPr>
          <p:cNvPr id="17" name="Text 12"/>
          <p:cNvSpPr txBox="1"/>
          <p:nvPr/>
        </p:nvSpPr>
        <p:spPr>
          <a:xfrm>
            <a:off x="6812280" y="1554480"/>
            <a:ext cx="1737360" cy="384048"/>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[Tool]  ×1</a:t>
            </a:r>
            <a:endParaRPr lang="en-US" sz="1700" dirty="0"/>
          </a:p>
        </p:txBody>
      </p:sp>
      <p:sp>
        <p:nvSpPr>
          <p:cNvPr id="18" name="Text 13"/>
          <p:cNvSpPr txBox="1"/>
          <p:nvPr/>
        </p:nvSpPr>
        <p:spPr>
          <a:xfrm>
            <a:off x="6309360" y="2057400"/>
            <a:ext cx="2194560" cy="13258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Once per tool invocation</a:t>
            </a:r>
            <a:endParaRPr lang="en-US" sz="1200" dirty="0"/>
          </a:p>
        </p:txBody>
      </p:sp>
      <p:sp>
        <p:nvSpPr>
          <p:cNvPr id="19" name="Text 14"/>
          <p:cNvSpPr txBox="1"/>
          <p:nvPr/>
        </p:nvSpPr>
        <p:spPr>
          <a:xfrm>
            <a:off x="457200" y="370332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One question about order A1001, three different counts.</a:t>
            </a:r>
            <a:endParaRPr lang="en-US" sz="1400" dirty="0"/>
          </a:p>
        </p:txBody>
      </p:sp>
      <p:sp>
        <p:nvSpPr>
          <p:cNvPr id="20"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6 — Middleware</a:t>
            </a:r>
            <a:endParaRPr lang="en-US" sz="900" dirty="0"/>
          </a:p>
        </p:txBody>
      </p:sp>
      <p:sp>
        <p:nvSpPr>
          <p:cNvPr id="21"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Guardrails work by not calling next</a:t>
            </a:r>
            <a:endParaRPr lang="en-US" sz="2800" dirty="0"/>
          </a:p>
        </p:txBody>
      </p:sp>
      <p:sp>
        <p:nvSpPr>
          <p:cNvPr id="4" name="Shape 2"/>
          <p:cNvSpPr/>
          <p:nvPr/>
        </p:nvSpPr>
        <p:spPr>
          <a:xfrm>
            <a:off x="457200" y="1371600"/>
            <a:ext cx="3931920" cy="1920240"/>
          </a:xfrm>
          <a:prstGeom prst="roundRect">
            <a:avLst>
              <a:gd name="adj" fmla="val 3810"/>
            </a:avLst>
          </a:prstGeom>
          <a:solidFill>
            <a:srgbClr val="EFEBFC"/>
          </a:solidFill>
          <a:ln w="12700">
            <a:solidFill>
              <a:srgbClr val="EFEBFC"/>
            </a:solidFill>
            <a:prstDash val="solid"/>
          </a:ln>
        </p:spPr>
      </p:sp>
      <p:sp>
        <p:nvSpPr>
          <p:cNvPr id="5" name="Shape 3"/>
          <p:cNvSpPr/>
          <p:nvPr/>
        </p:nvSpPr>
        <p:spPr>
          <a:xfrm>
            <a:off x="685800" y="1600200"/>
            <a:ext cx="438912" cy="438912"/>
          </a:xfrm>
          <a:prstGeom prst="ellipse">
            <a:avLst/>
          </a:prstGeom>
          <a:solidFill>
            <a:srgbClr val="DC2626"/>
          </a:solidFill>
          <a:ln w="12700">
            <a:solidFill>
              <a:srgbClr val="DC2626"/>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Blocked term found</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admin password for the support portal?"</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Returns its own AgentResponse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Agent, tools and model never run</a:t>
            </a:r>
            <a:endParaRPr lang="en-US" sz="1300" dirty="0"/>
          </a:p>
        </p:txBody>
      </p:sp>
      <p:sp>
        <p:nvSpPr>
          <p:cNvPr id="9" name="Shape 6"/>
          <p:cNvSpPr/>
          <p:nvPr/>
        </p:nvSpPr>
        <p:spPr>
          <a:xfrm>
            <a:off x="4754880" y="1371600"/>
            <a:ext cx="3931920" cy="1920240"/>
          </a:xfrm>
          <a:prstGeom prst="roundRect">
            <a:avLst>
              <a:gd name="adj" fmla="val 3810"/>
            </a:avLst>
          </a:prstGeom>
          <a:solidFill>
            <a:srgbClr val="F6F4FE"/>
          </a:solidFill>
          <a:ln w="12700">
            <a:solidFill>
              <a:srgbClr val="F6F4FE"/>
            </a:solidFill>
            <a:prstDash val="solid"/>
          </a:ln>
        </p:spPr>
      </p:sp>
      <p:sp>
        <p:nvSpPr>
          <p:cNvPr id="10" name="Shape 7"/>
          <p:cNvSpPr/>
          <p:nvPr/>
        </p:nvSpPr>
        <p:spPr>
          <a:xfrm>
            <a:off x="4983480" y="1600200"/>
            <a:ext cx="438912" cy="438912"/>
          </a:xfrm>
          <a:prstGeom prst="ellipse">
            <a:avLst/>
          </a:prstGeom>
          <a:solidFill>
            <a:srgbClr val="16A34A"/>
          </a:solidFill>
          <a:ln w="12700">
            <a:solidFill>
              <a:srgbClr val="16A34A"/>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No blocked terms</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"What's the status of order A1001?"</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Calls innerAgent.RunAsync(...)</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Run, model and tool all fire</a:t>
            </a:r>
            <a:endParaRPr lang="en-US" sz="1300" dirty="0"/>
          </a:p>
        </p:txBody>
      </p:sp>
      <p:sp>
        <p:nvSpPr>
          <p:cNvPr id="14" name="Text 10"/>
          <p:cNvSpPr txBox="1"/>
          <p:nvPr/>
        </p:nvSpPr>
        <p:spPr>
          <a:xfrm>
            <a:off x="457200" y="356616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Blocked terms: password, secret, api key, api_key.</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6 — Middleware</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Registration order is wrapping order</a:t>
            </a:r>
            <a:endParaRPr lang="en-US" sz="2800" dirty="0"/>
          </a:p>
        </p:txBody>
      </p:sp>
      <p:sp>
        <p:nvSpPr>
          <p:cNvPr id="4" name="Shape 2"/>
          <p:cNvSpPr/>
          <p:nvPr/>
        </p:nvSpPr>
        <p:spPr>
          <a:xfrm>
            <a:off x="457200" y="1417320"/>
            <a:ext cx="1796796" cy="2221992"/>
          </a:xfrm>
          <a:prstGeom prst="roundRect">
            <a:avLst>
              <a:gd name="adj" fmla="val 4071"/>
            </a:avLst>
          </a:prstGeom>
          <a:solidFill>
            <a:srgbClr val="512BD4"/>
          </a:solidFill>
          <a:ln w="12700">
            <a:solidFill>
              <a:srgbClr val="512BD4"/>
            </a:solidFill>
            <a:prstDash val="solid"/>
          </a:ln>
        </p:spPr>
      </p:sp>
      <p:sp>
        <p:nvSpPr>
          <p:cNvPr id="5" name="Shape 3"/>
          <p:cNvSpPr/>
          <p:nvPr/>
        </p:nvSpPr>
        <p:spPr>
          <a:xfrm>
            <a:off x="640080" y="1618488"/>
            <a:ext cx="457200" cy="4572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476756" cy="6400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Guardrail</a:t>
            </a:r>
            <a:endParaRPr lang="en-US" sz="1500" dirty="0"/>
          </a:p>
        </p:txBody>
      </p:sp>
      <p:sp>
        <p:nvSpPr>
          <p:cNvPr id="8" name="Text 5"/>
          <p:cNvSpPr txBox="1"/>
          <p:nvPr/>
        </p:nvSpPr>
        <p:spPr>
          <a:xfrm>
            <a:off x="640080" y="2834640"/>
            <a:ext cx="1476756" cy="71323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Registered first: outermost, can veto everything</a:t>
            </a:r>
            <a:endParaRPr lang="en-US" sz="1200" dirty="0"/>
          </a:p>
        </p:txBody>
      </p:sp>
      <p:sp>
        <p:nvSpPr>
          <p:cNvPr id="9" name="Shape 6"/>
          <p:cNvSpPr/>
          <p:nvPr/>
        </p:nvSpPr>
        <p:spPr>
          <a:xfrm>
            <a:off x="2318004" y="2418588"/>
            <a:ext cx="219456" cy="219456"/>
          </a:xfrm>
          <a:prstGeom prst="rightArrow">
            <a:avLst/>
          </a:prstGeom>
          <a:solidFill>
            <a:srgbClr val="F5A623"/>
          </a:solidFill>
          <a:ln w="12700">
            <a:solidFill>
              <a:srgbClr val="F5A623"/>
            </a:solidFill>
            <a:prstDash val="solid"/>
          </a:ln>
        </p:spPr>
      </p:sp>
      <p:sp>
        <p:nvSpPr>
          <p:cNvPr id="10" name="Shape 7"/>
          <p:cNvSpPr/>
          <p:nvPr/>
        </p:nvSpPr>
        <p:spPr>
          <a:xfrm>
            <a:off x="2601468" y="1417320"/>
            <a:ext cx="1796796" cy="2221992"/>
          </a:xfrm>
          <a:prstGeom prst="roundRect">
            <a:avLst>
              <a:gd name="adj" fmla="val 4071"/>
            </a:avLst>
          </a:prstGeom>
          <a:solidFill>
            <a:srgbClr val="EFEBFC"/>
          </a:solidFill>
          <a:ln w="12700">
            <a:solidFill>
              <a:srgbClr val="EFEBFC"/>
            </a:solidFill>
            <a:prstDash val="solid"/>
          </a:ln>
        </p:spPr>
      </p:sp>
      <p:sp>
        <p:nvSpPr>
          <p:cNvPr id="11" name="Shape 8"/>
          <p:cNvSpPr/>
          <p:nvPr/>
        </p:nvSpPr>
        <p:spPr>
          <a:xfrm>
            <a:off x="2784348"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903220" y="1737360"/>
            <a:ext cx="219456" cy="219456"/>
          </a:xfrm>
          <a:prstGeom prst="rect">
            <a:avLst/>
          </a:prstGeom>
        </p:spPr>
      </p:pic>
      <p:sp>
        <p:nvSpPr>
          <p:cNvPr id="13" name="Text 9"/>
          <p:cNvSpPr txBox="1"/>
          <p:nvPr/>
        </p:nvSpPr>
        <p:spPr>
          <a:xfrm>
            <a:off x="2784348" y="2194560"/>
            <a:ext cx="1476756" cy="6400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Run logger</a:t>
            </a:r>
            <a:endParaRPr lang="en-US" sz="1500" dirty="0"/>
          </a:p>
        </p:txBody>
      </p:sp>
      <p:sp>
        <p:nvSpPr>
          <p:cNvPr id="14" name="Text 10"/>
          <p:cNvSpPr txBox="1"/>
          <p:nvPr/>
        </p:nvSpPr>
        <p:spPr>
          <a:xfrm>
            <a:off x="2784348" y="28346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Logs the start and end of the actual run</a:t>
            </a:r>
            <a:endParaRPr lang="en-US" sz="1200" dirty="0"/>
          </a:p>
        </p:txBody>
      </p:sp>
      <p:sp>
        <p:nvSpPr>
          <p:cNvPr id="15" name="Shape 11"/>
          <p:cNvSpPr/>
          <p:nvPr/>
        </p:nvSpPr>
        <p:spPr>
          <a:xfrm>
            <a:off x="4462272" y="2418588"/>
            <a:ext cx="219456" cy="219456"/>
          </a:xfrm>
          <a:prstGeom prst="rightArrow">
            <a:avLst/>
          </a:prstGeom>
          <a:solidFill>
            <a:srgbClr val="F5A623"/>
          </a:solidFill>
          <a:ln w="12700">
            <a:solidFill>
              <a:srgbClr val="F5A623"/>
            </a:solidFill>
            <a:prstDash val="solid"/>
          </a:ln>
        </p:spPr>
      </p:sp>
      <p:sp>
        <p:nvSpPr>
          <p:cNvPr id="16" name="Shape 12"/>
          <p:cNvSpPr/>
          <p:nvPr/>
        </p:nvSpPr>
        <p:spPr>
          <a:xfrm>
            <a:off x="4745736" y="1417320"/>
            <a:ext cx="1796796" cy="2221992"/>
          </a:xfrm>
          <a:prstGeom prst="roundRect">
            <a:avLst>
              <a:gd name="adj" fmla="val 4071"/>
            </a:avLst>
          </a:prstGeom>
          <a:solidFill>
            <a:srgbClr val="EFEBFC"/>
          </a:solidFill>
          <a:ln w="12700">
            <a:solidFill>
              <a:srgbClr val="EFEBFC"/>
            </a:solidFill>
            <a:prstDash val="solid"/>
          </a:ln>
        </p:spPr>
      </p:sp>
      <p:sp>
        <p:nvSpPr>
          <p:cNvPr id="17" name="Shape 13"/>
          <p:cNvSpPr/>
          <p:nvPr/>
        </p:nvSpPr>
        <p:spPr>
          <a:xfrm>
            <a:off x="4928616"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047488" y="1737360"/>
            <a:ext cx="219456" cy="219456"/>
          </a:xfrm>
          <a:prstGeom prst="rect">
            <a:avLst/>
          </a:prstGeom>
        </p:spPr>
      </p:pic>
      <p:sp>
        <p:nvSpPr>
          <p:cNvPr id="19" name="Text 14"/>
          <p:cNvSpPr txBox="1"/>
          <p:nvPr/>
        </p:nvSpPr>
        <p:spPr>
          <a:xfrm>
            <a:off x="4928616" y="2194560"/>
            <a:ext cx="1476756" cy="6400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Function logger</a:t>
            </a:r>
            <a:endParaRPr lang="en-US" sz="1500" dirty="0"/>
          </a:p>
        </p:txBody>
      </p:sp>
      <p:sp>
        <p:nvSpPr>
          <p:cNvPr id="20" name="Text 15"/>
          <p:cNvSpPr txBox="1"/>
          <p:nvPr/>
        </p:nvSpPr>
        <p:spPr>
          <a:xfrm>
            <a:off x="4928616" y="28346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different type, picked by delegate shape</a:t>
            </a:r>
            <a:endParaRPr lang="en-US" sz="1200" dirty="0"/>
          </a:p>
        </p:txBody>
      </p:sp>
      <p:sp>
        <p:nvSpPr>
          <p:cNvPr id="21" name="Shape 16"/>
          <p:cNvSpPr/>
          <p:nvPr/>
        </p:nvSpPr>
        <p:spPr>
          <a:xfrm>
            <a:off x="6606540" y="2418588"/>
            <a:ext cx="219456" cy="219456"/>
          </a:xfrm>
          <a:prstGeom prst="rightArrow">
            <a:avLst/>
          </a:prstGeom>
          <a:solidFill>
            <a:srgbClr val="F5A623"/>
          </a:solidFill>
          <a:ln w="12700">
            <a:solidFill>
              <a:srgbClr val="F5A623"/>
            </a:solidFill>
            <a:prstDash val="solid"/>
          </a:ln>
        </p:spPr>
      </p:sp>
      <p:sp>
        <p:nvSpPr>
          <p:cNvPr id="22" name="Shape 17"/>
          <p:cNvSpPr/>
          <p:nvPr/>
        </p:nvSpPr>
        <p:spPr>
          <a:xfrm>
            <a:off x="6890004" y="1417320"/>
            <a:ext cx="1796796" cy="2221992"/>
          </a:xfrm>
          <a:prstGeom prst="roundRect">
            <a:avLst>
              <a:gd name="adj" fmla="val 4071"/>
            </a:avLst>
          </a:prstGeom>
          <a:solidFill>
            <a:srgbClr val="EFEBFC"/>
          </a:solidFill>
          <a:ln w="12700">
            <a:solidFill>
              <a:srgbClr val="EFEBFC"/>
            </a:solidFill>
            <a:prstDash val="solid"/>
          </a:ln>
        </p:spPr>
      </p:sp>
      <p:sp>
        <p:nvSpPr>
          <p:cNvPr id="23" name="Shape 18"/>
          <p:cNvSpPr/>
          <p:nvPr/>
        </p:nvSpPr>
        <p:spPr>
          <a:xfrm>
            <a:off x="7072884" y="1618488"/>
            <a:ext cx="457200" cy="457200"/>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7191756" y="1737360"/>
            <a:ext cx="219456" cy="219456"/>
          </a:xfrm>
          <a:prstGeom prst="rect">
            <a:avLst/>
          </a:prstGeom>
        </p:spPr>
      </p:pic>
      <p:sp>
        <p:nvSpPr>
          <p:cNvPr id="25" name="Text 19"/>
          <p:cNvSpPr txBox="1"/>
          <p:nvPr/>
        </p:nvSpPr>
        <p:spPr>
          <a:xfrm>
            <a:off x="7072884" y="2194560"/>
            <a:ext cx="1476756" cy="6400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supportAgent</a:t>
            </a:r>
            <a:endParaRPr lang="en-US" sz="1500" dirty="0"/>
          </a:p>
        </p:txBody>
      </p:sp>
      <p:sp>
        <p:nvSpPr>
          <p:cNvPr id="26" name="Text 20"/>
          <p:cNvSpPr txBox="1"/>
          <p:nvPr/>
        </p:nvSpPr>
        <p:spPr>
          <a:xfrm>
            <a:off x="7072884" y="28346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On the logging chat client</a:t>
            </a:r>
            <a:endParaRPr lang="en-US" sz="1200" dirty="0"/>
          </a:p>
        </p:txBody>
      </p:sp>
      <p:sp>
        <p:nvSpPr>
          <p:cNvPr id="27" name="Text 21"/>
          <p:cNvSpPr txBox="1"/>
          <p:nvPr/>
        </p:nvSpPr>
        <p:spPr>
          <a:xfrm>
            <a:off x="457200" y="3959352"/>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.Use(A).Use(B).Use(C).Build(): A runs first and can stop B and C.</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6 — Middleware</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OUTPUT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One blocked, one traced through every layer</a:t>
            </a:r>
            <a:endParaRPr lang="en-US" sz="2800" dirty="0"/>
          </a:p>
        </p:txBody>
      </p:sp>
      <p:sp>
        <p:nvSpPr>
          <p:cNvPr id="4" name="Shape 2"/>
          <p:cNvSpPr/>
          <p:nvPr/>
        </p:nvSpPr>
        <p:spPr>
          <a:xfrm>
            <a:off x="457200" y="1325880"/>
            <a:ext cx="8229600" cy="2697480"/>
          </a:xfrm>
          <a:prstGeom prst="roundRect">
            <a:avLst>
              <a:gd name="adj" fmla="val 2712"/>
            </a:avLst>
          </a:prstGeom>
          <a:solidFill>
            <a:srgbClr val="0F1420"/>
          </a:solidFill>
          <a:ln w="12700">
            <a:solidFill>
              <a:srgbClr val="0F1420"/>
            </a:solidFill>
            <a:prstDash val="solid"/>
          </a:ln>
        </p:spPr>
      </p:sp>
      <p:sp>
        <p:nvSpPr>
          <p:cNvPr id="5" name="Text 3"/>
          <p:cNvSpPr txBox="1"/>
          <p:nvPr/>
        </p:nvSpPr>
        <p:spPr>
          <a:xfrm>
            <a:off x="640080" y="1463040"/>
            <a:ext cx="7863840" cy="2423160"/>
          </a:xfrm>
          <a:prstGeom prst="rect">
            <a:avLst/>
          </a:prstGeom>
          <a:noFill/>
          <a:ln/>
        </p:spPr>
        <p:txBody>
          <a:bodyPr wrap="square" lIns="0" tIns="0" rIns="0" bIns="0" rtlCol="0" anchor="t"/>
          <a:lstStyle/>
          <a:p>
            <a:pPr indent="0" marL="0">
              <a:buNone/>
            </a:pPr>
            <a:r>
              <a:rPr lang="en-US" sz="1000" dirty="0">
                <a:solidFill>
                  <a:srgbClr val="D7E3F4"/>
                </a:solidFill>
                <a:latin typeface="Courier New" pitchFamily="34" charset="0"/>
                <a:ea typeface="Courier New" pitchFamily="34" charset="-122"/>
                <a:cs typeface="Courier New" pitchFamily="34" charset="-120"/>
              </a:rPr>
              <a:t>=== Blocked prompt (guardrail should short-circuit) ===</a:t>
            </a:r>
            <a:endParaRPr lang="en-US" sz="1000" dirty="0"/>
          </a:p>
          <a:p>
            <a:pPr indent="0" marL="0">
              <a:buNone/>
            </a:pPr>
            <a:r>
              <a:rPr lang="en-US" sz="1000" dirty="0">
                <a:solidFill>
                  <a:srgbClr val="FF9B9B"/>
                </a:solidFill>
                <a:latin typeface="Courier New" pitchFamily="34" charset="0"/>
                <a:ea typeface="Courier New" pitchFamily="34" charset="-122"/>
                <a:cs typeface="Courier New" pitchFamily="34" charset="-120"/>
              </a:rPr>
              <a:t>  [Guardrail] Blocked request - detected a sensitive term in the user message.</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I can't help with requests that involve passwords, secrets, or API keys.</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Normal prompt (should pass the guardrail and call the order tool)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[Guardrail] Passed - no blocked terms detected.</a:t>
            </a:r>
            <a:endParaRPr lang="en-US" sz="1000" dirty="0"/>
          </a:p>
          <a:p>
            <a:pPr indent="0" marL="0">
              <a:buNone/>
            </a:pPr>
            <a:r>
              <a:rPr lang="en-US" sz="1000" b="1" dirty="0">
                <a:solidFill>
                  <a:srgbClr val="F5A623"/>
                </a:solidFill>
                <a:latin typeface="Courier New" pitchFamily="34" charset="0"/>
                <a:ea typeface="Courier New" pitchFamily="34" charset="-122"/>
                <a:cs typeface="Courier New" pitchFamily="34" charset="-120"/>
              </a:rPr>
              <a:t>  [Run] -&gt; starting run with 1 input message(s).</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[ChatClient] -&gt; sending 1 message(s) to the model.</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[ChatClient] &lt;- received 1 message(s) from the model.</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[Tool] -&gt; calling 'GetOrderStatus'.</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[Tool] &lt;- 'GetOrderStatus' returned: Shipped, arriving in 2 days.</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[ChatClient] -&gt; sending 3 message(s) to the model.</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[ChatClient] &lt;- received 1 message(s) from the model.</a:t>
            </a:r>
            <a:endParaRPr lang="en-US" sz="1000" dirty="0"/>
          </a:p>
          <a:p>
            <a:pPr indent="0" marL="0">
              <a:buNone/>
            </a:pPr>
            <a:r>
              <a:rPr lang="en-US" sz="1000" b="1" dirty="0">
                <a:solidFill>
                  <a:srgbClr val="F5A623"/>
                </a:solidFill>
                <a:latin typeface="Courier New" pitchFamily="34" charset="0"/>
                <a:ea typeface="Courier New" pitchFamily="34" charset="-122"/>
                <a:cs typeface="Courier New" pitchFamily="34" charset="-120"/>
              </a:rPr>
              <a:t>  [Run] &lt;- run completed with 3 output message(s).</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Your order A1001 has been shipped and will arrive in 2 days.</a:t>
            </a:r>
            <a:endParaRPr lang="en-US" sz="1000" dirty="0"/>
          </a:p>
        </p:txBody>
      </p:sp>
      <p:sp>
        <p:nvSpPr>
          <p:cNvPr id="6" name="Text 4"/>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6 — Middleware</a:t>
            </a:r>
            <a:endParaRPr lang="en-US" sz="900" dirty="0"/>
          </a:p>
        </p:txBody>
      </p:sp>
      <p:sp>
        <p:nvSpPr>
          <p:cNvPr id="7" name="Text 5"/>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goes</a:t>
            </a:r>
            <a:endParaRPr lang="en-US" sz="2600" dirty="0"/>
          </a:p>
        </p:txBody>
      </p:sp>
      <p:sp>
        <p:nvSpPr>
          <p:cNvPr id="4" name="Shape 2"/>
          <p:cNvSpPr/>
          <p:nvPr/>
        </p:nvSpPr>
        <p:spPr>
          <a:xfrm>
            <a:off x="457200" y="1234440"/>
            <a:ext cx="2926080" cy="621792"/>
          </a:xfrm>
          <a:prstGeom prst="roundRect">
            <a:avLst>
              <a:gd name="adj" fmla="val 11765"/>
            </a:avLst>
          </a:prstGeom>
          <a:solidFill>
            <a:srgbClr val="1F2943"/>
          </a:solidFill>
          <a:ln w="12700">
            <a:solidFill>
              <a:srgbClr val="1F2943"/>
            </a:solidFill>
            <a:prstDash val="solid"/>
          </a:ln>
        </p:spPr>
      </p:sp>
      <p:sp>
        <p:nvSpPr>
          <p:cNvPr id="5" name="Text 3"/>
          <p:cNvSpPr txBox="1"/>
          <p:nvPr/>
        </p:nvSpPr>
        <p:spPr>
          <a:xfrm>
            <a:off x="621792" y="1234440"/>
            <a:ext cx="2651760" cy="62179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Function-calling middleware</a:t>
            </a:r>
            <a:endParaRPr lang="en-US" sz="1300" dirty="0"/>
          </a:p>
        </p:txBody>
      </p:sp>
      <p:sp>
        <p:nvSpPr>
          <p:cNvPr id="6" name="Shape 4"/>
          <p:cNvSpPr/>
          <p:nvPr/>
        </p:nvSpPr>
        <p:spPr>
          <a:xfrm>
            <a:off x="3493008" y="1453896"/>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62179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8  </a:t>
            </a:r>
            <a:pPr indent="0" marL="0">
              <a:buNone/>
            </a:pPr>
            <a:r>
              <a:rPr lang="en-US" sz="1250" dirty="0">
                <a:solidFill>
                  <a:srgbClr val="FFFFFF"/>
                </a:solidFill>
                <a:latin typeface="Calibri" pitchFamily="34" charset="0"/>
                <a:ea typeface="Calibri" pitchFamily="34" charset="-122"/>
                <a:cs typeface="Calibri" pitchFamily="34" charset="-120"/>
              </a:rPr>
              <a:t>Hosted tools never reach it: there's no local invocation to intercept</a:t>
            </a:r>
            <a:endParaRPr lang="en-US" sz="1250" dirty="0"/>
          </a:p>
        </p:txBody>
      </p:sp>
      <p:sp>
        <p:nvSpPr>
          <p:cNvPr id="8" name="Shape 6"/>
          <p:cNvSpPr/>
          <p:nvPr/>
        </p:nvSpPr>
        <p:spPr>
          <a:xfrm>
            <a:off x="457200" y="1965960"/>
            <a:ext cx="2926080" cy="621792"/>
          </a:xfrm>
          <a:prstGeom prst="roundRect">
            <a:avLst>
              <a:gd name="adj" fmla="val 11765"/>
            </a:avLst>
          </a:prstGeom>
          <a:solidFill>
            <a:srgbClr val="1F2943"/>
          </a:solidFill>
          <a:ln w="12700">
            <a:solidFill>
              <a:srgbClr val="1F2943"/>
            </a:solidFill>
            <a:prstDash val="solid"/>
          </a:ln>
        </p:spPr>
      </p:sp>
      <p:sp>
        <p:nvSpPr>
          <p:cNvPr id="9" name="Text 7"/>
          <p:cNvSpPr txBox="1"/>
          <p:nvPr/>
        </p:nvSpPr>
        <p:spPr>
          <a:xfrm>
            <a:off x="621792" y="1965960"/>
            <a:ext cx="2651760" cy="62179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IChatClient middleware</a:t>
            </a:r>
            <a:endParaRPr lang="en-US" sz="1300" dirty="0"/>
          </a:p>
        </p:txBody>
      </p:sp>
      <p:sp>
        <p:nvSpPr>
          <p:cNvPr id="10" name="Shape 8"/>
          <p:cNvSpPr/>
          <p:nvPr/>
        </p:nvSpPr>
        <p:spPr>
          <a:xfrm>
            <a:off x="3493008" y="2185416"/>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965960"/>
            <a:ext cx="4709160" cy="62179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20  </a:t>
            </a:r>
            <a:pPr indent="0" marL="0">
              <a:buNone/>
            </a:pPr>
            <a:r>
              <a:rPr lang="en-US" sz="1250" dirty="0">
                <a:solidFill>
                  <a:srgbClr val="FFFFFF"/>
                </a:solidFill>
                <a:latin typeface="Calibri" pitchFamily="34" charset="0"/>
                <a:ea typeface="Calibri" pitchFamily="34" charset="-122"/>
                <a:cs typeface="Calibri" pitchFamily="34" charset="-120"/>
              </a:rPr>
              <a:t>MaxOutputTokensChatClient is a DelegatingChatClient, the same shape</a:t>
            </a:r>
            <a:endParaRPr lang="en-US" sz="1250" dirty="0"/>
          </a:p>
        </p:txBody>
      </p:sp>
      <p:sp>
        <p:nvSpPr>
          <p:cNvPr id="12" name="Text 10"/>
          <p:cNvSpPr txBox="1"/>
          <p:nvPr/>
        </p:nvSpPr>
        <p:spPr>
          <a:xfrm>
            <a:off x="457200" y="2880360"/>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Lesson 20 observability (the Lessons 22–24 Capstone leaves it out)</a:t>
            </a:r>
            <a:endParaRPr lang="en-US" sz="1300" dirty="0"/>
          </a:p>
        </p:txBody>
      </p:sp>
      <p:sp>
        <p:nvSpPr>
          <p:cNvPr id="13"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  Lesson 6 — Middleware</a:t>
            </a:r>
            <a:endParaRPr lang="en-US" sz="900" dirty="0"/>
          </a:p>
        </p:txBody>
      </p:sp>
      <p:sp>
        <p:nvSpPr>
          <p:cNvPr id="14"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6 — Middleware</dc:title>
  <dc:subject>PptxGenJS Presentation</dc:subject>
  <dc:creator>Applied Agentic Orchestration with Microsoft Agent Framework</dc:creator>
  <cp:lastModifiedBy>Applied Agentic Orchestration with Microsoft Agent Framework</cp:lastModifiedBy>
  <cp:revision>1</cp:revision>
  <dcterms:created xsi:type="dcterms:W3CDTF">2026-10-08T00:09:30Z</dcterms:created>
  <dcterms:modified xsi:type="dcterms:W3CDTF">2026-10-08T00:09:30Z</dcterms:modified>
</cp:coreProperties>
</file>