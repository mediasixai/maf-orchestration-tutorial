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lesson a CodeReviewAgent is equipped with a single Agent Skill: a portable package of instructions and reference material, described by a SKILL.md file, that the agent discovers and loads on demand rather than carrying in its base instructions all the time. This is the smallest possible skill: one skill, no scripts, just instructions plus a bundled reference document. It matters because packaged domain expertise, such as a review checklist, a policy or a style guide, can be authored once, shipped as a folder, and reused across any agent that needs it, without bloating that agent's system prompt or context window every single run. The lesson is standalone, but it builds on two earlier lessons: Lesson 5, Context Providers, because AgentSkillsProvider is itself an AIContextProvider; and Lesson 9, Approvals, because the skill tools require approval by default, resolved with the same ToolApprovalRequestContent and ToolApprovalResponseContent exchange.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framework net10.0. Three NuGet packages: Microsoft.Agents.AI 1.24.0, the core package with ChatClientAgent and AgentSkillsProvider; Microsoft.Extensions.AI.OpenAI 10.10.1, the first-party IChatClient adapter; and the OpenAI 2.14.0 SDK. No separate skills package is required: AgentSkillsProvider, file-based sources and the load_skill, read_skill_resource and run_skill_script tools all ship inside Microsoft.Agents.AI itself, with no Experimental gate. Only the MCP-based skill source needs a separate package, Microsoft.Agents.AI.Mcp, which is an alpha prerelease, and it is not used in this lesson. Set OPENAI_API_KEY. MAF_LLM and MAF_MODEL are both required, with no built-in defaults: set MAF_LLM to OPENAI and MAF_MODEL to gpt-4.1-mini, the values the demos use, or pick AZURE, GEMINI or OLLAMA with a model that provider serves. The project ships a skills/code-review-checklist folder containing SKILL.md and references/checklist.md. The csproj copies it to the build output because the provider looks for it relative to AppContext.BaseDirectory, so rebuild before running if you edit skill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skill is a directory, not a class. At minimum it's just SKILL.md: YAML frontmatter, where name and description are required and license, compatibility and metadata are optional, followed by a markdown body containing the actual instructions. This lesson's skill tells the agent to read the checklist resource, compare the code against every item, report Pass or Fail with a one-sentence justification for each, and finish with a verdict: Ready to merge or Needs changes. It also has a references/checklist.md file, supplementary content the agent fetches only if it decides it needs it. Coming from SK: Semantic Kernel has no direct equivalent to Agent Skills. This is a new, framework-agnostic packaging format, the open agentskills.io specification, that MAF adopted rather than something ported from SK's plugin and KernelFunction model. Because the format is open, a skill folder authored for another Agent Skills-compatible product, including Claude and Claude Code, can often be dropped into a MAF project's skills directory and consumed as-is.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and description are the only two fields that matter for discovery. Every skill's name and description pair is injected into the system prompt up front, about 100 tokens per skill, so the agent knows what's available before it decides to use anything. Write the description the way you'd write a tool description: what it does and when to use it. Ours says it reviews C# code against a short internal checklist covering async safety, exception handling, nullability, naming and single responsibility, and to use it when asked to review, critique or check C# code snippets or pull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Progressive disclosure keeps the context window lean. The agent doesn't receive the full SKILL.md body until it calls load_skill. It doesn't receive checklist.md until it calls read_skill_resource. A skill with ten reference documents costs nothing extra in context until the agent actually reaches for one of them. In the run, the model sees code-review-checklist's name and description in the system prompt, matches it to the review request, and calls load_skill to retrieve the full body. The final review calls out async void and the empty catch block specifically because those are the items checklist.md calls out, not because the model already knew this project's conventions.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AgentSkillsProvider is a context provider, wired in exactly like Lesson 5's memory provider. new AgentSkillsProvider(path) scans the given directory for SKILL.md files, one level per subdirectory, and registers the skill tools on the agent. It plugs into AgentFactory.CreateAgentWithContextProviders unchanged, which takes the same IList of AIContextProvider that Lesson 5 used for the semantic-memory provider. No new factory method was needed. The skill is wired in as a context provider, not as a tool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load_skill and read_skill_resource require approval by default, the same as any gated tool. This isn't a simplification for the lesson; it's the framework's actual default. When the provider scans the folder it registers load_skill and read_skill_resource. run_skill_script is not registered: this skill has no scripts, so the tool isn't even advertised. A production agent would typically auto-approve these two read-only calls, and Skills 2 shows how. This lesson keeps every call manual so the full mechanic is visible once, end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ApproveAllPendingAsync loops instead of handling one request. Unlike Lesson 9's single gated tool, this lesson doesn't know in advance how many approval rounds will occur: load_skill first, then likely read_skill_resource in a second round. The while pending-count-greater-than-zero loop keeps resolving and resubmitting until the agent produces a final answer with none pending. Each decision reuses CreateResponse and resends on the same session, exactly like Lesson 9. The only difference is batching potentially multiple ToolApprovalResponseContent items into one list of ChatMessage per round, since the model may request more than one approval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project. You'll see approval requested for load_skill, approved, then for read_skill_resource, approved. Then the review: async naming and safety fails because SaveOrder is declared async void instead of returning Task, so callers cannot await it or observe exceptions. Exception handling fails because the catch block is empty and the exception is silently swallowed instead of being logged or rethrown. Nullability, naming conventions and single responsibility pass. Overall verdict: Needs changes. The exact wording and the number of approval rounds may vary slightly between runs, because the model decides whether to call load_skill and read_skill_resource in the same turn or across two separate turns, but the shape will not. On the slide, the lines are rewrapped and each review item's justification is trimmed with '...' after its first clause.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where each piece goes, all in Skills 2. The SKILL.md folder becomes one of three skill sources, alongside a class-based and an inline skill, composed with AgentSkillsProviderBuilder. AgentSkillsProvider stays a context provider: the composed multi-source provider slots into the same AIContextProviders list through the same factory method. The read-only skill tools that we approved by hand here are auto-approved there with AgentSkillsProvider.ReadOnlyToolsAutoApprovalRule. And run_skill_script, which wasn't even advertised here because our skill has no scripts, appears there for a class-based skill's convert script, which runs in-process and still pauses for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BONUS  ·  SKILLS 1</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Simple Skill</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MAF Agent Skills</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an empty folder</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Skills01-SimpleSkill/</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What an Agent Skill is: a folder with a SKILL.md</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How name and description drive discovery</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Progressive disclosure: load only what the run needs</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Wiring AgentSkillsProvider in as a context provider</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Approving the skill tools, round after round</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  Skills 1 — Simple Skill</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SETUP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Three packages, one key, one folder</a:t>
            </a:r>
            <a:endParaRPr lang="en-US" sz="2800" dirty="0"/>
          </a:p>
        </p:txBody>
      </p:sp>
      <p:sp>
        <p:nvSpPr>
          <p:cNvPr id="4" name="Shape 2"/>
          <p:cNvSpPr/>
          <p:nvPr/>
        </p:nvSpPr>
        <p:spPr>
          <a:xfrm>
            <a:off x="457200" y="1371600"/>
            <a:ext cx="2560320" cy="1920240"/>
          </a:xfrm>
          <a:prstGeom prst="roundRect">
            <a:avLst>
              <a:gd name="adj" fmla="val 3810"/>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Microsoft.Agents.AI</a:t>
            </a:r>
            <a:endParaRPr lang="en-US" sz="1200" dirty="0"/>
          </a:p>
        </p:txBody>
      </p:sp>
      <p:sp>
        <p:nvSpPr>
          <p:cNvPr id="8" name="Text 5"/>
          <p:cNvSpPr txBox="1"/>
          <p:nvPr/>
        </p:nvSpPr>
        <p:spPr>
          <a:xfrm>
            <a:off x="640080" y="2057400"/>
            <a:ext cx="2194560" cy="11430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1.24.0</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AgentSkillsProvider and the skill tools ship here. No separate skills package.</a:t>
            </a:r>
            <a:endParaRPr lang="en-US" sz="1200" dirty="0"/>
          </a:p>
        </p:txBody>
      </p:sp>
      <p:sp>
        <p:nvSpPr>
          <p:cNvPr id="9" name="Shape 6"/>
          <p:cNvSpPr/>
          <p:nvPr/>
        </p:nvSpPr>
        <p:spPr>
          <a:xfrm>
            <a:off x="3291840" y="1371600"/>
            <a:ext cx="2560320" cy="1920240"/>
          </a:xfrm>
          <a:prstGeom prst="roundRect">
            <a:avLst>
              <a:gd name="adj" fmla="val 3810"/>
            </a:avLst>
          </a:prstGeom>
          <a:solidFill>
            <a:srgbClr val="EFEBFC"/>
          </a:solidFill>
          <a:ln w="12700">
            <a:solidFill>
              <a:srgbClr val="EFEBFC"/>
            </a:solidFill>
            <a:prstDash val="solid"/>
          </a:ln>
        </p:spPr>
      </p:sp>
      <p:sp>
        <p:nvSpPr>
          <p:cNvPr id="10" name="Shape 7"/>
          <p:cNvSpPr/>
          <p:nvPr/>
        </p:nvSpPr>
        <p:spPr>
          <a:xfrm>
            <a:off x="347472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lstStyle/>
          <a:p>
            <a:pPr indent="0" marL="0">
              <a:buNone/>
            </a:pPr>
            <a:r>
              <a:rPr lang="en-US" sz="1100" b="1" dirty="0">
                <a:solidFill>
                  <a:srgbClr val="1F2937"/>
                </a:solidFill>
                <a:latin typeface="Calibri" pitchFamily="34" charset="0"/>
                <a:ea typeface="Calibri" pitchFamily="34" charset="-122"/>
                <a:cs typeface="Calibri" pitchFamily="34" charset="-120"/>
              </a:rPr>
              <a:t>Extensions.AI.OpenAI</a:t>
            </a:r>
            <a:endParaRPr lang="en-US" sz="1100" dirty="0"/>
          </a:p>
        </p:txBody>
      </p:sp>
      <p:sp>
        <p:nvSpPr>
          <p:cNvPr id="13" name="Text 9"/>
          <p:cNvSpPr txBox="1"/>
          <p:nvPr/>
        </p:nvSpPr>
        <p:spPr>
          <a:xfrm>
            <a:off x="3474720" y="2057400"/>
            <a:ext cx="2194560" cy="114300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Microsoft.Extensions.AI.OpenAI 10.10.1, plus the OpenAI 2.14.0 SDK</a:t>
            </a:r>
            <a:endParaRPr lang="en-US" sz="1000" dirty="0"/>
          </a:p>
        </p:txBody>
      </p:sp>
      <p:sp>
        <p:nvSpPr>
          <p:cNvPr id="14" name="Shape 10"/>
          <p:cNvSpPr/>
          <p:nvPr/>
        </p:nvSpPr>
        <p:spPr>
          <a:xfrm>
            <a:off x="6126480" y="1371600"/>
            <a:ext cx="2560320" cy="1920240"/>
          </a:xfrm>
          <a:prstGeom prst="roundRect">
            <a:avLst>
              <a:gd name="adj" fmla="val 3810"/>
            </a:avLst>
          </a:prstGeom>
          <a:solidFill>
            <a:srgbClr val="512BD4"/>
          </a:solidFill>
          <a:ln w="12700">
            <a:solidFill>
              <a:srgbClr val="512BD4"/>
            </a:solidFill>
            <a:prstDash val="solid"/>
          </a:ln>
        </p:spPr>
      </p:sp>
      <p:sp>
        <p:nvSpPr>
          <p:cNvPr id="15" name="Shape 11"/>
          <p:cNvSpPr/>
          <p:nvPr/>
        </p:nvSpPr>
        <p:spPr>
          <a:xfrm>
            <a:off x="6309360" y="1554480"/>
            <a:ext cx="384048" cy="384048"/>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lstStyle/>
          <a:p>
            <a:pPr indent="0" marL="0">
              <a:buNone/>
            </a:pPr>
            <a:r>
              <a:rPr lang="en-US" sz="1400" b="1" dirty="0">
                <a:solidFill>
                  <a:srgbClr val="FFFFFF"/>
                </a:solidFill>
                <a:latin typeface="Courier New" pitchFamily="34" charset="0"/>
                <a:ea typeface="Courier New" pitchFamily="34" charset="-122"/>
                <a:cs typeface="Courier New" pitchFamily="34" charset="-120"/>
              </a:rPr>
              <a:t>skills/</a:t>
            </a:r>
            <a:endParaRPr lang="en-US" sz="1400" dirty="0"/>
          </a:p>
        </p:txBody>
      </p:sp>
      <p:sp>
        <p:nvSpPr>
          <p:cNvPr id="18" name="Text 13"/>
          <p:cNvSpPr txBox="1"/>
          <p:nvPr/>
        </p:nvSpPr>
        <p:spPr>
          <a:xfrm>
            <a:off x="6309360" y="2057400"/>
            <a:ext cx="2194560" cy="114300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Copied to the build output. Rebuild after editing skill content.</a:t>
            </a:r>
            <a:endParaRPr lang="en-US" sz="1200" dirty="0"/>
          </a:p>
        </p:txBody>
      </p:sp>
      <p:sp>
        <p:nvSpPr>
          <p:cNvPr id="19" name="Text 14"/>
          <p:cNvSpPr txBox="1"/>
          <p:nvPr/>
        </p:nvSpPr>
        <p:spPr>
          <a:xfrm>
            <a:off x="457200" y="352044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Set MAF_LLM, MAF_MODEL and OPENAI_API_KEY. All three are required.</a:t>
            </a:r>
            <a:endParaRPr lang="en-US" sz="1400" dirty="0"/>
          </a:p>
        </p:txBody>
      </p:sp>
      <p:sp>
        <p:nvSpPr>
          <p:cNvPr id="20"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Skills 1 — Simple Skill</a:t>
            </a:r>
            <a:endParaRPr lang="en-US" sz="900" dirty="0"/>
          </a:p>
        </p:txBody>
      </p:sp>
      <p:sp>
        <p:nvSpPr>
          <p:cNvPr id="21"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 skill is a directory, not a class</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68580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code-review-checklist/</a:t>
            </a:r>
            <a:endParaRPr lang="en-US" sz="1200" dirty="0"/>
          </a:p>
        </p:txBody>
      </p:sp>
      <p:sp>
        <p:nvSpPr>
          <p:cNvPr id="8" name="Text 5"/>
          <p:cNvSpPr txBox="1"/>
          <p:nvPr/>
        </p:nvSpPr>
        <p:spPr>
          <a:xfrm>
            <a:off x="685800" y="2990088"/>
            <a:ext cx="2057400"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At minimum just a SKILL.md. Authored once, shipped as a folder.</a:t>
            </a:r>
            <a:endParaRPr lang="en-US" sz="12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32588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Frontmatter</a:t>
            </a:r>
            <a:endParaRPr lang="en-US" sz="15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YAML: name and description required; license, compatibility, metadata optional</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32588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Body</a:t>
            </a:r>
            <a:endParaRPr lang="en-US" sz="15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Markdown instructions: check every item, Pass or Fail, then a verdict</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32588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references/</a:t>
            </a:r>
            <a:endParaRPr lang="en-US" sz="150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checklist.md, fetched only if the agent decides it needs it</a:t>
            </a:r>
            <a:endParaRPr lang="en-US" sz="1200" dirty="0"/>
          </a:p>
        </p:txBody>
      </p:sp>
      <p:sp>
        <p:nvSpPr>
          <p:cNvPr id="27" name="Text 21"/>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An open format: agentskills.io. Semantic Kernel has no direct equivalent.</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Skills 1 — Simple Skill</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name and description drive discovery</a:t>
            </a:r>
            <a:endParaRPr lang="en-US" sz="2800" dirty="0"/>
          </a:p>
        </p:txBody>
      </p:sp>
      <p:sp>
        <p:nvSpPr>
          <p:cNvPr id="4" name="Shape 2"/>
          <p:cNvSpPr/>
          <p:nvPr/>
        </p:nvSpPr>
        <p:spPr>
          <a:xfrm>
            <a:off x="457200" y="1371600"/>
            <a:ext cx="3977640" cy="1394460"/>
          </a:xfrm>
          <a:prstGeom prst="roundRect">
            <a:avLst>
              <a:gd name="adj" fmla="val 5246"/>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3154680" cy="384048"/>
          </a:xfrm>
          <a:prstGeom prst="rect">
            <a:avLst/>
          </a:prstGeom>
          <a:noFill/>
          <a:ln/>
        </p:spPr>
        <p:txBody>
          <a:bodyPr wrap="square" lIns="0" tIns="0" rIns="0" bIns="0" rtlCol="0" anchor="ctr"/>
          <a:lstStyle/>
          <a:p>
            <a:pPr indent="0" marL="0">
              <a:buNone/>
            </a:pPr>
            <a:r>
              <a:rPr lang="en-US" sz="1500" b="1" dirty="0">
                <a:solidFill>
                  <a:srgbClr val="1F2937"/>
                </a:solidFill>
                <a:latin typeface="Courier New" pitchFamily="34" charset="0"/>
                <a:ea typeface="Courier New" pitchFamily="34" charset="-122"/>
                <a:cs typeface="Courier New" pitchFamily="34" charset="-120"/>
              </a:rPr>
              <a:t>name</a:t>
            </a:r>
            <a:endParaRPr lang="en-US" sz="1500" dirty="0"/>
          </a:p>
        </p:txBody>
      </p:sp>
      <p:sp>
        <p:nvSpPr>
          <p:cNvPr id="8" name="Text 5"/>
          <p:cNvSpPr txBox="1"/>
          <p:nvPr/>
        </p:nvSpPr>
        <p:spPr>
          <a:xfrm>
            <a:off x="64008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code-review-checklist</a:t>
            </a:r>
            <a:endParaRPr lang="en-US" sz="1200" dirty="0"/>
          </a:p>
        </p:txBody>
      </p:sp>
      <p:sp>
        <p:nvSpPr>
          <p:cNvPr id="9" name="Shape 6"/>
          <p:cNvSpPr/>
          <p:nvPr/>
        </p:nvSpPr>
        <p:spPr>
          <a:xfrm>
            <a:off x="4709160" y="1371600"/>
            <a:ext cx="3977640" cy="1394460"/>
          </a:xfrm>
          <a:prstGeom prst="roundRect">
            <a:avLst>
              <a:gd name="adj" fmla="val 5246"/>
            </a:avLst>
          </a:prstGeom>
          <a:solidFill>
            <a:srgbClr val="512BD4"/>
          </a:solidFill>
          <a:ln w="12700">
            <a:solidFill>
              <a:srgbClr val="512BD4"/>
            </a:solidFill>
            <a:prstDash val="solid"/>
          </a:ln>
        </p:spPr>
      </p:sp>
      <p:sp>
        <p:nvSpPr>
          <p:cNvPr id="10" name="Shape 7"/>
          <p:cNvSpPr/>
          <p:nvPr/>
        </p:nvSpPr>
        <p:spPr>
          <a:xfrm>
            <a:off x="4892040" y="1554480"/>
            <a:ext cx="384048" cy="384048"/>
          </a:xfrm>
          <a:prstGeom prst="ellipse">
            <a:avLst/>
          </a:prstGeom>
          <a:solidFill>
            <a:srgbClr val="FFFFFF"/>
          </a:solidFill>
          <a:ln w="12700">
            <a:solidFill>
              <a:srgbClr val="FFFFFF"/>
            </a:solidFill>
            <a:prstDash val="solid"/>
          </a:ln>
        </p:spPr>
      </p:sp>
      <p:pic>
        <p:nvPicPr>
          <p:cNvPr id="11" name="Image 1" descr="preencoded.png">    </p:cNvPr>
          <p:cNvPicPr>
            <a:picLocks noChangeAspect="1"/>
          </p:cNvPicPr>
          <p:nvPr/>
        </p:nvPicPr>
        <p:blipFill>
          <a:blip r:embed="rId2"/>
          <a:stretch>
            <a:fillRect/>
          </a:stretch>
        </p:blipFill>
        <p:spPr>
          <a:xfrm>
            <a:off x="4991892" y="1654332"/>
            <a:ext cx="184343" cy="184343"/>
          </a:xfrm>
          <a:prstGeom prst="rect">
            <a:avLst/>
          </a:prstGeom>
        </p:spPr>
      </p:pic>
      <p:sp>
        <p:nvSpPr>
          <p:cNvPr id="12" name="Text 8"/>
          <p:cNvSpPr txBox="1"/>
          <p:nvPr/>
        </p:nvSpPr>
        <p:spPr>
          <a:xfrm>
            <a:off x="5394960" y="1554480"/>
            <a:ext cx="3154680" cy="384048"/>
          </a:xfrm>
          <a:prstGeom prst="rect">
            <a:avLst/>
          </a:prstGeom>
          <a:noFill/>
          <a:ln/>
        </p:spPr>
        <p:txBody>
          <a:bodyPr wrap="square" lIns="0" tIns="0" rIns="0" bIns="0" rtlCol="0" anchor="ctr"/>
          <a:lstStyle/>
          <a:p>
            <a:pPr indent="0" marL="0">
              <a:buNone/>
            </a:pPr>
            <a:r>
              <a:rPr lang="en-US" sz="1500" b="1" dirty="0">
                <a:solidFill>
                  <a:srgbClr val="FFFFFF"/>
                </a:solidFill>
                <a:latin typeface="Courier New" pitchFamily="34" charset="0"/>
                <a:ea typeface="Courier New" pitchFamily="34" charset="-122"/>
                <a:cs typeface="Courier New" pitchFamily="34" charset="-120"/>
              </a:rPr>
              <a:t>description</a:t>
            </a:r>
            <a:endParaRPr lang="en-US" sz="1500" dirty="0"/>
          </a:p>
        </p:txBody>
      </p:sp>
      <p:sp>
        <p:nvSpPr>
          <p:cNvPr id="13" name="Text 9"/>
          <p:cNvSpPr txBox="1"/>
          <p:nvPr/>
        </p:nvSpPr>
        <p:spPr>
          <a:xfrm>
            <a:off x="4892040" y="2057400"/>
            <a:ext cx="3611880" cy="6172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What it does and when to use it. Write it like a tool description.</a:t>
            </a:r>
            <a:endParaRPr lang="en-US" sz="1200" dirty="0"/>
          </a:p>
        </p:txBody>
      </p:sp>
      <p:sp>
        <p:nvSpPr>
          <p:cNvPr id="14" name="Shape 10"/>
          <p:cNvSpPr/>
          <p:nvPr/>
        </p:nvSpPr>
        <p:spPr>
          <a:xfrm>
            <a:off x="457200" y="2994660"/>
            <a:ext cx="3977640" cy="1394460"/>
          </a:xfrm>
          <a:prstGeom prst="roundRect">
            <a:avLst>
              <a:gd name="adj" fmla="val 5246"/>
            </a:avLst>
          </a:prstGeom>
          <a:solidFill>
            <a:srgbClr val="EFEBFC"/>
          </a:solidFill>
          <a:ln w="12700">
            <a:solidFill>
              <a:srgbClr val="EFEBFC"/>
            </a:solidFill>
            <a:prstDash val="solid"/>
          </a:ln>
        </p:spPr>
      </p:sp>
      <p:sp>
        <p:nvSpPr>
          <p:cNvPr id="15" name="Shape 11"/>
          <p:cNvSpPr/>
          <p:nvPr/>
        </p:nvSpPr>
        <p:spPr>
          <a:xfrm>
            <a:off x="640080" y="317754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739932" y="3277392"/>
            <a:ext cx="184343" cy="184343"/>
          </a:xfrm>
          <a:prstGeom prst="rect">
            <a:avLst/>
          </a:prstGeom>
        </p:spPr>
      </p:pic>
      <p:sp>
        <p:nvSpPr>
          <p:cNvPr id="17" name="Text 12"/>
          <p:cNvSpPr txBox="1"/>
          <p:nvPr/>
        </p:nvSpPr>
        <p:spPr>
          <a:xfrm>
            <a:off x="1143000" y="3177540"/>
            <a:ext cx="3154680" cy="384048"/>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~100 tokens</a:t>
            </a:r>
            <a:endParaRPr lang="en-US" sz="1500" dirty="0"/>
          </a:p>
        </p:txBody>
      </p:sp>
      <p:sp>
        <p:nvSpPr>
          <p:cNvPr id="18" name="Text 13"/>
          <p:cNvSpPr txBox="1"/>
          <p:nvPr/>
        </p:nvSpPr>
        <p:spPr>
          <a:xfrm>
            <a:off x="64008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Per skill, injected into the system prompt up front</a:t>
            </a:r>
            <a:endParaRPr lang="en-US" sz="1200" dirty="0"/>
          </a:p>
        </p:txBody>
      </p:sp>
      <p:sp>
        <p:nvSpPr>
          <p:cNvPr id="19" name="Shape 14"/>
          <p:cNvSpPr/>
          <p:nvPr/>
        </p:nvSpPr>
        <p:spPr>
          <a:xfrm>
            <a:off x="4709160" y="2994660"/>
            <a:ext cx="3977640" cy="1394460"/>
          </a:xfrm>
          <a:prstGeom prst="roundRect">
            <a:avLst>
              <a:gd name="adj" fmla="val 5246"/>
            </a:avLst>
          </a:prstGeom>
          <a:solidFill>
            <a:srgbClr val="EFEBFC"/>
          </a:solidFill>
          <a:ln w="12700">
            <a:solidFill>
              <a:srgbClr val="EFEBFC"/>
            </a:solidFill>
            <a:prstDash val="solid"/>
          </a:ln>
        </p:spPr>
      </p:sp>
      <p:sp>
        <p:nvSpPr>
          <p:cNvPr id="20" name="Shape 15"/>
          <p:cNvSpPr/>
          <p:nvPr/>
        </p:nvSpPr>
        <p:spPr>
          <a:xfrm>
            <a:off x="4892040" y="317754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4991892" y="3277392"/>
            <a:ext cx="184343" cy="184343"/>
          </a:xfrm>
          <a:prstGeom prst="rect">
            <a:avLst/>
          </a:prstGeom>
        </p:spPr>
      </p:pic>
      <p:sp>
        <p:nvSpPr>
          <p:cNvPr id="22" name="Text 16"/>
          <p:cNvSpPr txBox="1"/>
          <p:nvPr/>
        </p:nvSpPr>
        <p:spPr>
          <a:xfrm>
            <a:off x="5394960" y="3177540"/>
            <a:ext cx="3154680" cy="384048"/>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Everything else</a:t>
            </a:r>
            <a:endParaRPr lang="en-US" sz="1500" dirty="0"/>
          </a:p>
        </p:txBody>
      </p:sp>
      <p:sp>
        <p:nvSpPr>
          <p:cNvPr id="23" name="Text 17"/>
          <p:cNvSpPr txBox="1"/>
          <p:nvPr/>
        </p:nvSpPr>
        <p:spPr>
          <a:xfrm>
            <a:off x="489204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Stays out of the prompt until the agent asks for it</a:t>
            </a:r>
            <a:endParaRPr lang="en-US" sz="1200" dirty="0"/>
          </a:p>
        </p:txBody>
      </p:sp>
      <p:sp>
        <p:nvSpPr>
          <p:cNvPr id="24" name="Text 18"/>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Skills 1 — Simple Skill</a:t>
            </a:r>
            <a:endParaRPr lang="en-US" sz="900" dirty="0"/>
          </a:p>
        </p:txBody>
      </p:sp>
      <p:sp>
        <p:nvSpPr>
          <p:cNvPr id="25" name="Text 19"/>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Progressive disclosure keeps context lean</a:t>
            </a:r>
            <a:endParaRPr lang="en-US" sz="2800" dirty="0"/>
          </a:p>
        </p:txBody>
      </p:sp>
      <p:sp>
        <p:nvSpPr>
          <p:cNvPr id="4" name="Shape 2"/>
          <p:cNvSpPr/>
          <p:nvPr/>
        </p:nvSpPr>
        <p:spPr>
          <a:xfrm>
            <a:off x="457200" y="1417320"/>
            <a:ext cx="1796796" cy="2221992"/>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Advertise</a:t>
            </a:r>
            <a:endParaRPr lang="en-US" sz="1500" dirty="0"/>
          </a:p>
        </p:txBody>
      </p:sp>
      <p:sp>
        <p:nvSpPr>
          <p:cNvPr id="8" name="Text 5"/>
          <p:cNvSpPr txBox="1"/>
          <p:nvPr/>
        </p:nvSpPr>
        <p:spPr>
          <a:xfrm>
            <a:off x="640080" y="28346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name and description in the system prompt</a:t>
            </a:r>
            <a:endParaRPr lang="en-US" sz="1200" dirty="0"/>
          </a:p>
        </p:txBody>
      </p:sp>
      <p:sp>
        <p:nvSpPr>
          <p:cNvPr id="9" name="Shape 6"/>
          <p:cNvSpPr/>
          <p:nvPr/>
        </p:nvSpPr>
        <p:spPr>
          <a:xfrm>
            <a:off x="2318004" y="2418588"/>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2221992"/>
          </a:xfrm>
          <a:prstGeom prst="roundRect">
            <a:avLst>
              <a:gd name="adj" fmla="val 4071"/>
            </a:avLst>
          </a:prstGeom>
          <a:solidFill>
            <a:srgbClr val="EFEBFC"/>
          </a:solidFill>
          <a:ln w="12700">
            <a:solidFill>
              <a:srgbClr val="EFEBFC"/>
            </a:solidFill>
            <a:prstDash val="solid"/>
          </a:ln>
        </p:spPr>
      </p:sp>
      <p:sp>
        <p:nvSpPr>
          <p:cNvPr id="11" name="Shape 8"/>
          <p:cNvSpPr/>
          <p:nvPr/>
        </p:nvSpPr>
        <p:spPr>
          <a:xfrm>
            <a:off x="2784348"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load_skill</a:t>
            </a:r>
            <a:endParaRPr lang="en-US" sz="1500" dirty="0"/>
          </a:p>
        </p:txBody>
      </p:sp>
      <p:sp>
        <p:nvSpPr>
          <p:cNvPr id="14" name="Text 10"/>
          <p:cNvSpPr txBox="1"/>
          <p:nvPr/>
        </p:nvSpPr>
        <p:spPr>
          <a:xfrm>
            <a:off x="2784348" y="28346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full SKILL.md body arrives</a:t>
            </a:r>
            <a:endParaRPr lang="en-US" sz="1200" dirty="0"/>
          </a:p>
        </p:txBody>
      </p:sp>
      <p:sp>
        <p:nvSpPr>
          <p:cNvPr id="15" name="Shape 11"/>
          <p:cNvSpPr/>
          <p:nvPr/>
        </p:nvSpPr>
        <p:spPr>
          <a:xfrm>
            <a:off x="4462272" y="2418588"/>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2221992"/>
          </a:xfrm>
          <a:prstGeom prst="roundRect">
            <a:avLst>
              <a:gd name="adj" fmla="val 4071"/>
            </a:avLst>
          </a:prstGeom>
          <a:solidFill>
            <a:srgbClr val="EFEBFC"/>
          </a:solidFill>
          <a:ln w="12700">
            <a:solidFill>
              <a:srgbClr val="EFEBFC"/>
            </a:solidFill>
            <a:prstDash val="solid"/>
          </a:ln>
        </p:spPr>
      </p:sp>
      <p:sp>
        <p:nvSpPr>
          <p:cNvPr id="17" name="Shape 13"/>
          <p:cNvSpPr/>
          <p:nvPr/>
        </p:nvSpPr>
        <p:spPr>
          <a:xfrm>
            <a:off x="4928616"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640080"/>
          </a:xfrm>
          <a:prstGeom prst="rect">
            <a:avLst/>
          </a:prstGeom>
          <a:noFill/>
          <a:ln/>
        </p:spPr>
        <p:txBody>
          <a:bodyPr wrap="square" lIns="0" tIns="0" rIns="0" bIns="0" rtlCol="0" anchor="t"/>
          <a:lstStyle/>
          <a:p>
            <a:pPr indent="0" marL="0">
              <a:buNone/>
            </a:pPr>
            <a:r>
              <a:rPr lang="en-US" sz="1000" b="1" dirty="0">
                <a:solidFill>
                  <a:srgbClr val="1F2937"/>
                </a:solidFill>
                <a:latin typeface="Calibri" pitchFamily="34" charset="0"/>
                <a:ea typeface="Calibri" pitchFamily="34" charset="-122"/>
                <a:cs typeface="Calibri" pitchFamily="34" charset="-120"/>
              </a:rPr>
              <a:t>read_skill_resource</a:t>
            </a:r>
            <a:endParaRPr lang="en-US" sz="1000" dirty="0"/>
          </a:p>
        </p:txBody>
      </p:sp>
      <p:sp>
        <p:nvSpPr>
          <p:cNvPr id="20" name="Text 15"/>
          <p:cNvSpPr txBox="1"/>
          <p:nvPr/>
        </p:nvSpPr>
        <p:spPr>
          <a:xfrm>
            <a:off x="4928616" y="28346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checklist.md arrives, only when needed</a:t>
            </a:r>
            <a:endParaRPr lang="en-US" sz="1200" dirty="0"/>
          </a:p>
        </p:txBody>
      </p:sp>
      <p:sp>
        <p:nvSpPr>
          <p:cNvPr id="21" name="Shape 16"/>
          <p:cNvSpPr/>
          <p:nvPr/>
        </p:nvSpPr>
        <p:spPr>
          <a:xfrm>
            <a:off x="6606540" y="2418588"/>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2221992"/>
          </a:xfrm>
          <a:prstGeom prst="roundRect">
            <a:avLst>
              <a:gd name="adj" fmla="val 4071"/>
            </a:avLst>
          </a:prstGeom>
          <a:solidFill>
            <a:srgbClr val="512BD4"/>
          </a:solidFill>
          <a:ln w="12700">
            <a:solidFill>
              <a:srgbClr val="512BD4"/>
            </a:solidFill>
            <a:prstDash val="solid"/>
          </a:ln>
        </p:spPr>
      </p:sp>
      <p:sp>
        <p:nvSpPr>
          <p:cNvPr id="23" name="Shape 18"/>
          <p:cNvSpPr/>
          <p:nvPr/>
        </p:nvSpPr>
        <p:spPr>
          <a:xfrm>
            <a:off x="7072884" y="1618488"/>
            <a:ext cx="457200" cy="457200"/>
          </a:xfrm>
          <a:prstGeom prst="ellipse">
            <a:avLst/>
          </a:prstGeom>
          <a:solidFill>
            <a:srgbClr val="FFFFFF"/>
          </a:solidFill>
          <a:ln w="12700">
            <a:solidFill>
              <a:srgbClr val="FFFFFF"/>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6400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Review</a:t>
            </a:r>
            <a:endParaRPr lang="en-US" sz="1500" dirty="0"/>
          </a:p>
        </p:txBody>
      </p:sp>
      <p:sp>
        <p:nvSpPr>
          <p:cNvPr id="26" name="Text 20"/>
          <p:cNvSpPr txBox="1"/>
          <p:nvPr/>
        </p:nvSpPr>
        <p:spPr>
          <a:xfrm>
            <a:off x="7072884" y="2834640"/>
            <a:ext cx="1476756"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Grounded in the checklist the agent read</a:t>
            </a:r>
            <a:endParaRPr lang="en-US" sz="1200" dirty="0"/>
          </a:p>
        </p:txBody>
      </p:sp>
      <p:sp>
        <p:nvSpPr>
          <p:cNvPr id="27" name="Text 21"/>
          <p:cNvSpPr txBox="1"/>
          <p:nvPr/>
        </p:nvSpPr>
        <p:spPr>
          <a:xfrm>
            <a:off x="457200" y="3959352"/>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Ten reference documents cost nothing until the agent reaches for one.</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Skills 1 — Simple Skill</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AgentSkillsProvider is a context provider</a:t>
            </a:r>
            <a:endParaRPr lang="en-US" sz="2800" dirty="0"/>
          </a:p>
        </p:txBody>
      </p:sp>
      <p:sp>
        <p:nvSpPr>
          <p:cNvPr id="4" name="Shape 2"/>
          <p:cNvSpPr/>
          <p:nvPr/>
        </p:nvSpPr>
        <p:spPr>
          <a:xfrm>
            <a:off x="457200" y="1371600"/>
            <a:ext cx="3931920" cy="1920240"/>
          </a:xfrm>
          <a:prstGeom prst="roundRect">
            <a:avLst>
              <a:gd name="adj" fmla="val 3810"/>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6B7280"/>
          </a:solidFill>
          <a:ln w="12700">
            <a:solidFill>
              <a:srgbClr val="6B7280"/>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5: memory</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 custom AIContextProvider</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Passed in AIContextProviders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Via CreateAgentWithContextProviders</a:t>
            </a:r>
            <a:endParaRPr lang="en-US" sz="1300" dirty="0"/>
          </a:p>
        </p:txBody>
      </p:sp>
      <p:sp>
        <p:nvSpPr>
          <p:cNvPr id="9" name="Shape 6"/>
          <p:cNvSpPr/>
          <p:nvPr/>
        </p:nvSpPr>
        <p:spPr>
          <a:xfrm>
            <a:off x="4754880" y="1371600"/>
            <a:ext cx="3931920" cy="1920240"/>
          </a:xfrm>
          <a:prstGeom prst="roundRect">
            <a:avLst>
              <a:gd name="adj" fmla="val 3810"/>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Skills 1: skills</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new AgentSkillsProvider(path)</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Scans one level per subfolder</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Same list, same factory method</a:t>
            </a:r>
            <a:endParaRPr lang="en-US" sz="1300" dirty="0"/>
          </a:p>
        </p:txBody>
      </p:sp>
      <p:sp>
        <p:nvSpPr>
          <p:cNvPr id="14" name="Text 10"/>
          <p:cNvSpPr txBox="1"/>
          <p:nvPr/>
        </p:nvSpPr>
        <p:spPr>
          <a:xfrm>
            <a:off x="457200" y="35661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No new factory method was needed. The provider slots into the same list.</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Skills 1 — Simple Skill</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The skill tools are gated by default</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Approval</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Each pending call arrives as a ToolApprovalRequestContent, exactly like Lesson 9.</a:t>
            </a:r>
            <a:endParaRPr lang="en-US" sz="105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32588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load_skill</a:t>
            </a:r>
            <a:endParaRPr lang="en-US" sz="15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Registered. Requires approval.</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32588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read_skill_</a:t>
            </a:r>
            <a:endParaRPr lang="en-US" sz="1500" dirty="0"/>
          </a:p>
          <a:p>
            <a:pPr indent="0" marL="0">
              <a:buNone/>
            </a:pPr>
            <a:r>
              <a:rPr lang="en-US" sz="1500" b="1" dirty="0">
                <a:solidFill>
                  <a:srgbClr val="1F2937"/>
                </a:solidFill>
                <a:latin typeface="Calibri" pitchFamily="34" charset="0"/>
                <a:ea typeface="Calibri" pitchFamily="34" charset="-122"/>
                <a:cs typeface="Calibri" pitchFamily="34" charset="-120"/>
              </a:rPr>
              <a:t>resource</a:t>
            </a:r>
            <a:endParaRPr lang="en-US" sz="15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Registered. Requires approval.</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325880" cy="487680"/>
          </a:xfrm>
          <a:prstGeom prst="rect">
            <a:avLst/>
          </a:prstGeom>
          <a:noFill/>
          <a:ln/>
        </p:spPr>
        <p:txBody>
          <a:bodyPr wrap="square" lIns="0" tIns="0" rIns="0" bIns="0" rtlCol="0" anchor="ctr"/>
          <a:lstStyle/>
          <a:p>
            <a:pPr indent="0" marL="0">
              <a:buNone/>
            </a:pPr>
            <a:r>
              <a:rPr lang="en-US" sz="1050" b="1" dirty="0">
                <a:solidFill>
                  <a:srgbClr val="1F2937"/>
                </a:solidFill>
                <a:latin typeface="Calibri" pitchFamily="34" charset="0"/>
                <a:ea typeface="Calibri" pitchFamily="34" charset="-122"/>
                <a:cs typeface="Calibri" pitchFamily="34" charset="-120"/>
              </a:rPr>
              <a:t>run_skill_script</a:t>
            </a:r>
            <a:endParaRPr lang="en-US" sz="105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Not even advertised: this skill has no scripts</a:t>
            </a:r>
            <a:endParaRPr lang="en-US" sz="1200" dirty="0"/>
          </a:p>
        </p:txBody>
      </p:sp>
      <p:sp>
        <p:nvSpPr>
          <p:cNvPr id="27" name="Text 21"/>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This is the framework's real default, not a lesson simplification.</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Skills 1 — Simple Skill</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Approve until nothing is pending</a:t>
            </a:r>
            <a:endParaRPr lang="en-US" sz="2800" dirty="0"/>
          </a:p>
        </p:txBody>
      </p:sp>
      <p:sp>
        <p:nvSpPr>
          <p:cNvPr id="4" name="Shape 2"/>
          <p:cNvSpPr/>
          <p:nvPr/>
        </p:nvSpPr>
        <p:spPr>
          <a:xfrm>
            <a:off x="457200" y="1417320"/>
            <a:ext cx="1796796" cy="2414016"/>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RunAsync</a:t>
            </a:r>
            <a:endParaRPr lang="en-US" sz="1500" dirty="0"/>
          </a:p>
        </p:txBody>
      </p:sp>
      <p:sp>
        <p:nvSpPr>
          <p:cNvPr id="8" name="Text 5"/>
          <p:cNvSpPr txBox="1"/>
          <p:nvPr/>
        </p:nvSpPr>
        <p:spPr>
          <a:xfrm>
            <a:off x="640080" y="2834640"/>
            <a:ext cx="1476756"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run pauses on a skill tool</a:t>
            </a:r>
            <a:endParaRPr lang="en-US" sz="1200" dirty="0"/>
          </a:p>
        </p:txBody>
      </p:sp>
      <p:sp>
        <p:nvSpPr>
          <p:cNvPr id="9" name="Shape 6"/>
          <p:cNvSpPr/>
          <p:nvPr/>
        </p:nvSpPr>
        <p:spPr>
          <a:xfrm>
            <a:off x="2318004" y="2514600"/>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2414016"/>
          </a:xfrm>
          <a:prstGeom prst="roundRect">
            <a:avLst>
              <a:gd name="adj" fmla="val 4071"/>
            </a:avLst>
          </a:prstGeom>
          <a:solidFill>
            <a:srgbClr val="EFEBFC"/>
          </a:solidFill>
          <a:ln w="12700">
            <a:solidFill>
              <a:srgbClr val="EFEBFC"/>
            </a:solidFill>
            <a:prstDash val="solid"/>
          </a:ln>
        </p:spPr>
      </p:sp>
      <p:sp>
        <p:nvSpPr>
          <p:cNvPr id="11" name="Shape 8"/>
          <p:cNvSpPr/>
          <p:nvPr/>
        </p:nvSpPr>
        <p:spPr>
          <a:xfrm>
            <a:off x="2784348"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64008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Collect requests</a:t>
            </a:r>
            <a:endParaRPr lang="en-US" sz="1400" dirty="0"/>
          </a:p>
        </p:txBody>
      </p:sp>
      <p:sp>
        <p:nvSpPr>
          <p:cNvPr id="14" name="Text 10"/>
          <p:cNvSpPr txBox="1"/>
          <p:nvPr/>
        </p:nvSpPr>
        <p:spPr>
          <a:xfrm>
            <a:off x="2784348" y="2834640"/>
            <a:ext cx="1476756"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Every ToolApproval</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RequestContent in the response</a:t>
            </a:r>
            <a:endParaRPr lang="en-US" sz="1200" dirty="0"/>
          </a:p>
        </p:txBody>
      </p:sp>
      <p:sp>
        <p:nvSpPr>
          <p:cNvPr id="15" name="Shape 11"/>
          <p:cNvSpPr/>
          <p:nvPr/>
        </p:nvSpPr>
        <p:spPr>
          <a:xfrm>
            <a:off x="4462272" y="2514600"/>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2414016"/>
          </a:xfrm>
          <a:prstGeom prst="roundRect">
            <a:avLst>
              <a:gd name="adj" fmla="val 4071"/>
            </a:avLst>
          </a:prstGeom>
          <a:solidFill>
            <a:srgbClr val="EFEBFC"/>
          </a:solidFill>
          <a:ln w="12700">
            <a:solidFill>
              <a:srgbClr val="EFEBFC"/>
            </a:solidFill>
            <a:prstDash val="solid"/>
          </a:ln>
        </p:spPr>
      </p:sp>
      <p:sp>
        <p:nvSpPr>
          <p:cNvPr id="17" name="Shape 13"/>
          <p:cNvSpPr/>
          <p:nvPr/>
        </p:nvSpPr>
        <p:spPr>
          <a:xfrm>
            <a:off x="4928616"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640080"/>
          </a:xfrm>
          <a:prstGeom prst="rect">
            <a:avLst/>
          </a:prstGeom>
          <a:noFill/>
          <a:ln/>
        </p:spPr>
        <p:txBody>
          <a:bodyPr wrap="square" lIns="0" tIns="0" rIns="0" bIns="0" rtlCol="0" anchor="t"/>
          <a:lstStyle/>
          <a:p>
            <a:pPr indent="0" marL="0">
              <a:buNone/>
            </a:pPr>
            <a:r>
              <a:rPr lang="en-US" sz="1350" b="1" dirty="0">
                <a:solidFill>
                  <a:srgbClr val="1F2937"/>
                </a:solidFill>
                <a:latin typeface="Calibri" pitchFamily="34" charset="0"/>
                <a:ea typeface="Calibri" pitchFamily="34" charset="-122"/>
                <a:cs typeface="Calibri" pitchFamily="34" charset="-120"/>
              </a:rPr>
              <a:t>CreateResponse</a:t>
            </a:r>
            <a:endParaRPr lang="en-US" sz="1350" dirty="0"/>
          </a:p>
          <a:p>
            <a:pPr indent="0" marL="0">
              <a:buNone/>
            </a:pPr>
            <a:r>
              <a:rPr lang="en-US" sz="1350" b="1" dirty="0">
                <a:solidFill>
                  <a:srgbClr val="1F2937"/>
                </a:solidFill>
                <a:latin typeface="Calibri" pitchFamily="34" charset="0"/>
                <a:ea typeface="Calibri" pitchFamily="34" charset="-122"/>
                <a:cs typeface="Calibri" pitchFamily="34" charset="-120"/>
              </a:rPr>
              <a:t>(true)</a:t>
            </a:r>
            <a:endParaRPr lang="en-US" sz="1350" dirty="0"/>
          </a:p>
        </p:txBody>
      </p:sp>
      <p:sp>
        <p:nvSpPr>
          <p:cNvPr id="20" name="Text 15"/>
          <p:cNvSpPr txBox="1"/>
          <p:nvPr/>
        </p:nvSpPr>
        <p:spPr>
          <a:xfrm>
            <a:off x="4928616" y="2834640"/>
            <a:ext cx="1476756"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One decision per request, batched into one round</a:t>
            </a:r>
            <a:endParaRPr lang="en-US" sz="1200" dirty="0"/>
          </a:p>
        </p:txBody>
      </p:sp>
      <p:sp>
        <p:nvSpPr>
          <p:cNvPr id="21" name="Shape 16"/>
          <p:cNvSpPr/>
          <p:nvPr/>
        </p:nvSpPr>
        <p:spPr>
          <a:xfrm>
            <a:off x="6606540" y="2514600"/>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2414016"/>
          </a:xfrm>
          <a:prstGeom prst="roundRect">
            <a:avLst>
              <a:gd name="adj" fmla="val 4071"/>
            </a:avLst>
          </a:prstGeom>
          <a:solidFill>
            <a:srgbClr val="512BD4"/>
          </a:solidFill>
          <a:ln w="12700">
            <a:solidFill>
              <a:srgbClr val="512BD4"/>
            </a:solidFill>
            <a:prstDash val="solid"/>
          </a:ln>
        </p:spPr>
      </p:sp>
      <p:sp>
        <p:nvSpPr>
          <p:cNvPr id="23" name="Shape 18"/>
          <p:cNvSpPr/>
          <p:nvPr/>
        </p:nvSpPr>
        <p:spPr>
          <a:xfrm>
            <a:off x="7072884" y="1618488"/>
            <a:ext cx="457200" cy="457200"/>
          </a:xfrm>
          <a:prstGeom prst="ellipse">
            <a:avLst/>
          </a:prstGeom>
          <a:solidFill>
            <a:srgbClr val="FFFFFF"/>
          </a:solidFill>
          <a:ln w="12700">
            <a:solidFill>
              <a:srgbClr val="FFFFFF"/>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6400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Resume</a:t>
            </a:r>
            <a:endParaRPr lang="en-US" sz="1500" dirty="0"/>
          </a:p>
        </p:txBody>
      </p:sp>
      <p:sp>
        <p:nvSpPr>
          <p:cNvPr id="26" name="Text 20"/>
          <p:cNvSpPr txBox="1"/>
          <p:nvPr/>
        </p:nvSpPr>
        <p:spPr>
          <a:xfrm>
            <a:off x="7072884" y="2834640"/>
            <a:ext cx="1476756" cy="905256"/>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RunAsync on the same session. Loop while any are pending.</a:t>
            </a:r>
            <a:endParaRPr lang="en-US" sz="1200" dirty="0"/>
          </a:p>
        </p:txBody>
      </p:sp>
      <p:sp>
        <p:nvSpPr>
          <p:cNvPr id="27" name="Text 21"/>
          <p:cNvSpPr txBox="1"/>
          <p:nvPr/>
        </p:nvSpPr>
        <p:spPr>
          <a:xfrm>
            <a:off x="457200" y="4151376"/>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Lesson 9 had one gated call. Here the number of rounds is not known in advance.</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Skills 1 — Simple Skill</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OUTPUT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Two approvals, then a checklist review</a:t>
            </a:r>
            <a:endParaRPr lang="en-US" sz="2800" dirty="0"/>
          </a:p>
        </p:txBody>
      </p:sp>
      <p:sp>
        <p:nvSpPr>
          <p:cNvPr id="4" name="Shape 2"/>
          <p:cNvSpPr/>
          <p:nvPr/>
        </p:nvSpPr>
        <p:spPr>
          <a:xfrm>
            <a:off x="457200" y="1325880"/>
            <a:ext cx="5257800" cy="2392680"/>
          </a:xfrm>
          <a:prstGeom prst="roundRect">
            <a:avLst>
              <a:gd name="adj" fmla="val 3057"/>
            </a:avLst>
          </a:prstGeom>
          <a:solidFill>
            <a:srgbClr val="0F1420"/>
          </a:solidFill>
          <a:ln w="12700">
            <a:solidFill>
              <a:srgbClr val="0F1420"/>
            </a:solidFill>
            <a:prstDash val="solid"/>
          </a:ln>
        </p:spPr>
      </p:sp>
      <p:sp>
        <p:nvSpPr>
          <p:cNvPr id="5" name="Text 3"/>
          <p:cNvSpPr txBox="1"/>
          <p:nvPr/>
        </p:nvSpPr>
        <p:spPr>
          <a:xfrm>
            <a:off x="640080" y="1463040"/>
            <a:ext cx="4892040" cy="2118360"/>
          </a:xfrm>
          <a:prstGeom prst="rect">
            <a:avLst/>
          </a:prstGeom>
          <a:noFill/>
          <a:ln/>
        </p:spPr>
        <p:txBody>
          <a:bodyPr wrap="square" lIns="0" tIns="0" rIns="0" bIns="0" rtlCol="0" anchor="t"/>
          <a:lstStyle/>
          <a:p>
            <a:pPr indent="0" marL="0">
              <a:buNone/>
            </a:pPr>
            <a:r>
              <a:rPr lang="en-US" sz="1000" dirty="0">
                <a:solidFill>
                  <a:srgbClr val="D7E3F4"/>
                </a:solidFill>
                <a:latin typeface="Courier New" pitchFamily="34" charset="0"/>
                <a:ea typeface="Courier New" pitchFamily="34" charset="-122"/>
                <a:cs typeface="Courier New" pitchFamily="34" charset="-120"/>
              </a:rPr>
              <a:t>Approval requested to call 'load_skill'.</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Decision: APPROVED</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Approval requested to call 'read_skill_resource'.</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Decision: APPROVED</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**Async naming and safety**: Fail - `SaveOrder` is</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declared `async void` instead of returning `Task`,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**Exception handling**: Fail - the `catch (Exception)`</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block is empty;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**Nullability**: Pass -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**Naming conventions**: Pass -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**Single responsibility**: Pass -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Overall verdict: Needs changes.</a:t>
            </a:r>
            <a:endParaRPr lang="en-US" sz="10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Two rounds</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load_skill, then read_skill_resource</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Grounded</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two Fails are checklist items</a:t>
            </a:r>
            <a:endParaRPr lang="en-US" sz="1200" dirty="0"/>
          </a:p>
        </p:txBody>
      </p:sp>
      <p:sp>
        <p:nvSpPr>
          <p:cNvPr id="14" name="Text 10"/>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Skills 1 — Simple Skill</a:t>
            </a:r>
            <a:endParaRPr lang="en-US" sz="900" dirty="0"/>
          </a:p>
        </p:txBody>
      </p:sp>
      <p:sp>
        <p:nvSpPr>
          <p:cNvPr id="15" name="Text 11"/>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587502"/>
          </a:xfrm>
          <a:prstGeom prst="roundRect">
            <a:avLst>
              <a:gd name="adj" fmla="val 12451"/>
            </a:avLst>
          </a:prstGeom>
          <a:solidFill>
            <a:srgbClr val="1F2943"/>
          </a:solidFill>
          <a:ln w="12700">
            <a:solidFill>
              <a:srgbClr val="1F2943"/>
            </a:solidFill>
            <a:prstDash val="solid"/>
          </a:ln>
        </p:spPr>
      </p:sp>
      <p:sp>
        <p:nvSpPr>
          <p:cNvPr id="5" name="Text 3"/>
          <p:cNvSpPr txBox="1"/>
          <p:nvPr/>
        </p:nvSpPr>
        <p:spPr>
          <a:xfrm>
            <a:off x="621792" y="1234440"/>
            <a:ext cx="2651760" cy="58750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 skill from a SKILL.md folder</a:t>
            </a:r>
            <a:endParaRPr lang="en-US" sz="1300" dirty="0"/>
          </a:p>
        </p:txBody>
      </p:sp>
      <p:sp>
        <p:nvSpPr>
          <p:cNvPr id="6" name="Shape 4"/>
          <p:cNvSpPr/>
          <p:nvPr/>
        </p:nvSpPr>
        <p:spPr>
          <a:xfrm>
            <a:off x="3493008" y="1436751"/>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58750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Skills 2  </a:t>
            </a:r>
            <a:pPr indent="0" marL="0">
              <a:buNone/>
            </a:pPr>
            <a:r>
              <a:rPr lang="en-US" sz="1250" dirty="0">
                <a:solidFill>
                  <a:srgbClr val="FFFFFF"/>
                </a:solidFill>
                <a:latin typeface="Calibri" pitchFamily="34" charset="0"/>
                <a:ea typeface="Calibri" pitchFamily="34" charset="-122"/>
                <a:cs typeface="Calibri" pitchFamily="34" charset="-120"/>
              </a:rPr>
              <a:t>One of three sources composed with AgentSkillsProviderBuilder</a:t>
            </a:r>
            <a:endParaRPr lang="en-US" sz="1250" dirty="0"/>
          </a:p>
        </p:txBody>
      </p:sp>
      <p:sp>
        <p:nvSpPr>
          <p:cNvPr id="8" name="Shape 6"/>
          <p:cNvSpPr/>
          <p:nvPr/>
        </p:nvSpPr>
        <p:spPr>
          <a:xfrm>
            <a:off x="457200" y="1931670"/>
            <a:ext cx="2926080" cy="587502"/>
          </a:xfrm>
          <a:prstGeom prst="roundRect">
            <a:avLst>
              <a:gd name="adj" fmla="val 12451"/>
            </a:avLst>
          </a:prstGeom>
          <a:solidFill>
            <a:srgbClr val="1F2943"/>
          </a:solidFill>
          <a:ln w="12700">
            <a:solidFill>
              <a:srgbClr val="1F2943"/>
            </a:solidFill>
            <a:prstDash val="solid"/>
          </a:ln>
        </p:spPr>
      </p:sp>
      <p:sp>
        <p:nvSpPr>
          <p:cNvPr id="9" name="Text 7"/>
          <p:cNvSpPr txBox="1"/>
          <p:nvPr/>
        </p:nvSpPr>
        <p:spPr>
          <a:xfrm>
            <a:off x="621792" y="1931670"/>
            <a:ext cx="2651760" cy="58750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AgentSkillsProvider in the context list</a:t>
            </a:r>
            <a:endParaRPr lang="en-US" sz="1300" dirty="0"/>
          </a:p>
        </p:txBody>
      </p:sp>
      <p:sp>
        <p:nvSpPr>
          <p:cNvPr id="10" name="Shape 8"/>
          <p:cNvSpPr/>
          <p:nvPr/>
        </p:nvSpPr>
        <p:spPr>
          <a:xfrm>
            <a:off x="3493008" y="2133981"/>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931670"/>
            <a:ext cx="4709160" cy="58750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Skills 2  </a:t>
            </a:r>
            <a:pPr indent="0" marL="0">
              <a:buNone/>
            </a:pPr>
            <a:r>
              <a:rPr lang="en-US" sz="1250" dirty="0">
                <a:solidFill>
                  <a:srgbClr val="FFFFFF"/>
                </a:solidFill>
                <a:latin typeface="Calibri" pitchFamily="34" charset="0"/>
                <a:ea typeface="Calibri" pitchFamily="34" charset="-122"/>
                <a:cs typeface="Calibri" pitchFamily="34" charset="-120"/>
              </a:rPr>
              <a:t>A multi-source provider slots into the same single-item list</a:t>
            </a:r>
            <a:endParaRPr lang="en-US" sz="1250" dirty="0"/>
          </a:p>
        </p:txBody>
      </p:sp>
      <p:sp>
        <p:nvSpPr>
          <p:cNvPr id="12" name="Shape 10"/>
          <p:cNvSpPr/>
          <p:nvPr/>
        </p:nvSpPr>
        <p:spPr>
          <a:xfrm>
            <a:off x="457200" y="2628900"/>
            <a:ext cx="2926080" cy="587502"/>
          </a:xfrm>
          <a:prstGeom prst="roundRect">
            <a:avLst>
              <a:gd name="adj" fmla="val 12451"/>
            </a:avLst>
          </a:prstGeom>
          <a:solidFill>
            <a:srgbClr val="1F2943"/>
          </a:solidFill>
          <a:ln w="12700">
            <a:solidFill>
              <a:srgbClr val="1F2943"/>
            </a:solidFill>
            <a:prstDash val="solid"/>
          </a:ln>
        </p:spPr>
      </p:sp>
      <p:sp>
        <p:nvSpPr>
          <p:cNvPr id="13" name="Text 11"/>
          <p:cNvSpPr txBox="1"/>
          <p:nvPr/>
        </p:nvSpPr>
        <p:spPr>
          <a:xfrm>
            <a:off x="621792" y="2628900"/>
            <a:ext cx="2651760" cy="58750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Read-only skill tools, gated by default</a:t>
            </a:r>
            <a:endParaRPr lang="en-US" sz="1300" dirty="0"/>
          </a:p>
        </p:txBody>
      </p:sp>
      <p:sp>
        <p:nvSpPr>
          <p:cNvPr id="14" name="Shape 12"/>
          <p:cNvSpPr/>
          <p:nvPr/>
        </p:nvSpPr>
        <p:spPr>
          <a:xfrm>
            <a:off x="3493008" y="2831211"/>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628900"/>
            <a:ext cx="4709160" cy="58750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Skills 2  </a:t>
            </a:r>
            <a:pPr indent="0" marL="0">
              <a:buNone/>
            </a:pPr>
            <a:r>
              <a:rPr lang="en-US" sz="1250" dirty="0">
                <a:solidFill>
                  <a:srgbClr val="FFFFFF"/>
                </a:solidFill>
                <a:latin typeface="Calibri" pitchFamily="34" charset="0"/>
                <a:ea typeface="Calibri" pitchFamily="34" charset="-122"/>
                <a:cs typeface="Calibri" pitchFamily="34" charset="-120"/>
              </a:rPr>
              <a:t>ReadOnlyToolsAutoApprovalRule auto-approves them</a:t>
            </a:r>
            <a:endParaRPr lang="en-US" sz="1250" dirty="0"/>
          </a:p>
        </p:txBody>
      </p:sp>
      <p:sp>
        <p:nvSpPr>
          <p:cNvPr id="16" name="Shape 14"/>
          <p:cNvSpPr/>
          <p:nvPr/>
        </p:nvSpPr>
        <p:spPr>
          <a:xfrm>
            <a:off x="457200" y="3326130"/>
            <a:ext cx="2926080" cy="587502"/>
          </a:xfrm>
          <a:prstGeom prst="roundRect">
            <a:avLst>
              <a:gd name="adj" fmla="val 12451"/>
            </a:avLst>
          </a:prstGeom>
          <a:solidFill>
            <a:srgbClr val="1F2943"/>
          </a:solidFill>
          <a:ln w="12700">
            <a:solidFill>
              <a:srgbClr val="1F2943"/>
            </a:solidFill>
            <a:prstDash val="solid"/>
          </a:ln>
        </p:spPr>
      </p:sp>
      <p:sp>
        <p:nvSpPr>
          <p:cNvPr id="17" name="Text 15"/>
          <p:cNvSpPr txBox="1"/>
          <p:nvPr/>
        </p:nvSpPr>
        <p:spPr>
          <a:xfrm>
            <a:off x="621792" y="3326130"/>
            <a:ext cx="2651760" cy="58750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run_skill_script only appears with scripts</a:t>
            </a:r>
            <a:endParaRPr lang="en-US" sz="1300" dirty="0"/>
          </a:p>
        </p:txBody>
      </p:sp>
      <p:sp>
        <p:nvSpPr>
          <p:cNvPr id="18" name="Shape 16"/>
          <p:cNvSpPr/>
          <p:nvPr/>
        </p:nvSpPr>
        <p:spPr>
          <a:xfrm>
            <a:off x="3493008" y="3528441"/>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3326130"/>
            <a:ext cx="4709160" cy="58750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Skills 2  </a:t>
            </a:r>
            <a:pPr indent="0" marL="0">
              <a:buNone/>
            </a:pPr>
            <a:r>
              <a:rPr lang="en-US" sz="1250" dirty="0">
                <a:solidFill>
                  <a:srgbClr val="FFFFFF"/>
                </a:solidFill>
                <a:latin typeface="Calibri" pitchFamily="34" charset="0"/>
                <a:ea typeface="Calibri" pitchFamily="34" charset="-122"/>
                <a:cs typeface="Calibri" pitchFamily="34" charset="-120"/>
              </a:rPr>
              <a:t>A class-based convert script runs in-process, still gated</a:t>
            </a:r>
            <a:endParaRPr lang="en-US" sz="1250" dirty="0"/>
          </a:p>
        </p:txBody>
      </p:sp>
      <p:sp>
        <p:nvSpPr>
          <p:cNvPr id="20" name="Text 18"/>
          <p:cNvSpPr txBox="1"/>
          <p:nvPr/>
        </p:nvSpPr>
        <p:spPr>
          <a:xfrm>
            <a:off x="457200" y="4206240"/>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Bonus — MAF Agent Skills</a:t>
            </a:r>
            <a:endParaRPr lang="en-US" sz="1300" dirty="0"/>
          </a:p>
        </p:txBody>
      </p:sp>
      <p:sp>
        <p:nvSpPr>
          <p:cNvPr id="21"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  Skills 1 — Simple Skill</a:t>
            </a:r>
            <a:endParaRPr lang="en-US" sz="900" dirty="0"/>
          </a:p>
        </p:txBody>
      </p:sp>
      <p:sp>
        <p:nvSpPr>
          <p:cNvPr id="22"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 1 — Simple Skill</dc:title>
  <dc:subject>PptxGenJS Presentation</dc:subject>
  <dc:creator>Applied Agentic Orchestration with Microsoft Agent Framework</dc:creator>
  <cp:lastModifiedBy>Applied Agentic Orchestration with Microsoft Agent Framework</cp:lastModifiedBy>
  <cp:revision>1</cp:revision>
  <dcterms:created xsi:type="dcterms:W3CDTF">2026-10-07T23:53:48Z</dcterms:created>
  <dcterms:modified xsi:type="dcterms:W3CDTF">2026-10-07T23:53:48Z</dcterms:modified>
</cp:coreProperties>
</file>