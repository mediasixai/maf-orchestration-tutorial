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moves a single model-backed ResearchAgent out of the console and into its own ASP.NET Core process, exposed over the open Agent-to-Agent protocol. A separate client process then discovers that agent purely from its published agent card and calls it exactly like any in-process AIAgent: no shared code, no shared memory, just HTTP. This is the bridge from Lessons 10 to 18's in-process orchestration to a real deployment shape. A2A is how an agent becomes callable by other agents and clients, in any framework or language. The Lesson 24 capstone uses the same idea, that any AIAgent can be hosted in a web process, to serve its finished Researcher, Analyst, Writer pipeline as one agent, but over the Responses protocol from Lesson 21 rather than A2A. Prerequisites are only Lessons 1 and 2: IChatClient, ChatClientAgent, RunAsync and RunStreamingAsync. A2A is not another orchestration pattern; it is an orthogonal, external-interoperability concern that happens to sit at the end of the orchestration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two projects. A2AProtocol is the lesson proper: an ASP.NET Core host, a deliberate exception to the console-app convention because A2A hosting needs a real web server. It builds a ResearchAgent on ChatClientFactory, on the provider and model named by MAF_LLM and MAF_MODEL, and exposes it over A2A. Its packages are Microsoft.Agents.AI 1.24.0, Microsoft.Agents.AI.Hosting.A2A.AspNetCore 1.24.0-preview.261006.1, which provides AddA2AServer and MapA2AHttpJson plus AgentCard and MapWellKnownAgentCard from its dependencies, and Microsoft.Extensions.AI.OpenAI 10.10.1 and OpenAI 2.14.0. A2AProtocolClient is a plain console app with Microsoft.Agents.AI 1.24.0 and Microsoft.Agents.AI.A2A 1.24.0-preview.261006.1. The A2A packages ship as preview, so add them with dotnet add package and the --prerelease flag, or reference that exact version in the .csproj. Only the host reads OPENAI_API_KEY and the required MAF_LLM and MAF_MODEL; the client never talks to a model provider. Finally, dotnet run can silently pick a different port: launchSettings.json's applicationUrl wins over ASPNETCORE_URLS. The lesson pins the port with UseUrls("http://localhost:5100") in code, so it's the same however you launch. Run the host first, then the client in a second terminal; the client fails to connect if the host isn't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A2A is a protocol, not a MAF invention; MAF just ships first-class support for it. The Agent-to-Agent protocol, documented at a2a-protocol.org, defines a standard way for any agent, built with any framework or language, to be discovered and called by any other agent or client. MAF's contribution is a thin, purpose-built bridge in both directions: a hosting package that turns any AIAgent into an A2A-compliant service, and a client package that turns any A2A-compliant endpoint back into an ordinary AIAgent.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Hosting an agent over A2A is four explicit steps. Server registration, protocol wiring, endpoint mapping and card publishing are separate calls, not one bundled helper. builder.Services.AddKeyedSingleton&lt;AIAgent&gt;("research-agent", factory) registers the agent itself under a string key. That call is pure MAF and would work identically with no A2A at all. builder.AddA2AServer("research-agent") resolves that keyed agent and wraps it with A2A request and session handling; it's the one line that makes this an A2A host. app.MapA2AHttpJson("research-agent", "/a2a/research-agent") maps the HTTP+JSON request endpoint. A JSON-RPC binding is also available through MapA2AJsonRpc, and both can be mapped at once on different paths. app.MapWellKnownAgentCard(new AgentCard {...}) publishes a discovery document at /.well-known/agent-card.json. Note that MapWellKnownAgentCard comes from the underlying A2A.AspNetCore SDK package, not Microsoft's hosting package, but both compose on the same WebApplication. Only one agent's card can be served per host; other co-hosted agents are still reachable directly by URL, just not auto-discoverable. The host's Program.cs builds a WebApplication rather than a plain console host, but everything still lives inside an explicit Program class with static async Task Main, per the series rule against top-level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hosted agent is completely unaware it's being exposed over A2A. ResearchAgent is built with the exact same ChatClientFactory and AgentFactory.CreateAgent pair every other lesson uses; nothing about its construction changes. AddA2AServer operates purely at the DI and hosting layer, wrapping whatever AIAgent was registered under the matching key. A2A is also a transport-level wrapper: the remote agent's tools are invisible to, and not configurable from, the calling side. Whatever tools, MCP servers or hosted capabilities ResearchAgent might use live entirely on the host. Extending its capabilities means changing the host's configuration, not anything in the client project. The same holds for any hosted agent, including the Lesson 24 capstone served over the Responses protocol: its client configures nothing about the Researcher, Analyst or Writer agents' own tool access. It only ever calls the exposed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client side, discovery and invocation collapse to two calls. A2ACardResolver(new Uri(hostBaseUrl)) points at a host; GetAIAgentAsync() fetches its /.well-known/agent-card.json and returns a ready-to-use AIAgent in one step. researchAgent.Name, printed right afterwards, comes straight from the card's Name field, not from any local configuration. The client never references OpenAI, Microsoft.Extensions.AI.OpenAI, ChatClientFactory or any MAF chat-client type. Its only MAF dependencies are Microsoft.Agents.AI.A2A plus core Microsoft.Agents.AI for AIAgent, AgentResponse and AgentResponseUpdate. That's proof that A2A genuinely decouples the calling code from whatever model or tools the remote agent uses. Two other discovery strategies exist, not exercised in this lesson's code: agentCard.AsAIAgent() wraps an AgentCard you already have, for example from an enterprise registry; and new A2AClient(new Uri(endpoint)).AsAIAgent(name:, description:) skips card discovery entirely for tightly coupled or development scenarios where the endpoint is already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discovered, RunAsync and RunStreamingAsync behave identically to every in-process agent from Lessons 1 to 18. This lesson's client calls both, live, against the model-backed host, and the calling code can't tell the difference from a local agent beyond the extra discovery step up front. Streaming works over the wire exactly as it does in-process: RunStreamingAsync against the remote A2A agent returns an IAsyncEnumerable&lt;AgentResponseUpdate&gt;, Server-Sent Events under the hood, and the await foreach loop prints incremental text with no A2A-specific code at the call site. Both calls are byte-for-byte the same shape used against in-process agents. The console snippets on this slide are the client's two answers from the Expected Output, rewrapped to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responses exist for long-running tasks but are explicitly out of scope here. The A2A spec supports returning a continuation token instead of blocking, through AgentRunOptions.AllowBackgroundResponses, polling and stream reconnection. The default AgentRunMode on a hosted server is DisallowBackground. This lesson's ResearchAgent answers quickly enough that the default synchronous mode is the right fit, but the mechanism exists for a future agent that doesn't. The default session and task stores are in-memory and explicitly documented as development-only. AddA2AServer defaults to InMemoryAgentSessionStore and InMemoryTaskStore: state is lost on restart and isn't shared across instances. Both are overridable by registering a keyed AgentSessionStore or ITaskStore before calling AddA2AServer, the same DI-keyed pattern used to register the agent itself. Not needed for this lesson's single stateless exchange, but the first thing to swap out before any real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host with dotnet run --project src/A2AProtocol and wait for Application started; then run dotnet run --project src/A2AProtocolClient in a second terminal. The host prints where ResearchAgent is hosted and where the agent card is discoverable, then the usual ASP.NET Core lifetime lines: Now listening on http://localhost:5100 and Application started. On the slide the host's agent-card line, its waiting message and the lifetime log lines are cut to '...', and the two long URL lines are wrapped. The client discovers the card, prints Discovered remote agent: ResearchAgent, then the non-streaming answer and the streamed list. The exact wording of both model responses varies between runs; every call is a live model invocation, now round-tripping over HTTP through A2A. What won't vary: the client discovers ResearchAgent purely from its agent card, with no hardcoded model, persona or endpoint knowledge beyond the host's base URL, and both call paths complete against the separately running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each piece goes. Lesson 21 is again an ASP.NET Core host on the Microsoft.NET.Sdk.Web SDK and pins its port in code with UseUrls, the same choice this lesson made; its prerequisites cite Lesson 19 for exactly that. Lesson 21 also shows that workflow.AsAIAgent turns a whole multi-agent workflow into one AIAgent, so anything that hosts an AIAgent, including this lesson's A2A host, can host a workflow. And Lesson 21's self-hosted versus Foundry-hosted comparison lists A2A, Lesson 19, as one of the protocols a self-hosted app can serve, alongside Responses or both. In Lesson 24, A2A is named as the other way the series exposes an agent: A2A hosting also accepts any AIAgent, but the capstone is served over the Responses protocol because its approval pause maps directly onto the standard mcp_approval_request and mcp_approval_response items any Responses client already understands. Tools living on the host side still holds there: the capstone's plain HttpClient client calls the hosted pipeline, while the Researcher's MCP server runs as a subprocess of the host. So A2A remains how an agent becomes callable by other agents; the finished Lesson 22 to 24 capstone, the Research-and-Report pipeline, is served over the Responses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19  ·  PHASE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A2A Protocol</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Expose an agent beyond your process, and call it like any local agent</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050" dirty="0">
                <a:solidFill>
                  <a:srgbClr val="FFFFFF"/>
                </a:solidFill>
                <a:latin typeface="Courier New" pitchFamily="34" charset="0"/>
                <a:ea typeface="Courier New" pitchFamily="34" charset="-122"/>
                <a:cs typeface="Courier New" pitchFamily="34" charset="-120"/>
              </a:rPr>
              <a:t>Lessons 1–2: ChatClientAgent, RunAsync</a:t>
            </a:r>
            <a:endParaRPr lang="en-US" sz="105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000" dirty="0">
                <a:solidFill>
                  <a:srgbClr val="FFFFFF"/>
                </a:solidFill>
                <a:latin typeface="Courier New" pitchFamily="34" charset="0"/>
                <a:ea typeface="Courier New" pitchFamily="34" charset="-122"/>
                <a:cs typeface="Courier New" pitchFamily="34" charset="-120"/>
              </a:rPr>
              <a:t>src/A2AProtocol + src/A2AProtocolClient</a:t>
            </a:r>
            <a:endParaRPr lang="en-US" sz="10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A2A is, and what MAF adds on top of it</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Hosting an AIAgent over A2A in four calls</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Discovering a remote agent from its agent card</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Calling it with RunAsync and RunStreamingAsync, unchanged</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stays on the host side, and what to swap before production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Two projects, preview A2A packages</a:t>
            </a:r>
            <a:endParaRPr lang="en-US" sz="2800" dirty="0"/>
          </a:p>
        </p:txBody>
      </p:sp>
      <p:sp>
        <p:nvSpPr>
          <p:cNvPr id="4" name="Shape 2"/>
          <p:cNvSpPr/>
          <p:nvPr/>
        </p:nvSpPr>
        <p:spPr>
          <a:xfrm>
            <a:off x="457200" y="1371600"/>
            <a:ext cx="2560320" cy="2011680"/>
          </a:xfrm>
          <a:prstGeom prst="roundRect">
            <a:avLst>
              <a:gd name="adj" fmla="val 363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73736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A2AProtocol</a:t>
            </a:r>
            <a:endParaRPr lang="en-US" sz="1400" dirty="0"/>
          </a:p>
        </p:txBody>
      </p:sp>
      <p:sp>
        <p:nvSpPr>
          <p:cNvPr id="8" name="Text 5"/>
          <p:cNvSpPr txBox="1"/>
          <p:nvPr/>
        </p:nvSpPr>
        <p:spPr>
          <a:xfrm>
            <a:off x="64008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ASP.NET Core host (Microsoft.NET.Sdk.Web)</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Hosting.A2A.AspNetCore preview</a:t>
            </a:r>
            <a:endParaRPr lang="en-US" sz="1200" dirty="0"/>
          </a:p>
        </p:txBody>
      </p:sp>
      <p:sp>
        <p:nvSpPr>
          <p:cNvPr id="9" name="Shape 6"/>
          <p:cNvSpPr/>
          <p:nvPr/>
        </p:nvSpPr>
        <p:spPr>
          <a:xfrm>
            <a:off x="3291840" y="1371600"/>
            <a:ext cx="25603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347472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3574572" y="1654332"/>
            <a:ext cx="184343" cy="184343"/>
          </a:xfrm>
          <a:prstGeom prst="rect">
            <a:avLst/>
          </a:prstGeom>
        </p:spPr>
      </p:pic>
      <p:sp>
        <p:nvSpPr>
          <p:cNvPr id="12" name="Text 8"/>
          <p:cNvSpPr txBox="1"/>
          <p:nvPr/>
        </p:nvSpPr>
        <p:spPr>
          <a:xfrm>
            <a:off x="3977640" y="1554480"/>
            <a:ext cx="1737360" cy="384048"/>
          </a:xfrm>
          <a:prstGeom prst="rect">
            <a:avLst/>
          </a:prstGeom>
          <a:noFill/>
          <a:ln/>
        </p:spPr>
        <p:txBody>
          <a:bodyPr wrap="square" lIns="0" tIns="0" rIns="0" bIns="0"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A2AProtocolClient</a:t>
            </a:r>
            <a:endParaRPr lang="en-US" sz="1300" dirty="0"/>
          </a:p>
        </p:txBody>
      </p:sp>
      <p:sp>
        <p:nvSpPr>
          <p:cNvPr id="13" name="Text 9"/>
          <p:cNvSpPr txBox="1"/>
          <p:nvPr/>
        </p:nvSpPr>
        <p:spPr>
          <a:xfrm>
            <a:off x="3474720" y="2057400"/>
            <a:ext cx="219456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Plain console app</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Microsoft.Agents.AI.A2A preview</a:t>
            </a:r>
            <a:endParaRPr lang="en-US" sz="1200" dirty="0"/>
          </a:p>
        </p:txBody>
      </p:sp>
      <p:sp>
        <p:nvSpPr>
          <p:cNvPr id="14" name="Shape 10"/>
          <p:cNvSpPr/>
          <p:nvPr/>
        </p:nvSpPr>
        <p:spPr>
          <a:xfrm>
            <a:off x="6126480" y="1371600"/>
            <a:ext cx="2560320" cy="2011680"/>
          </a:xfrm>
          <a:prstGeom prst="roundRect">
            <a:avLst>
              <a:gd name="adj" fmla="val 3636"/>
            </a:avLst>
          </a:prstGeom>
          <a:solidFill>
            <a:srgbClr val="512BD4"/>
          </a:solidFill>
          <a:ln w="12700">
            <a:solidFill>
              <a:srgbClr val="512BD4"/>
            </a:solidFill>
            <a:prstDash val="solid"/>
          </a:ln>
        </p:spPr>
      </p:sp>
      <p:sp>
        <p:nvSpPr>
          <p:cNvPr id="15" name="Shape 11"/>
          <p:cNvSpPr/>
          <p:nvPr/>
        </p:nvSpPr>
        <p:spPr>
          <a:xfrm>
            <a:off x="6309360" y="1554480"/>
            <a:ext cx="384048" cy="384048"/>
          </a:xfrm>
          <a:prstGeom prst="ellipse">
            <a:avLst/>
          </a:prstGeom>
          <a:solidFill>
            <a:srgbClr val="FFFFFF"/>
          </a:solidFill>
          <a:ln w="12700">
            <a:solidFill>
              <a:srgbClr val="FFFFFF"/>
            </a:solidFill>
            <a:prstDash val="solid"/>
          </a:ln>
        </p:spPr>
      </p:sp>
      <p:pic>
        <p:nvPicPr>
          <p:cNvPr id="16" name="Image 2" descr="preencoded.png">    </p:cNvPr>
          <p:cNvPicPr>
            <a:picLocks noChangeAspect="1"/>
          </p:cNvPicPr>
          <p:nvPr/>
        </p:nvPicPr>
        <p:blipFill>
          <a:blip r:embed="rId3"/>
          <a:stretch>
            <a:fillRect/>
          </a:stretch>
        </p:blipFill>
        <p:spPr>
          <a:xfrm>
            <a:off x="6409212" y="1654332"/>
            <a:ext cx="184343" cy="184343"/>
          </a:xfrm>
          <a:prstGeom prst="rect">
            <a:avLst/>
          </a:prstGeom>
        </p:spPr>
      </p:pic>
      <p:sp>
        <p:nvSpPr>
          <p:cNvPr id="17" name="Text 12"/>
          <p:cNvSpPr txBox="1"/>
          <p:nvPr/>
        </p:nvSpPr>
        <p:spPr>
          <a:xfrm>
            <a:off x="6812280" y="1554480"/>
            <a:ext cx="1737360" cy="38404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--prerelease</a:t>
            </a:r>
            <a:endParaRPr lang="en-US" sz="1300" dirty="0"/>
          </a:p>
        </p:txBody>
      </p:sp>
      <p:sp>
        <p:nvSpPr>
          <p:cNvPr id="18" name="Text 13"/>
          <p:cNvSpPr txBox="1"/>
          <p:nvPr/>
        </p:nvSpPr>
        <p:spPr>
          <a:xfrm>
            <a:off x="6309360" y="2057400"/>
            <a:ext cx="219456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A2A packages ship as preview: 1.24.0-preview.261006.1</a:t>
            </a:r>
            <a:endParaRPr lang="en-US" sz="1200" dirty="0"/>
          </a:p>
        </p:txBody>
      </p:sp>
      <p:sp>
        <p:nvSpPr>
          <p:cNvPr id="19" name="Text 14"/>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Run the host first, then the client in a second terminal. Port 5100 is pinned in code.</a:t>
            </a:r>
            <a:endParaRPr lang="en-US" sz="1400" dirty="0"/>
          </a:p>
        </p:txBody>
      </p:sp>
      <p:sp>
        <p:nvSpPr>
          <p:cNvPr id="20"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1"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A2A is a protocol; MAF bridges both ways</a:t>
            </a:r>
            <a:endParaRPr lang="en-US" sz="2800" dirty="0"/>
          </a:p>
        </p:txBody>
      </p:sp>
      <p:sp>
        <p:nvSpPr>
          <p:cNvPr id="4" name="Shape 2"/>
          <p:cNvSpPr/>
          <p:nvPr/>
        </p:nvSpPr>
        <p:spPr>
          <a:xfrm>
            <a:off x="457200" y="1371600"/>
            <a:ext cx="39319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Hosting package</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Turns any AIAgent into an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A2A-compliant service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Any client, any framework can call it</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Client package</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Turns any A2A endpoint back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into an ordinary AIAgent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Built in any framework or language</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protocol is open (a2a-protocol.org). MAF ships a thin bridge, not the standard.</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Hosting is four explicit calls</a:t>
            </a:r>
            <a:endParaRPr lang="en-US" sz="2800" dirty="0"/>
          </a:p>
        </p:txBody>
      </p:sp>
      <p:sp>
        <p:nvSpPr>
          <p:cNvPr id="4" name="Shape 2"/>
          <p:cNvSpPr/>
          <p:nvPr/>
        </p:nvSpPr>
        <p:spPr>
          <a:xfrm>
            <a:off x="457200" y="1417320"/>
            <a:ext cx="1796796" cy="24140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100" b="1" dirty="0">
                <a:solidFill>
                  <a:srgbClr val="1F2937"/>
                </a:solidFill>
                <a:latin typeface="Calibri" pitchFamily="34" charset="0"/>
                <a:ea typeface="Calibri" pitchFamily="34" charset="-122"/>
                <a:cs typeface="Calibri" pitchFamily="34" charset="-120"/>
              </a:rPr>
              <a:t>AddKeyedSingleton</a:t>
            </a:r>
            <a:endParaRPr lang="en-US" sz="1100" dirty="0"/>
          </a:p>
        </p:txBody>
      </p:sp>
      <p:sp>
        <p:nvSpPr>
          <p:cNvPr id="8" name="Text 5"/>
          <p:cNvSpPr txBox="1"/>
          <p:nvPr/>
        </p:nvSpPr>
        <p:spPr>
          <a:xfrm>
            <a:off x="640080"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Registers the AIAgent under the key "research-agent"</a:t>
            </a:r>
            <a:endParaRPr lang="en-US" sz="1200" dirty="0"/>
          </a:p>
        </p:txBody>
      </p:sp>
      <p:sp>
        <p:nvSpPr>
          <p:cNvPr id="9" name="Shape 6"/>
          <p:cNvSpPr/>
          <p:nvPr/>
        </p:nvSpPr>
        <p:spPr>
          <a:xfrm>
            <a:off x="2318004" y="25146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4140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AddA2AServer</a:t>
            </a:r>
            <a:endParaRPr lang="en-US" sz="1400" dirty="0"/>
          </a:p>
        </p:txBody>
      </p:sp>
      <p:sp>
        <p:nvSpPr>
          <p:cNvPr id="14" name="Text 10"/>
          <p:cNvSpPr txBox="1"/>
          <p:nvPr/>
        </p:nvSpPr>
        <p:spPr>
          <a:xfrm>
            <a:off x="2784348" y="28346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Wraps that keyed agent with A2A request and session handling</a:t>
            </a:r>
            <a:endParaRPr lang="en-US" sz="1200" dirty="0"/>
          </a:p>
        </p:txBody>
      </p:sp>
      <p:sp>
        <p:nvSpPr>
          <p:cNvPr id="15" name="Shape 11"/>
          <p:cNvSpPr/>
          <p:nvPr/>
        </p:nvSpPr>
        <p:spPr>
          <a:xfrm>
            <a:off x="4462272" y="25146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4140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MapA2AHttpJson</a:t>
            </a:r>
            <a:endParaRPr lang="en-US" sz="1350" dirty="0"/>
          </a:p>
        </p:txBody>
      </p:sp>
      <p:sp>
        <p:nvSpPr>
          <p:cNvPr id="20" name="Text 15"/>
          <p:cNvSpPr txBox="1"/>
          <p:nvPr/>
        </p:nvSpPr>
        <p:spPr>
          <a:xfrm>
            <a:off x="4928616" y="2834640"/>
            <a:ext cx="1476756" cy="905256"/>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Maps the HTTP+JSON endpoint at /a2a/research-agent</a:t>
            </a:r>
            <a:endParaRPr lang="en-US" sz="1100" dirty="0"/>
          </a:p>
        </p:txBody>
      </p:sp>
      <p:sp>
        <p:nvSpPr>
          <p:cNvPr id="21" name="Shape 16"/>
          <p:cNvSpPr/>
          <p:nvPr/>
        </p:nvSpPr>
        <p:spPr>
          <a:xfrm>
            <a:off x="6606540" y="25146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4140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MapWellKnown</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AgentCard</a:t>
            </a:r>
            <a:endParaRPr lang="en-US" sz="1300" dirty="0"/>
          </a:p>
        </p:txBody>
      </p:sp>
      <p:sp>
        <p:nvSpPr>
          <p:cNvPr id="26" name="Text 20"/>
          <p:cNvSpPr txBox="1"/>
          <p:nvPr/>
        </p:nvSpPr>
        <p:spPr>
          <a:xfrm>
            <a:off x="7072884" y="28346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Publishes /.well-known/</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agent-card.json for discovery</a:t>
            </a:r>
            <a:endParaRPr lang="en-US" sz="1200" dirty="0"/>
          </a:p>
        </p:txBody>
      </p:sp>
      <p:sp>
        <p:nvSpPr>
          <p:cNvPr id="27" name="Text 21"/>
          <p:cNvSpPr txBox="1"/>
          <p:nvPr/>
        </p:nvSpPr>
        <p:spPr>
          <a:xfrm>
            <a:off x="457200" y="41513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Only one agent's card per host. Co-hosted agents are still reachable by URL.</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The agent never knows it's exposed</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ResearchAgent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Built with the same ChatClientFactory and AgentFactory.CreateAgent as every other lesson.</a:t>
            </a:r>
            <a:endParaRPr lang="en-US" sz="12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Hosting layer</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AddA2AServer wraps whatever AIAgent is under the key</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Tools stay home</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Tools, MCP servers and hosted tools live on the host only</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Client is blind</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Can't see or configure the remote agent's tools</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Extending the agent means changing the host, never the client.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Discovery collapses to two calls</a:t>
            </a:r>
            <a:endParaRPr lang="en-US" sz="2800" dirty="0"/>
          </a:p>
        </p:txBody>
      </p:sp>
      <p:sp>
        <p:nvSpPr>
          <p:cNvPr id="4" name="Shape 2"/>
          <p:cNvSpPr/>
          <p:nvPr/>
        </p:nvSpPr>
        <p:spPr>
          <a:xfrm>
            <a:off x="457200" y="1417320"/>
            <a:ext cx="1796796" cy="19933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Host base URL</a:t>
            </a:r>
            <a:endParaRPr lang="en-US" sz="1500" dirty="0"/>
          </a:p>
        </p:txBody>
      </p:sp>
      <p:sp>
        <p:nvSpPr>
          <p:cNvPr id="8" name="Text 5"/>
          <p:cNvSpPr txBox="1"/>
          <p:nvPr/>
        </p:nvSpPr>
        <p:spPr>
          <a:xfrm>
            <a:off x="640080"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localhost:5100,</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the only thing the</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client knows</a:t>
            </a:r>
            <a:endParaRPr lang="en-US" sz="1200" dirty="0"/>
          </a:p>
        </p:txBody>
      </p:sp>
      <p:sp>
        <p:nvSpPr>
          <p:cNvPr id="9" name="Shape 6"/>
          <p:cNvSpPr/>
          <p:nvPr/>
        </p:nvSpPr>
        <p:spPr>
          <a:xfrm>
            <a:off x="2318004"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19933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A2ACardResolver</a:t>
            </a:r>
            <a:endParaRPr lang="en-US" sz="1250" dirty="0"/>
          </a:p>
        </p:txBody>
      </p:sp>
      <p:sp>
        <p:nvSpPr>
          <p:cNvPr id="14" name="Text 10"/>
          <p:cNvSpPr txBox="1"/>
          <p:nvPr/>
        </p:nvSpPr>
        <p:spPr>
          <a:xfrm>
            <a:off x="2784348"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Points at the host</a:t>
            </a:r>
            <a:endParaRPr lang="en-US" sz="1200" dirty="0"/>
          </a:p>
        </p:txBody>
      </p:sp>
      <p:sp>
        <p:nvSpPr>
          <p:cNvPr id="15" name="Shape 11"/>
          <p:cNvSpPr/>
          <p:nvPr/>
        </p:nvSpPr>
        <p:spPr>
          <a:xfrm>
            <a:off x="4462272"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1993392"/>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250" b="1" dirty="0">
                <a:solidFill>
                  <a:srgbClr val="1F2937"/>
                </a:solidFill>
                <a:latin typeface="Calibri" pitchFamily="34" charset="0"/>
                <a:ea typeface="Calibri" pitchFamily="34" charset="-122"/>
                <a:cs typeface="Calibri" pitchFamily="34" charset="-120"/>
              </a:rPr>
              <a:t>GetAIAgentAsync</a:t>
            </a:r>
            <a:endParaRPr lang="en-US" sz="1250" dirty="0"/>
          </a:p>
        </p:txBody>
      </p:sp>
      <p:sp>
        <p:nvSpPr>
          <p:cNvPr id="20" name="Text 15"/>
          <p:cNvSpPr txBox="1"/>
          <p:nvPr/>
        </p:nvSpPr>
        <p:spPr>
          <a:xfrm>
            <a:off x="4928616" y="26060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Fetches the agent card and returns an AIAgent</a:t>
            </a:r>
            <a:endParaRPr lang="en-US" sz="1200" dirty="0"/>
          </a:p>
        </p:txBody>
      </p:sp>
      <p:sp>
        <p:nvSpPr>
          <p:cNvPr id="21" name="Shape 16"/>
          <p:cNvSpPr/>
          <p:nvPr/>
        </p:nvSpPr>
        <p:spPr>
          <a:xfrm>
            <a:off x="6606540"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1993392"/>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AIAgent</a:t>
            </a:r>
            <a:endParaRPr lang="en-US" sz="1500" dirty="0"/>
          </a:p>
        </p:txBody>
      </p:sp>
      <p:sp>
        <p:nvSpPr>
          <p:cNvPr id="26" name="Text 20"/>
          <p:cNvSpPr txBox="1"/>
          <p:nvPr/>
        </p:nvSpPr>
        <p:spPr>
          <a:xfrm>
            <a:off x="7072884" y="26060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Name comes from the card, not local config</a:t>
            </a:r>
            <a:endParaRPr lang="en-US" sz="1200" dirty="0"/>
          </a:p>
        </p:txBody>
      </p:sp>
      <p:sp>
        <p:nvSpPr>
          <p:cNvPr id="27" name="Text 21"/>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OpenAI, no ChatClientFactory, no chat-client types in the client project.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Remote calls look exactly like local ones</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RunAsync</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AgentResponse over HTTP</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shape as Lessons 1–18</a:t>
            </a:r>
            <a:endParaRPr lang="en-US" sz="1300" dirty="0"/>
          </a:p>
        </p:txBody>
      </p:sp>
      <p:sp>
        <p:nvSpPr>
          <p:cNvPr id="9" name="Shape 6"/>
          <p:cNvSpPr/>
          <p:nvPr/>
        </p:nvSpPr>
        <p:spPr>
          <a:xfrm>
            <a:off x="685800" y="2907792"/>
            <a:ext cx="3474720" cy="868680"/>
          </a:xfrm>
          <a:prstGeom prst="roundRect">
            <a:avLst>
              <a:gd name="adj" fmla="val 8421"/>
            </a:avLst>
          </a:prstGeom>
          <a:solidFill>
            <a:srgbClr val="0F1420"/>
          </a:solidFill>
          <a:ln w="12700">
            <a:solidFill>
              <a:srgbClr val="0F1420"/>
            </a:solidFill>
            <a:prstDash val="solid"/>
          </a:ln>
        </p:spPr>
      </p:sp>
      <p:sp>
        <p:nvSpPr>
          <p:cNvPr id="10" name="Text 7"/>
          <p:cNvSpPr txBox="1"/>
          <p:nvPr/>
        </p:nvSpPr>
        <p:spPr>
          <a:xfrm>
            <a:off x="86868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Non-streaming call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Earth is located in the Milky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Way galaxy.</a:t>
            </a:r>
            <a:endParaRPr lang="en-US" sz="1100" dirty="0"/>
          </a:p>
        </p:txBody>
      </p:sp>
      <p:sp>
        <p:nvSpPr>
          <p:cNvPr id="11" name="Shape 8"/>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RunStreamingAsync</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AgentResponseUpdate over SSE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Same await foreach as in-process</a:t>
            </a:r>
            <a:endParaRPr lang="en-US" sz="1300" dirty="0"/>
          </a:p>
        </p:txBody>
      </p:sp>
      <p:sp>
        <p:nvSpPr>
          <p:cNvPr id="16" name="Shape 12"/>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7" name="Text 13"/>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Streaming call ===</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Mercury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Venus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Earth</a:t>
            </a:r>
            <a:endParaRPr lang="en-US" sz="1100" dirty="0"/>
          </a:p>
        </p:txBody>
      </p:sp>
      <p:sp>
        <p:nvSpPr>
          <p:cNvPr id="18" name="Text 14"/>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only visible difference from a local agent: the two lines that built it.</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What's out of scope, and what to swap first</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Background responses</a:t>
            </a:r>
            <a:endParaRPr lang="en-US" sz="14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Continuation tokens, polling and reconnection for long tasks. Default AgentRunMode is DisallowBackground.</a:t>
            </a:r>
            <a:endParaRPr lang="en-US" sz="1200" dirty="0"/>
          </a:p>
        </p:txBody>
      </p:sp>
      <p:sp>
        <p:nvSpPr>
          <p:cNvPr id="9" name="Shape 6"/>
          <p:cNvSpPr/>
          <p:nvPr/>
        </p:nvSpPr>
        <p:spPr>
          <a:xfrm>
            <a:off x="4709160" y="1371600"/>
            <a:ext cx="3977640" cy="1394460"/>
          </a:xfrm>
          <a:prstGeom prst="roundRect">
            <a:avLst>
              <a:gd name="adj" fmla="val 5246"/>
            </a:avLst>
          </a:prstGeom>
          <a:solidFill>
            <a:srgbClr val="512BD4"/>
          </a:solidFill>
          <a:ln w="12700">
            <a:solidFill>
              <a:srgbClr val="512BD4"/>
            </a:solidFill>
            <a:prstDash val="solid"/>
          </a:ln>
        </p:spPr>
      </p:sp>
      <p:sp>
        <p:nvSpPr>
          <p:cNvPr id="10" name="Shape 7"/>
          <p:cNvSpPr/>
          <p:nvPr/>
        </p:nvSpPr>
        <p:spPr>
          <a:xfrm>
            <a:off x="4892040" y="1554480"/>
            <a:ext cx="384048" cy="384048"/>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In-memory stores</a:t>
            </a:r>
            <a:endParaRPr lang="en-US" sz="14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InMemoryAgentSessionStore and InMemoryTaskStore are development-only: lost on restart, not shared.</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JSON-RPC binding</a:t>
            </a:r>
            <a:endParaRPr lang="en-US" sz="14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MapA2AJsonRpc can be mapped alongside HTTP+JSON on a different path.</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Keyed overrides</a:t>
            </a:r>
            <a:endParaRPr lang="en-US" sz="14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 a keyed AgentSessionStore or ITaskStore before AddA2AServer to replace the defaults.</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remote agent, discovered and called</a:t>
            </a:r>
            <a:endParaRPr lang="en-US" sz="2800" dirty="0"/>
          </a:p>
        </p:txBody>
      </p:sp>
      <p:sp>
        <p:nvSpPr>
          <p:cNvPr id="4" name="Shape 2"/>
          <p:cNvSpPr/>
          <p:nvPr/>
        </p:nvSpPr>
        <p:spPr>
          <a:xfrm>
            <a:off x="457200" y="1325880"/>
            <a:ext cx="5257800" cy="2849880"/>
          </a:xfrm>
          <a:prstGeom prst="roundRect">
            <a:avLst>
              <a:gd name="adj" fmla="val 2567"/>
            </a:avLst>
          </a:prstGeom>
          <a:solidFill>
            <a:srgbClr val="0F1420"/>
          </a:solidFill>
          <a:ln w="12700">
            <a:solidFill>
              <a:srgbClr val="0F1420"/>
            </a:solidFill>
            <a:prstDash val="solid"/>
          </a:ln>
        </p:spPr>
      </p:sp>
      <p:sp>
        <p:nvSpPr>
          <p:cNvPr id="5" name="Text 3"/>
          <p:cNvSpPr txBox="1"/>
          <p:nvPr/>
        </p:nvSpPr>
        <p:spPr>
          <a:xfrm>
            <a:off x="640080" y="1463040"/>
            <a:ext cx="4892040" cy="2575560"/>
          </a:xfrm>
          <a:prstGeom prst="rect">
            <a:avLst/>
          </a:prstGeom>
          <a:noFill/>
          <a:ln/>
        </p:spPr>
        <p:txBody>
          <a:bodyPr wrap="square" lIns="0" tIns="0" rIns="0" bIns="0" rtlCol="0" anchor="t"/>
          <a:lstStyle/>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src/A2AProtocol</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ResearchAgent hosted over A2A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http://localhost:5100/a2a/research-agent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&gt; dotnet run --project src/A2AProtocolClient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Discovering agent card at http://localhost:5100/</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.well-known/agent-card.json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Discovered remote agent: ResearchAgent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Non-streaming call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Earth is located in the Milky Way galaxy.</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Streaming call ===</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Mercury</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Venus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Earth</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Host terminal</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Listening on port 5100 before the client starts</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Discovery</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name comes from the agent card alone</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Both paths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Non-streaming and streaming both complete</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web host with its port pinned</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Sdk.Web again, with UseUrls fixing port 8088</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A2A hosts any AIAgent</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workflow.AsAIAgent makes a whole workflow hostable</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A2A as a self-hosted protocol</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21  </a:t>
            </a:r>
            <a:pPr indent="0" marL="0">
              <a:buNone/>
            </a:pPr>
            <a:r>
              <a:rPr lang="en-US" sz="1250" dirty="0">
                <a:solidFill>
                  <a:srgbClr val="FFFFFF"/>
                </a:solidFill>
                <a:latin typeface="Calibri" pitchFamily="34" charset="0"/>
                <a:ea typeface="Calibri" pitchFamily="34" charset="-122"/>
                <a:cs typeface="Calibri" pitchFamily="34" charset="-120"/>
              </a:rPr>
              <a:t>Self-hosting can serve Responses, A2A, or both</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A2A vs another protocol</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capstone uses Responses: its approval maps onto standard items</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Tools stay on the host side</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24  </a:t>
            </a:r>
            <a:pPr indent="0" marL="0">
              <a:buNone/>
            </a:pPr>
            <a:r>
              <a:rPr lang="en-US" sz="1250" dirty="0">
                <a:solidFill>
                  <a:srgbClr val="FFFFFF"/>
                </a:solidFill>
                <a:latin typeface="Calibri" pitchFamily="34" charset="0"/>
                <a:ea typeface="Calibri" pitchFamily="34" charset="-122"/>
                <a:cs typeface="Calibri" pitchFamily="34" charset="-120"/>
              </a:rPr>
              <a:t>The client never touches the Researcher's MCP tool</a:t>
            </a:r>
            <a:endParaRPr lang="en-US" sz="1250" dirty="0"/>
          </a:p>
        </p:txBody>
      </p:sp>
      <p:sp>
        <p:nvSpPr>
          <p:cNvPr id="24" name="Text 22"/>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 served over Responses</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19 — A2A Protocol</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19 — A2A Protocol</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2026-10-07T23:53:47Z</dcterms:created>
  <dcterms:modified xsi:type="dcterms:W3CDTF">2026-10-07T23:53:47Z</dcterms:modified>
</cp:coreProperties>
</file>