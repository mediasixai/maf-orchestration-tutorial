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equips one agent with three Agent Skills authored three different ways: a file-based skill, which is a SKILL.md folder; a class-based skill, a C# class with attributed members; and an inline, code-defined skill built directly in code with a dynamic resource. They are composed into a single pipeline with AgentSkillsProviderBuilder. It matters because real applications rarely get their skills from one place: some come from a shared folder your team maintains, some are distributed as NuGet packages, and some need to be generated from application state at runtime. The lesson also shows how to selectively automate the approval gate from Skills 1, so read-only skill lookups stop interrupting the agent while script execution still does. It assumes Skills 1, meaning the SKILL.md format, progressive disclosure and the basic approval loop, plus Lesson 9, Approvals. It is otherwise standalone: it does not reference Skills 1's code and ships its own copy of the code-review-checklist skill folder.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Target framework net10.0. Packages: Microsoft.Agents.AI 1.24.0, which holds AgentSkillsProviderBuilder, AgentClassSkill of T, AgentInlineSkill and AIAgentBuilder.UseToolApproval. Microsoft.Extensions.AI.OpenAI 10.10.1 is the first-party IChatClient adapter, over the OpenAI 2.14.0 SDK. No separate skills package is required for any of the three sources used here. Only an MCP-based skill source would need Microsoft.Agents.AI.Mcp, an alpha prerelease, and it is not used in this lesson. Set OPENAI_API_KEY. MAF_LLM and MAF_MODEL are both required, with no built-in defaults: set MAF_LLM to OPENAI and MAF_MODEL to gpt-4.1-mini, the values the demos use, or pick AZURE, GEMINI, OLLAMA or LMSTUDIO with a model that provider serves; on Gemini use gemini-2.5-flash, because the factory refuses Gemini 3 models. The project ships its own skills/code-review-checklist folder, copied to the build output by the csproj, used as the file-based source in the composed pipeline.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AgentSkillsProviderBuilder composes sources; it doesn't replace them. UseFileSkill(path) adds a file-based source. UseSkill adds either a class-based AgentClassSkill or an inline AgentInlineSkill instance. Build aggregates all of them, with automatic deduplication and caching, into one AgentSkillsProvider. The agent sees one merged skill list and has no idea which source any given skill came from. Because one source is file-based, the chain also calls UseFileScriptRunner with SubprocessScriptRunner.RunAsync; the next slide covers why. UseFilter lets a provider exclude skills without removing them from the source. This lesson's filter keeps every skill whose name is not experimental-skill, a deliberate no-op since none of the three skills is named that, included to show the mechanism: filtering by name, metadata or any other predicate over the composed set before it reaches the agent. The agent itself is built exactly like Skills 1, via AgentFactory.CreateAgentWithContextProviders: the multi-source provider slots into the same single-item AIContextProviders list a single-source provider would.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class-based skill packages everything a file-based skill has, in code. UnitConverterSkill derives from AgentClassSkill of UnitConverterSkill, overrides Frontmatter and Instructions, and marks a property with AgentSkillResource conversion-table and a method with AgentSkillScript convert. This is the shape teams use to ship a skill as a NuGet package: dotnet add package, then one UseSkill call with a new instance of their skill. An inline skill is built with plain method calls, not attributes. ProjectInfoSkillFactory constructs an AgentInlineSkill and calls AddResource with the name environment and a factory delegate. That is useful when a skill needs to close over runtime state, such as a database, a config value or a per-session value, rather than serve static content. Here the delegate re-reads DOTNET_ENVIRONMENT and the machine name every time the agent calls read_skill_resource.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file script runner decides how a file-based skill's scripts execute. A file-based skill can ship executable files in a scripts folder: Python, JavaScript, bash or PowerShell. The builder has no built-in way to run them, so any pipeline with a file-based source registers a runner with UseFileScriptRunner, and Build throws without one. This lesson's SubprocessScriptRunner.RunAsync matches the AgentFileSkillScriptRunner delegate: it maps the script's extension to an interpreter, starts the script as a local process in the script's folder, passes the model's JSON-array arguments as command-line arguments, and returns standard output, standard error and the exit code. Class-based and inline scripts are C# delegates, so calling them is just a method call and never touches the runner. UnitConverterSkill.Convert multiplies the value by the factor from the conversion table, rounds to four places and returns JSON, all in-process. The code-review-checklist file skill has no scripts folder, so in this demo the runner is registered but never invoked; it is in place for the first file skill that ships a script.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Approval can be automated per tool, not just per call. AsBuilder, UseToolApproval with ToolApprovalAgentOptions whose AutoApprovalRules contain AgentSkillsProvider.ReadOnlyToolsAutoApprovalRule, wraps the agent so load_skill and read_skill_resource never pause, while run_skill_script still does. It is layered on after the agent exists. This is the layered policy Lesson 9 previewed, AIAgentBuilder.UseToolApproval with AutoApprovalRules, now shown for real and applied specifically to skill tools. It adds a policy layer on top of the same ToolApprovalRequestContent and ToolApprovalResponseContent primitive, rather than requiring you to hand-roll auto-approval logic yourself. Coming from SK: as in Skills 1, Semantic Kernel has no direct equivalent to Agent Skills. For anyone migrating a large SK plugin collection, AgentSkillsProviderBuilder is the pattern that lets a team ship each skill independently, as its own folder or NuGet package, and combine them per agent with one UseFileSkill or UseSkill call each, rather than registering every plugin function on every agent up front.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Prompt 1 asks for a review against the code review checklist and produces no console approval output at all. load_skill and read_skill_resource both match AgentSkillsProvider.ReadOnlyToolsAutoApprovalRule, so they execute immediately, and ApproveAllPendingAsync's loop finds zero pending requests. The review is the same as Skills 1: async void and the empty catch fail, the other three items pass, verdict Needs changes. Prompt 2 asks to convert 26.2 miles to kilometers using the unit-converter skill. It still pauses, exactly once, for run_skill_script: the rule only covers the two read-only tools, so running UnitConverterSkill's convert script triggers a real approval round before the result comes back, 42.1846 kilometers. Both skills came from different sources, but the agent never distinguished between them; the difference only shows up in how you authored and registered each one. Wording may vary between runs. On the slide, the lines are rewrapped, including the Prompt 2 header, and each review item's justification is trimmed with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last skills lesson, so instead of pointing forward, each row points back to where the idea started. The SKILL.md format, progressive disclosure and the manual approval loop come from Skills 1. Wiring the composed provider into AIContextProviders through CreateAgentWithContextProviders is the Lesson 5 context-provider mechanism. Approving run_skill_script uses the ToolApprovalRequestContent pause and response from Lesson 9. And UseToolApproval with AutoApprovalRules is the policy layer Lesson 9 named as the next step beyond its hand-rolled loop.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slideLayout" Target="../slideLayouts/slideLayout1.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B2D"/>
        </a:solidFill>
      </p:bgPr>
    </p:bg>
    <p:spTree>
      <p:nvGrpSpPr>
        <p:cNvPr id="1" name=""/>
        <p:cNvGrpSpPr/>
        <p:nvPr/>
      </p:nvGrpSpPr>
      <p:grpSpPr>
        <a:xfrm>
          <a:off x="0" y="0"/>
          <a:ext cx="0" cy="0"/>
          <a:chOff x="0" y="0"/>
          <a:chExt cx="0" cy="0"/>
        </a:xfrm>
      </p:grpSpPr>
      <p:sp>
        <p:nvSpPr>
          <p:cNvPr id="2" name="Text 0"/>
          <p:cNvSpPr txBox="1"/>
          <p:nvPr/>
        </p:nvSpPr>
        <p:spPr>
          <a:xfrm>
            <a:off x="457200" y="502920"/>
            <a:ext cx="4206240" cy="457200"/>
          </a:xfrm>
          <a:prstGeom prst="rect">
            <a:avLst/>
          </a:prstGeom>
          <a:noFill/>
          <a:ln/>
        </p:spPr>
        <p:txBody>
          <a:bodyPr wrap="square" lIns="0" tIns="0" rIns="0" bIns="0" rtlCol="0" anchor="t"/>
          <a:lstStyle/>
          <a:p>
            <a:pPr indent="0" marL="0">
              <a:buNone/>
            </a:pPr>
            <a:r>
              <a:rPr lang="en-US" sz="1100" b="1" spc="200" kern="0" dirty="0">
                <a:solidFill>
                  <a:srgbClr val="F5A623"/>
                </a:solidFill>
                <a:latin typeface="Calibri" pitchFamily="34" charset="0"/>
                <a:ea typeface="Calibri" pitchFamily="34" charset="-122"/>
                <a:cs typeface="Calibri" pitchFamily="34" charset="-120"/>
              </a:rPr>
              <a:t>BONUS  ·  SKILLS 2</a:t>
            </a:r>
            <a:endParaRPr lang="en-US" sz="1100" dirty="0"/>
          </a:p>
        </p:txBody>
      </p:sp>
      <p:sp>
        <p:nvSpPr>
          <p:cNvPr id="3" name="Text 1"/>
          <p:cNvSpPr txBox="1"/>
          <p:nvPr/>
        </p:nvSpPr>
        <p:spPr>
          <a:xfrm>
            <a:off x="457200" y="1005840"/>
            <a:ext cx="4206240" cy="1371600"/>
          </a:xfrm>
          <a:prstGeom prst="rect">
            <a:avLst/>
          </a:prstGeom>
          <a:noFill/>
          <a:ln/>
        </p:spPr>
        <p:txBody>
          <a:bodyPr wrap="square" lIns="0" tIns="0" rIns="0" bIns="0" rtlCol="0" anchor="b"/>
          <a:lstStyle/>
          <a:p>
            <a:pPr indent="0" marL="0">
              <a:buNone/>
            </a:pPr>
            <a:r>
              <a:rPr lang="en-US" sz="4000" b="1" dirty="0">
                <a:solidFill>
                  <a:srgbClr val="FFFFFF"/>
                </a:solidFill>
                <a:latin typeface="Cambria" pitchFamily="34" charset="0"/>
                <a:ea typeface="Cambria" pitchFamily="34" charset="-122"/>
                <a:cs typeface="Cambria" pitchFamily="34" charset="-120"/>
              </a:rPr>
              <a:t>Orchestrated Skills</a:t>
            </a:r>
            <a:endParaRPr lang="en-US" sz="4000" dirty="0"/>
          </a:p>
        </p:txBody>
      </p:sp>
      <p:sp>
        <p:nvSpPr>
          <p:cNvPr id="4" name="Text 2"/>
          <p:cNvSpPr txBox="1"/>
          <p:nvPr/>
        </p:nvSpPr>
        <p:spPr>
          <a:xfrm>
            <a:off x="457200" y="2468880"/>
            <a:ext cx="4206240" cy="640080"/>
          </a:xfrm>
          <a:prstGeom prst="rect">
            <a:avLst/>
          </a:prstGeom>
          <a:noFill/>
          <a:ln/>
        </p:spPr>
        <p:txBody>
          <a:bodyPr wrap="square" lIns="0" tIns="0" rIns="0" bIns="0" rtlCol="0" anchor="t"/>
          <a:lstStyle/>
          <a:p>
            <a:pPr indent="0" marL="0">
              <a:buNone/>
            </a:pPr>
            <a:r>
              <a:rPr lang="en-US" sz="1600" dirty="0">
                <a:solidFill>
                  <a:srgbClr val="B8B2E6"/>
                </a:solidFill>
                <a:latin typeface="Calibri" pitchFamily="34" charset="0"/>
                <a:ea typeface="Calibri" pitchFamily="34" charset="-122"/>
                <a:cs typeface="Calibri" pitchFamily="34" charset="-120"/>
              </a:rPr>
              <a:t>MAF Agent Skills from three sources</a:t>
            </a:r>
            <a:endParaRPr lang="en-US" sz="1600" dirty="0"/>
          </a:p>
        </p:txBody>
      </p:sp>
      <p:sp>
        <p:nvSpPr>
          <p:cNvPr id="5" name="Text 3"/>
          <p:cNvSpPr txBox="1"/>
          <p:nvPr/>
        </p:nvSpPr>
        <p:spPr>
          <a:xfrm>
            <a:off x="457200" y="3346704"/>
            <a:ext cx="1097280" cy="274320"/>
          </a:xfrm>
          <a:prstGeom prst="rect">
            <a:avLst/>
          </a:prstGeom>
          <a:noFill/>
          <a:ln/>
        </p:spPr>
        <p:txBody>
          <a:bodyPr wrap="square" lIns="0" tIns="0" rIns="0" bIns="0" rtlCol="0" anchor="t"/>
          <a:lstStyle/>
          <a:p>
            <a:pPr indent="0" marL="0">
              <a:buNone/>
            </a:pPr>
            <a:r>
              <a:rPr lang="en-US" sz="900" b="1" spc="100" kern="0" dirty="0">
                <a:solidFill>
                  <a:srgbClr val="B8B2E6"/>
                </a:solidFill>
                <a:latin typeface="Calibri" pitchFamily="34" charset="0"/>
                <a:ea typeface="Calibri" pitchFamily="34" charset="-122"/>
                <a:cs typeface="Calibri" pitchFamily="34" charset="-120"/>
              </a:rPr>
              <a:t>STARTS FROM</a:t>
            </a:r>
            <a:endParaRPr lang="en-US" sz="900" dirty="0"/>
          </a:p>
        </p:txBody>
      </p:sp>
      <p:sp>
        <p:nvSpPr>
          <p:cNvPr id="6" name="Text 4"/>
          <p:cNvSpPr txBox="1"/>
          <p:nvPr/>
        </p:nvSpPr>
        <p:spPr>
          <a:xfrm>
            <a:off x="1554480" y="3291840"/>
            <a:ext cx="3291840" cy="365760"/>
          </a:xfrm>
          <a:prstGeom prst="rect">
            <a:avLst/>
          </a:prstGeom>
          <a:noFill/>
          <a:ln/>
        </p:spPr>
        <p:txBody>
          <a:bodyPr wrap="square" lIns="0" tIns="0" rIns="0" bIns="0" rtlCol="0" anchor="ctr"/>
          <a:lstStyle/>
          <a:p>
            <a:pPr indent="0" marL="0">
              <a:buNone/>
            </a:pPr>
            <a:r>
              <a:rPr lang="en-US" sz="1100" dirty="0">
                <a:solidFill>
                  <a:srgbClr val="FFFFFF"/>
                </a:solidFill>
                <a:latin typeface="Courier New" pitchFamily="34" charset="0"/>
                <a:ea typeface="Courier New" pitchFamily="34" charset="-122"/>
                <a:cs typeface="Courier New" pitchFamily="34" charset="-120"/>
              </a:rPr>
              <a:t>an empty folder</a:t>
            </a:r>
            <a:endParaRPr lang="en-US" sz="1100" dirty="0"/>
          </a:p>
        </p:txBody>
      </p:sp>
      <p:sp>
        <p:nvSpPr>
          <p:cNvPr id="7" name="Text 5"/>
          <p:cNvSpPr txBox="1"/>
          <p:nvPr/>
        </p:nvSpPr>
        <p:spPr>
          <a:xfrm>
            <a:off x="457200" y="3803904"/>
            <a:ext cx="1097280" cy="274320"/>
          </a:xfrm>
          <a:prstGeom prst="rect">
            <a:avLst/>
          </a:prstGeom>
          <a:noFill/>
          <a:ln/>
        </p:spPr>
        <p:txBody>
          <a:bodyPr wrap="square" lIns="0" tIns="0" rIns="0" bIns="0" rtlCol="0" anchor="t"/>
          <a:lstStyle/>
          <a:p>
            <a:pPr indent="0" marL="0">
              <a:buNone/>
            </a:pPr>
            <a:r>
              <a:rPr lang="en-US" sz="900" b="1" spc="100" kern="0" dirty="0">
                <a:solidFill>
                  <a:srgbClr val="B8B2E6"/>
                </a:solidFill>
                <a:latin typeface="Calibri" pitchFamily="34" charset="0"/>
                <a:ea typeface="Calibri" pitchFamily="34" charset="-122"/>
                <a:cs typeface="Calibri" pitchFamily="34" charset="-120"/>
              </a:rPr>
              <a:t>FINISHES AS</a:t>
            </a:r>
            <a:endParaRPr lang="en-US" sz="900" dirty="0"/>
          </a:p>
        </p:txBody>
      </p:sp>
      <p:sp>
        <p:nvSpPr>
          <p:cNvPr id="8" name="Text 6"/>
          <p:cNvSpPr txBox="1"/>
          <p:nvPr/>
        </p:nvSpPr>
        <p:spPr>
          <a:xfrm>
            <a:off x="1554480" y="3749040"/>
            <a:ext cx="3291840" cy="365760"/>
          </a:xfrm>
          <a:prstGeom prst="rect">
            <a:avLst/>
          </a:prstGeom>
          <a:noFill/>
          <a:ln/>
        </p:spPr>
        <p:txBody>
          <a:bodyPr wrap="square" lIns="0" tIns="0" rIns="0" bIns="0" rtlCol="0" anchor="ctr"/>
          <a:lstStyle/>
          <a:p>
            <a:pPr indent="0" marL="0">
              <a:buNone/>
            </a:pPr>
            <a:r>
              <a:rPr lang="en-US" sz="1100" dirty="0">
                <a:solidFill>
                  <a:srgbClr val="FFFFFF"/>
                </a:solidFill>
                <a:latin typeface="Courier New" pitchFamily="34" charset="0"/>
                <a:ea typeface="Courier New" pitchFamily="34" charset="-122"/>
                <a:cs typeface="Courier New" pitchFamily="34" charset="-120"/>
              </a:rPr>
              <a:t>Skills02-OrchestratedSkills/</a:t>
            </a:r>
            <a:endParaRPr lang="en-US" sz="1100" dirty="0"/>
          </a:p>
        </p:txBody>
      </p:sp>
      <p:sp>
        <p:nvSpPr>
          <p:cNvPr id="9" name="Shape 7"/>
          <p:cNvSpPr/>
          <p:nvPr/>
        </p:nvSpPr>
        <p:spPr>
          <a:xfrm>
            <a:off x="4983480" y="502920"/>
            <a:ext cx="3703320" cy="4069080"/>
          </a:xfrm>
          <a:prstGeom prst="roundRect">
            <a:avLst>
              <a:gd name="adj" fmla="val 1975"/>
            </a:avLst>
          </a:prstGeom>
          <a:solidFill>
            <a:srgbClr val="1F2943"/>
          </a:solidFill>
          <a:ln w="12700">
            <a:solidFill>
              <a:srgbClr val="1F2943"/>
            </a:solidFill>
            <a:prstDash val="solid"/>
          </a:ln>
        </p:spPr>
      </p:sp>
      <p:sp>
        <p:nvSpPr>
          <p:cNvPr id="10" name="Text 8"/>
          <p:cNvSpPr txBox="1"/>
          <p:nvPr/>
        </p:nvSpPr>
        <p:spPr>
          <a:xfrm>
            <a:off x="5257800" y="731520"/>
            <a:ext cx="3200400" cy="365760"/>
          </a:xfrm>
          <a:prstGeom prst="rect">
            <a:avLst/>
          </a:prstGeom>
          <a:noFill/>
          <a:ln/>
        </p:spPr>
        <p:txBody>
          <a:bodyPr wrap="square" lIns="0" tIns="0" rIns="0" bIns="0" rtlCol="0" anchor="t"/>
          <a:lstStyle/>
          <a:p>
            <a:pPr indent="0" marL="0">
              <a:buNone/>
            </a:pPr>
            <a:r>
              <a:rPr lang="en-US" sz="1600" b="1" dirty="0">
                <a:solidFill>
                  <a:srgbClr val="FFFFFF"/>
                </a:solidFill>
                <a:latin typeface="Cambria" pitchFamily="34" charset="0"/>
                <a:ea typeface="Cambria" pitchFamily="34" charset="-122"/>
                <a:cs typeface="Cambria" pitchFamily="34" charset="-120"/>
              </a:rPr>
              <a:t>In this lesson you'll learn</a:t>
            </a:r>
            <a:endParaRPr lang="en-US" sz="1600" dirty="0"/>
          </a:p>
        </p:txBody>
      </p:sp>
      <p:sp>
        <p:nvSpPr>
          <p:cNvPr id="11" name="Shape 9"/>
          <p:cNvSpPr/>
          <p:nvPr/>
        </p:nvSpPr>
        <p:spPr>
          <a:xfrm>
            <a:off x="5257800" y="1252728"/>
            <a:ext cx="310896" cy="310896"/>
          </a:xfrm>
          <a:prstGeom prst="ellipse">
            <a:avLst/>
          </a:prstGeom>
          <a:solidFill>
            <a:srgbClr val="512BD4"/>
          </a:solidFill>
          <a:ln w="12700">
            <a:solidFill>
              <a:srgbClr val="512BD4"/>
            </a:solidFill>
            <a:prstDash val="solid"/>
          </a:ln>
        </p:spPr>
      </p:sp>
      <p:pic>
        <p:nvPicPr>
          <p:cNvPr id="12" name="Image 0" descr="preencoded.png">    </p:cNvPr>
          <p:cNvPicPr>
            <a:picLocks noChangeAspect="1"/>
          </p:cNvPicPr>
          <p:nvPr/>
        </p:nvPicPr>
        <p:blipFill>
          <a:blip r:embed="rId1"/>
          <a:stretch>
            <a:fillRect/>
          </a:stretch>
        </p:blipFill>
        <p:spPr>
          <a:xfrm>
            <a:off x="5338633" y="1333561"/>
            <a:ext cx="149230" cy="149230"/>
          </a:xfrm>
          <a:prstGeom prst="rect">
            <a:avLst/>
          </a:prstGeom>
        </p:spPr>
      </p:pic>
      <p:sp>
        <p:nvSpPr>
          <p:cNvPr id="13" name="Text 10"/>
          <p:cNvSpPr txBox="1"/>
          <p:nvPr/>
        </p:nvSpPr>
        <p:spPr>
          <a:xfrm>
            <a:off x="5715000" y="123444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Composing skill sources with AgentSkillsProviderBuilder</a:t>
            </a:r>
            <a:endParaRPr lang="en-US" sz="1300" dirty="0"/>
          </a:p>
        </p:txBody>
      </p:sp>
      <p:sp>
        <p:nvSpPr>
          <p:cNvPr id="14" name="Shape 11"/>
          <p:cNvSpPr/>
          <p:nvPr/>
        </p:nvSpPr>
        <p:spPr>
          <a:xfrm>
            <a:off x="5257800" y="1892808"/>
            <a:ext cx="310896" cy="310896"/>
          </a:xfrm>
          <a:prstGeom prst="ellipse">
            <a:avLst/>
          </a:prstGeom>
          <a:solidFill>
            <a:srgbClr val="512BD4"/>
          </a:solidFill>
          <a:ln w="12700">
            <a:solidFill>
              <a:srgbClr val="512BD4"/>
            </a:solidFill>
            <a:prstDash val="solid"/>
          </a:ln>
        </p:spPr>
      </p:sp>
      <p:pic>
        <p:nvPicPr>
          <p:cNvPr id="15" name="Image 1" descr="preencoded.png">    </p:cNvPr>
          <p:cNvPicPr>
            <a:picLocks noChangeAspect="1"/>
          </p:cNvPicPr>
          <p:nvPr/>
        </p:nvPicPr>
        <p:blipFill>
          <a:blip r:embed="rId2"/>
          <a:stretch>
            <a:fillRect/>
          </a:stretch>
        </p:blipFill>
        <p:spPr>
          <a:xfrm>
            <a:off x="5338633" y="1973641"/>
            <a:ext cx="149230" cy="149230"/>
          </a:xfrm>
          <a:prstGeom prst="rect">
            <a:avLst/>
          </a:prstGeom>
        </p:spPr>
      </p:pic>
      <p:sp>
        <p:nvSpPr>
          <p:cNvPr id="16" name="Text 12"/>
          <p:cNvSpPr txBox="1"/>
          <p:nvPr/>
        </p:nvSpPr>
        <p:spPr>
          <a:xfrm>
            <a:off x="5715000" y="187452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Authoring a skill as a C# class</a:t>
            </a:r>
            <a:endParaRPr lang="en-US" sz="1300" dirty="0"/>
          </a:p>
        </p:txBody>
      </p:sp>
      <p:sp>
        <p:nvSpPr>
          <p:cNvPr id="17" name="Shape 13"/>
          <p:cNvSpPr/>
          <p:nvPr/>
        </p:nvSpPr>
        <p:spPr>
          <a:xfrm>
            <a:off x="5257800" y="2532888"/>
            <a:ext cx="310896" cy="310896"/>
          </a:xfrm>
          <a:prstGeom prst="ellipse">
            <a:avLst/>
          </a:prstGeom>
          <a:solidFill>
            <a:srgbClr val="512BD4"/>
          </a:solidFill>
          <a:ln w="12700">
            <a:solidFill>
              <a:srgbClr val="512BD4"/>
            </a:solidFill>
            <a:prstDash val="solid"/>
          </a:ln>
        </p:spPr>
      </p:sp>
      <p:pic>
        <p:nvPicPr>
          <p:cNvPr id="18" name="Image 2" descr="preencoded.png">    </p:cNvPr>
          <p:cNvPicPr>
            <a:picLocks noChangeAspect="1"/>
          </p:cNvPicPr>
          <p:nvPr/>
        </p:nvPicPr>
        <p:blipFill>
          <a:blip r:embed="rId3"/>
          <a:stretch>
            <a:fillRect/>
          </a:stretch>
        </p:blipFill>
        <p:spPr>
          <a:xfrm>
            <a:off x="5338633" y="2613721"/>
            <a:ext cx="149230" cy="149230"/>
          </a:xfrm>
          <a:prstGeom prst="rect">
            <a:avLst/>
          </a:prstGeom>
        </p:spPr>
      </p:pic>
      <p:sp>
        <p:nvSpPr>
          <p:cNvPr id="19" name="Text 14"/>
          <p:cNvSpPr txBox="1"/>
          <p:nvPr/>
        </p:nvSpPr>
        <p:spPr>
          <a:xfrm>
            <a:off x="5715000" y="251460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Building a skill inline, with a dynamic resource</a:t>
            </a:r>
            <a:endParaRPr lang="en-US" sz="1300" dirty="0"/>
          </a:p>
        </p:txBody>
      </p:sp>
      <p:sp>
        <p:nvSpPr>
          <p:cNvPr id="20" name="Shape 15"/>
          <p:cNvSpPr/>
          <p:nvPr/>
        </p:nvSpPr>
        <p:spPr>
          <a:xfrm>
            <a:off x="5257800" y="3172968"/>
            <a:ext cx="310896" cy="310896"/>
          </a:xfrm>
          <a:prstGeom prst="ellipse">
            <a:avLst/>
          </a:prstGeom>
          <a:solidFill>
            <a:srgbClr val="512BD4"/>
          </a:solidFill>
          <a:ln w="12700">
            <a:solidFill>
              <a:srgbClr val="512BD4"/>
            </a:solidFill>
            <a:prstDash val="solid"/>
          </a:ln>
        </p:spPr>
      </p:sp>
      <p:pic>
        <p:nvPicPr>
          <p:cNvPr id="21" name="Image 3" descr="preencoded.png">    </p:cNvPr>
          <p:cNvPicPr>
            <a:picLocks noChangeAspect="1"/>
          </p:cNvPicPr>
          <p:nvPr/>
        </p:nvPicPr>
        <p:blipFill>
          <a:blip r:embed="rId4"/>
          <a:stretch>
            <a:fillRect/>
          </a:stretch>
        </p:blipFill>
        <p:spPr>
          <a:xfrm>
            <a:off x="5338633" y="3253801"/>
            <a:ext cx="149230" cy="149230"/>
          </a:xfrm>
          <a:prstGeom prst="rect">
            <a:avLst/>
          </a:prstGeom>
        </p:spPr>
      </p:pic>
      <p:sp>
        <p:nvSpPr>
          <p:cNvPr id="22" name="Text 16"/>
          <p:cNvSpPr txBox="1"/>
          <p:nvPr/>
        </p:nvSpPr>
        <p:spPr>
          <a:xfrm>
            <a:off x="5715000" y="315468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Running file scripts with a script runner</a:t>
            </a:r>
            <a:endParaRPr lang="en-US" sz="1300" dirty="0"/>
          </a:p>
        </p:txBody>
      </p:sp>
      <p:sp>
        <p:nvSpPr>
          <p:cNvPr id="23" name="Shape 17"/>
          <p:cNvSpPr/>
          <p:nvPr/>
        </p:nvSpPr>
        <p:spPr>
          <a:xfrm>
            <a:off x="5257800" y="3813048"/>
            <a:ext cx="310896" cy="310896"/>
          </a:xfrm>
          <a:prstGeom prst="ellipse">
            <a:avLst/>
          </a:prstGeom>
          <a:solidFill>
            <a:srgbClr val="512BD4"/>
          </a:solidFill>
          <a:ln w="12700">
            <a:solidFill>
              <a:srgbClr val="512BD4"/>
            </a:solidFill>
            <a:prstDash val="solid"/>
          </a:ln>
        </p:spPr>
      </p:sp>
      <p:pic>
        <p:nvPicPr>
          <p:cNvPr id="24" name="Image 4" descr="preencoded.png">    </p:cNvPr>
          <p:cNvPicPr>
            <a:picLocks noChangeAspect="1"/>
          </p:cNvPicPr>
          <p:nvPr/>
        </p:nvPicPr>
        <p:blipFill>
          <a:blip r:embed="rId5"/>
          <a:stretch>
            <a:fillRect/>
          </a:stretch>
        </p:blipFill>
        <p:spPr>
          <a:xfrm>
            <a:off x="5338633" y="3893881"/>
            <a:ext cx="149230" cy="149230"/>
          </a:xfrm>
          <a:prstGeom prst="rect">
            <a:avLst/>
          </a:prstGeom>
        </p:spPr>
      </p:pic>
      <p:sp>
        <p:nvSpPr>
          <p:cNvPr id="25" name="Text 18"/>
          <p:cNvSpPr txBox="1"/>
          <p:nvPr/>
        </p:nvSpPr>
        <p:spPr>
          <a:xfrm>
            <a:off x="5715000" y="379476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Auto-approving read-only skill tools, and only those</a:t>
            </a:r>
            <a:endParaRPr lang="en-US" sz="1300" dirty="0"/>
          </a:p>
        </p:txBody>
      </p:sp>
      <p:sp>
        <p:nvSpPr>
          <p:cNvPr id="26" name="Text 19"/>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B8B2E6"/>
                </a:solidFill>
                <a:latin typeface="Calibri" pitchFamily="34" charset="0"/>
                <a:ea typeface="Calibri" pitchFamily="34" charset="-122"/>
                <a:cs typeface="Calibri" pitchFamily="34" charset="-120"/>
              </a:rPr>
              <a:t>Applied Agentic Orchestration  ·  Skills 2 — Orchestrated Skills</a:t>
            </a:r>
            <a:endParaRPr lang="en-US" sz="900" dirty="0"/>
          </a:p>
        </p:txBody>
      </p:sp>
      <p:sp>
        <p:nvSpPr>
          <p:cNvPr id="27" name="Text 20"/>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B8B2E6"/>
                </a:solidFill>
                <a:latin typeface="Calibri" pitchFamily="34" charset="0"/>
                <a:ea typeface="Calibri" pitchFamily="34" charset="-122"/>
                <a:cs typeface="Calibri"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SETUP</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Still one package for every skill source</a:t>
            </a:r>
            <a:endParaRPr lang="en-US" sz="2800" dirty="0"/>
          </a:p>
        </p:txBody>
      </p:sp>
      <p:sp>
        <p:nvSpPr>
          <p:cNvPr id="4" name="Shape 2"/>
          <p:cNvSpPr/>
          <p:nvPr/>
        </p:nvSpPr>
        <p:spPr>
          <a:xfrm>
            <a:off x="457200" y="1371600"/>
            <a:ext cx="2560320" cy="1920240"/>
          </a:xfrm>
          <a:prstGeom prst="roundRect">
            <a:avLst>
              <a:gd name="adj" fmla="val 3810"/>
            </a:avLst>
          </a:prstGeom>
          <a:solidFill>
            <a:srgbClr val="EFEBFC"/>
          </a:solidFill>
          <a:ln w="12700">
            <a:solidFill>
              <a:srgbClr val="EFEBFC"/>
            </a:solidFill>
            <a:prstDash val="solid"/>
          </a:ln>
        </p:spPr>
      </p:sp>
      <p:sp>
        <p:nvSpPr>
          <p:cNvPr id="5" name="Shape 3"/>
          <p:cNvSpPr/>
          <p:nvPr/>
        </p:nvSpPr>
        <p:spPr>
          <a:xfrm>
            <a:off x="640080" y="1554480"/>
            <a:ext cx="384048" cy="384048"/>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39932" y="1654332"/>
            <a:ext cx="184343" cy="184343"/>
          </a:xfrm>
          <a:prstGeom prst="rect">
            <a:avLst/>
          </a:prstGeom>
        </p:spPr>
      </p:pic>
      <p:sp>
        <p:nvSpPr>
          <p:cNvPr id="7" name="Text 4"/>
          <p:cNvSpPr txBox="1"/>
          <p:nvPr/>
        </p:nvSpPr>
        <p:spPr>
          <a:xfrm>
            <a:off x="1143000" y="1554480"/>
            <a:ext cx="1737360" cy="384048"/>
          </a:xfrm>
          <a:prstGeom prst="rect">
            <a:avLst/>
          </a:prstGeom>
          <a:noFill/>
          <a:ln/>
        </p:spPr>
        <p:txBody>
          <a:bodyPr wrap="square" lIns="0" tIns="0" rIns="0" bIns="0" rtlCol="0" anchor="ctr"/>
          <a:lstStyle/>
          <a:p>
            <a:pPr indent="0" marL="0">
              <a:buNone/>
            </a:pPr>
            <a:r>
              <a:rPr lang="en-US" sz="1200" b="1" dirty="0">
                <a:solidFill>
                  <a:srgbClr val="1F2937"/>
                </a:solidFill>
                <a:latin typeface="Calibri" pitchFamily="34" charset="0"/>
                <a:ea typeface="Calibri" pitchFamily="34" charset="-122"/>
                <a:cs typeface="Calibri" pitchFamily="34" charset="-120"/>
              </a:rPr>
              <a:t>Microsoft.Agents.AI</a:t>
            </a:r>
            <a:endParaRPr lang="en-US" sz="1200" dirty="0"/>
          </a:p>
        </p:txBody>
      </p:sp>
      <p:sp>
        <p:nvSpPr>
          <p:cNvPr id="8" name="Text 5"/>
          <p:cNvSpPr txBox="1"/>
          <p:nvPr/>
        </p:nvSpPr>
        <p:spPr>
          <a:xfrm>
            <a:off x="640080" y="2057400"/>
            <a:ext cx="2194560" cy="114300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1.24.0</a:t>
            </a:r>
            <a:endParaRPr lang="en-US" sz="1200" dirty="0"/>
          </a:p>
          <a:p>
            <a:pPr indent="0" marL="0">
              <a:buNone/>
            </a:pPr>
            <a:r>
              <a:rPr lang="en-US" sz="1200" dirty="0">
                <a:solidFill>
                  <a:srgbClr val="6B7280"/>
                </a:solidFill>
                <a:latin typeface="Calibri" pitchFamily="34" charset="0"/>
                <a:ea typeface="Calibri" pitchFamily="34" charset="-122"/>
                <a:cs typeface="Calibri" pitchFamily="34" charset="-120"/>
              </a:rPr>
              <a:t>The builder, class and inline skills, and UseToolApproval</a:t>
            </a:r>
            <a:endParaRPr lang="en-US" sz="1200" dirty="0"/>
          </a:p>
        </p:txBody>
      </p:sp>
      <p:sp>
        <p:nvSpPr>
          <p:cNvPr id="9" name="Shape 6"/>
          <p:cNvSpPr/>
          <p:nvPr/>
        </p:nvSpPr>
        <p:spPr>
          <a:xfrm>
            <a:off x="3291840" y="1371600"/>
            <a:ext cx="2560320" cy="1920240"/>
          </a:xfrm>
          <a:prstGeom prst="roundRect">
            <a:avLst>
              <a:gd name="adj" fmla="val 3810"/>
            </a:avLst>
          </a:prstGeom>
          <a:solidFill>
            <a:srgbClr val="EFEBFC"/>
          </a:solidFill>
          <a:ln w="12700">
            <a:solidFill>
              <a:srgbClr val="EFEBFC"/>
            </a:solidFill>
            <a:prstDash val="solid"/>
          </a:ln>
        </p:spPr>
      </p:sp>
      <p:sp>
        <p:nvSpPr>
          <p:cNvPr id="10" name="Shape 7"/>
          <p:cNvSpPr/>
          <p:nvPr/>
        </p:nvSpPr>
        <p:spPr>
          <a:xfrm>
            <a:off x="3474720" y="1554480"/>
            <a:ext cx="384048" cy="384048"/>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3574572" y="1654332"/>
            <a:ext cx="184343" cy="184343"/>
          </a:xfrm>
          <a:prstGeom prst="rect">
            <a:avLst/>
          </a:prstGeom>
        </p:spPr>
      </p:pic>
      <p:sp>
        <p:nvSpPr>
          <p:cNvPr id="12" name="Text 8"/>
          <p:cNvSpPr txBox="1"/>
          <p:nvPr/>
        </p:nvSpPr>
        <p:spPr>
          <a:xfrm>
            <a:off x="3977640" y="1554480"/>
            <a:ext cx="1737360" cy="384048"/>
          </a:xfrm>
          <a:prstGeom prst="rect">
            <a:avLst/>
          </a:prstGeom>
          <a:noFill/>
          <a:ln/>
        </p:spPr>
        <p:txBody>
          <a:bodyPr wrap="square" lIns="0" tIns="0" rIns="0" bIns="0" rtlCol="0" anchor="ctr"/>
          <a:lstStyle/>
          <a:p>
            <a:pPr indent="0" marL="0">
              <a:buNone/>
            </a:pPr>
            <a:r>
              <a:rPr lang="en-US" sz="1100" b="1" dirty="0">
                <a:solidFill>
                  <a:srgbClr val="1F2937"/>
                </a:solidFill>
                <a:latin typeface="Calibri" pitchFamily="34" charset="0"/>
                <a:ea typeface="Calibri" pitchFamily="34" charset="-122"/>
                <a:cs typeface="Calibri" pitchFamily="34" charset="-120"/>
              </a:rPr>
              <a:t>Extensions.AI.OpenAI</a:t>
            </a:r>
            <a:endParaRPr lang="en-US" sz="1100" dirty="0"/>
          </a:p>
        </p:txBody>
      </p:sp>
      <p:sp>
        <p:nvSpPr>
          <p:cNvPr id="13" name="Text 9"/>
          <p:cNvSpPr txBox="1"/>
          <p:nvPr/>
        </p:nvSpPr>
        <p:spPr>
          <a:xfrm>
            <a:off x="3474720" y="2057400"/>
            <a:ext cx="2194560" cy="114300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Microsoft.Extensions.AI.OpenAI 10.10.1, plus the OpenAI 2.14.0 SDK</a:t>
            </a:r>
            <a:endParaRPr lang="en-US" sz="1000" dirty="0"/>
          </a:p>
        </p:txBody>
      </p:sp>
      <p:sp>
        <p:nvSpPr>
          <p:cNvPr id="14" name="Shape 10"/>
          <p:cNvSpPr/>
          <p:nvPr/>
        </p:nvSpPr>
        <p:spPr>
          <a:xfrm>
            <a:off x="6126480" y="1371600"/>
            <a:ext cx="2560320" cy="1920240"/>
          </a:xfrm>
          <a:prstGeom prst="roundRect">
            <a:avLst>
              <a:gd name="adj" fmla="val 3810"/>
            </a:avLst>
          </a:prstGeom>
          <a:solidFill>
            <a:srgbClr val="512BD4"/>
          </a:solidFill>
          <a:ln w="12700">
            <a:solidFill>
              <a:srgbClr val="512BD4"/>
            </a:solidFill>
            <a:prstDash val="solid"/>
          </a:ln>
        </p:spPr>
      </p:sp>
      <p:sp>
        <p:nvSpPr>
          <p:cNvPr id="15" name="Shape 11"/>
          <p:cNvSpPr/>
          <p:nvPr/>
        </p:nvSpPr>
        <p:spPr>
          <a:xfrm>
            <a:off x="6309360" y="1554480"/>
            <a:ext cx="384048" cy="384048"/>
          </a:xfrm>
          <a:prstGeom prst="ellipse">
            <a:avLst/>
          </a:prstGeom>
          <a:solidFill>
            <a:srgbClr val="FFFFFF"/>
          </a:solidFill>
          <a:ln w="12700">
            <a:solidFill>
              <a:srgbClr val="FFFFFF"/>
            </a:solidFill>
            <a:prstDash val="solid"/>
          </a:ln>
        </p:spPr>
      </p:sp>
      <p:pic>
        <p:nvPicPr>
          <p:cNvPr id="16" name="Image 2" descr="preencoded.png">    </p:cNvPr>
          <p:cNvPicPr>
            <a:picLocks noChangeAspect="1"/>
          </p:cNvPicPr>
          <p:nvPr/>
        </p:nvPicPr>
        <p:blipFill>
          <a:blip r:embed="rId3"/>
          <a:stretch>
            <a:fillRect/>
          </a:stretch>
        </p:blipFill>
        <p:spPr>
          <a:xfrm>
            <a:off x="6409212" y="1654332"/>
            <a:ext cx="184343" cy="184343"/>
          </a:xfrm>
          <a:prstGeom prst="rect">
            <a:avLst/>
          </a:prstGeom>
        </p:spPr>
      </p:pic>
      <p:sp>
        <p:nvSpPr>
          <p:cNvPr id="17" name="Text 12"/>
          <p:cNvSpPr txBox="1"/>
          <p:nvPr/>
        </p:nvSpPr>
        <p:spPr>
          <a:xfrm>
            <a:off x="6812280" y="1554480"/>
            <a:ext cx="1737360" cy="384048"/>
          </a:xfrm>
          <a:prstGeom prst="rect">
            <a:avLst/>
          </a:prstGeom>
          <a:noFill/>
          <a:ln/>
        </p:spPr>
        <p:txBody>
          <a:bodyPr wrap="square" lIns="0" tIns="0" rIns="0" bIns="0" rtlCol="0" anchor="ctr"/>
          <a:lstStyle/>
          <a:p>
            <a:pPr indent="0" marL="0">
              <a:buNone/>
            </a:pPr>
            <a:r>
              <a:rPr lang="en-US" sz="1400" b="1" dirty="0">
                <a:solidFill>
                  <a:srgbClr val="FFFFFF"/>
                </a:solidFill>
                <a:latin typeface="Courier New" pitchFamily="34" charset="0"/>
                <a:ea typeface="Courier New" pitchFamily="34" charset="-122"/>
                <a:cs typeface="Courier New" pitchFamily="34" charset="-120"/>
              </a:rPr>
              <a:t>skills/</a:t>
            </a:r>
            <a:endParaRPr lang="en-US" sz="1400" dirty="0"/>
          </a:p>
        </p:txBody>
      </p:sp>
      <p:sp>
        <p:nvSpPr>
          <p:cNvPr id="18" name="Text 13"/>
          <p:cNvSpPr txBox="1"/>
          <p:nvPr/>
        </p:nvSpPr>
        <p:spPr>
          <a:xfrm>
            <a:off x="6309360" y="2057400"/>
            <a:ext cx="2194560" cy="1143000"/>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Its own copy of code-review-checklist, copied to the build output</a:t>
            </a:r>
            <a:endParaRPr lang="en-US" sz="1200" dirty="0"/>
          </a:p>
        </p:txBody>
      </p:sp>
      <p:sp>
        <p:nvSpPr>
          <p:cNvPr id="19" name="Text 14"/>
          <p:cNvSpPr txBox="1"/>
          <p:nvPr/>
        </p:nvSpPr>
        <p:spPr>
          <a:xfrm>
            <a:off x="457200" y="3520440"/>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Only an MCP-based skill source would need Microsoft.Agents.AI.Mcp. Not used here.</a:t>
            </a:r>
            <a:endParaRPr lang="en-US" sz="1400" dirty="0"/>
          </a:p>
        </p:txBody>
      </p:sp>
      <p:sp>
        <p:nvSpPr>
          <p:cNvPr id="20" name="Text 15"/>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  Skills 2 — Orchestrated Skills</a:t>
            </a:r>
            <a:endParaRPr lang="en-US" sz="900" dirty="0"/>
          </a:p>
        </p:txBody>
      </p:sp>
      <p:sp>
        <p:nvSpPr>
          <p:cNvPr id="21" name="Text 16"/>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CORE CONCEPT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AgentSkillsProviderBuilder composes sources</a:t>
            </a:r>
            <a:endParaRPr lang="en-US" sz="2800" dirty="0"/>
          </a:p>
        </p:txBody>
      </p:sp>
      <p:sp>
        <p:nvSpPr>
          <p:cNvPr id="4" name="Shape 2"/>
          <p:cNvSpPr/>
          <p:nvPr/>
        </p:nvSpPr>
        <p:spPr>
          <a:xfrm>
            <a:off x="457200" y="1417320"/>
            <a:ext cx="1796796" cy="2185416"/>
          </a:xfrm>
          <a:prstGeom prst="roundRect">
            <a:avLst>
              <a:gd name="adj" fmla="val 4071"/>
            </a:avLst>
          </a:prstGeom>
          <a:solidFill>
            <a:srgbClr val="EFEBFC"/>
          </a:solidFill>
          <a:ln w="12700">
            <a:solidFill>
              <a:srgbClr val="EFEBFC"/>
            </a:solidFill>
            <a:prstDash val="solid"/>
          </a:ln>
        </p:spPr>
      </p:sp>
      <p:sp>
        <p:nvSpPr>
          <p:cNvPr id="5" name="Shape 3"/>
          <p:cNvSpPr/>
          <p:nvPr/>
        </p:nvSpPr>
        <p:spPr>
          <a:xfrm>
            <a:off x="640080" y="1618488"/>
            <a:ext cx="457200" cy="457200"/>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58952" y="1737360"/>
            <a:ext cx="219456" cy="219456"/>
          </a:xfrm>
          <a:prstGeom prst="rect">
            <a:avLst/>
          </a:prstGeom>
        </p:spPr>
      </p:pic>
      <p:sp>
        <p:nvSpPr>
          <p:cNvPr id="7" name="Text 4"/>
          <p:cNvSpPr txBox="1"/>
          <p:nvPr/>
        </p:nvSpPr>
        <p:spPr>
          <a:xfrm>
            <a:off x="640080" y="2194560"/>
            <a:ext cx="1476756" cy="411480"/>
          </a:xfrm>
          <a:prstGeom prst="rect">
            <a:avLst/>
          </a:prstGeom>
          <a:noFill/>
          <a:ln/>
        </p:spPr>
        <p:txBody>
          <a:bodyPr wrap="square" lIns="0" tIns="0" rIns="0" bIns="0" rtlCol="0" anchor="t"/>
          <a:lstStyle/>
          <a:p>
            <a:pPr indent="0" marL="0">
              <a:buNone/>
            </a:pPr>
            <a:r>
              <a:rPr lang="en-US" sz="1500" b="1" dirty="0">
                <a:solidFill>
                  <a:srgbClr val="1F2937"/>
                </a:solidFill>
                <a:latin typeface="Calibri" pitchFamily="34" charset="0"/>
                <a:ea typeface="Calibri" pitchFamily="34" charset="-122"/>
                <a:cs typeface="Calibri" pitchFamily="34" charset="-120"/>
              </a:rPr>
              <a:t>Folder skill</a:t>
            </a:r>
            <a:endParaRPr lang="en-US" sz="1500" dirty="0"/>
          </a:p>
        </p:txBody>
      </p:sp>
      <p:sp>
        <p:nvSpPr>
          <p:cNvPr id="8" name="Text 5"/>
          <p:cNvSpPr txBox="1"/>
          <p:nvPr/>
        </p:nvSpPr>
        <p:spPr>
          <a:xfrm>
            <a:off x="640080" y="2606040"/>
            <a:ext cx="1476756" cy="905256"/>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UseFileSkill(path)</a:t>
            </a:r>
            <a:endParaRPr lang="en-US" sz="1000" dirty="0"/>
          </a:p>
          <a:p>
            <a:pPr indent="0" marL="0">
              <a:buNone/>
            </a:pPr>
            <a:r>
              <a:rPr lang="en-US" sz="1000" dirty="0">
                <a:solidFill>
                  <a:srgbClr val="6B7280"/>
                </a:solidFill>
                <a:latin typeface="Calibri" pitchFamily="34" charset="0"/>
                <a:ea typeface="Calibri" pitchFamily="34" charset="-122"/>
                <a:cs typeface="Calibri" pitchFamily="34" charset="-120"/>
              </a:rPr>
              <a:t>code-review-checklist</a:t>
            </a:r>
            <a:endParaRPr lang="en-US" sz="1000" dirty="0"/>
          </a:p>
        </p:txBody>
      </p:sp>
      <p:sp>
        <p:nvSpPr>
          <p:cNvPr id="9" name="Shape 6"/>
          <p:cNvSpPr/>
          <p:nvPr/>
        </p:nvSpPr>
        <p:spPr>
          <a:xfrm>
            <a:off x="2318004" y="2400300"/>
            <a:ext cx="219456" cy="219456"/>
          </a:xfrm>
          <a:prstGeom prst="rightArrow">
            <a:avLst/>
          </a:prstGeom>
          <a:solidFill>
            <a:srgbClr val="F5A623"/>
          </a:solidFill>
          <a:ln w="12700">
            <a:solidFill>
              <a:srgbClr val="F5A623"/>
            </a:solidFill>
            <a:prstDash val="solid"/>
          </a:ln>
        </p:spPr>
      </p:sp>
      <p:sp>
        <p:nvSpPr>
          <p:cNvPr id="10" name="Shape 7"/>
          <p:cNvSpPr/>
          <p:nvPr/>
        </p:nvSpPr>
        <p:spPr>
          <a:xfrm>
            <a:off x="2601468" y="1417320"/>
            <a:ext cx="1796796" cy="2185416"/>
          </a:xfrm>
          <a:prstGeom prst="roundRect">
            <a:avLst>
              <a:gd name="adj" fmla="val 4071"/>
            </a:avLst>
          </a:prstGeom>
          <a:solidFill>
            <a:srgbClr val="EFEBFC"/>
          </a:solidFill>
          <a:ln w="12700">
            <a:solidFill>
              <a:srgbClr val="EFEBFC"/>
            </a:solidFill>
            <a:prstDash val="solid"/>
          </a:ln>
        </p:spPr>
      </p:sp>
      <p:sp>
        <p:nvSpPr>
          <p:cNvPr id="11" name="Shape 8"/>
          <p:cNvSpPr/>
          <p:nvPr/>
        </p:nvSpPr>
        <p:spPr>
          <a:xfrm>
            <a:off x="2784348" y="1618488"/>
            <a:ext cx="457200" cy="457200"/>
          </a:xfrm>
          <a:prstGeom prst="ellipse">
            <a:avLst/>
          </a:prstGeom>
          <a:solidFill>
            <a:srgbClr val="512BD4"/>
          </a:solidFill>
          <a:ln w="12700">
            <a:solidFill>
              <a:srgbClr val="512BD4"/>
            </a:solidFill>
            <a:prstDash val="solid"/>
          </a:ln>
        </p:spPr>
      </p:sp>
      <p:pic>
        <p:nvPicPr>
          <p:cNvPr id="12" name="Image 1" descr="preencoded.png">    </p:cNvPr>
          <p:cNvPicPr>
            <a:picLocks noChangeAspect="1"/>
          </p:cNvPicPr>
          <p:nvPr/>
        </p:nvPicPr>
        <p:blipFill>
          <a:blip r:embed="rId2"/>
          <a:stretch>
            <a:fillRect/>
          </a:stretch>
        </p:blipFill>
        <p:spPr>
          <a:xfrm>
            <a:off x="2903220" y="1737360"/>
            <a:ext cx="219456" cy="219456"/>
          </a:xfrm>
          <a:prstGeom prst="rect">
            <a:avLst/>
          </a:prstGeom>
        </p:spPr>
      </p:pic>
      <p:sp>
        <p:nvSpPr>
          <p:cNvPr id="13" name="Text 9"/>
          <p:cNvSpPr txBox="1"/>
          <p:nvPr/>
        </p:nvSpPr>
        <p:spPr>
          <a:xfrm>
            <a:off x="2784348" y="2194560"/>
            <a:ext cx="1476756" cy="411480"/>
          </a:xfrm>
          <a:prstGeom prst="rect">
            <a:avLst/>
          </a:prstGeom>
          <a:noFill/>
          <a:ln/>
        </p:spPr>
        <p:txBody>
          <a:bodyPr wrap="square" lIns="0" tIns="0" rIns="0" bIns="0" rtlCol="0" anchor="t"/>
          <a:lstStyle/>
          <a:p>
            <a:pPr indent="0" marL="0">
              <a:buNone/>
            </a:pPr>
            <a:r>
              <a:rPr lang="en-US" sz="1500" b="1" dirty="0">
                <a:solidFill>
                  <a:srgbClr val="1F2937"/>
                </a:solidFill>
                <a:latin typeface="Calibri" pitchFamily="34" charset="0"/>
                <a:ea typeface="Calibri" pitchFamily="34" charset="-122"/>
                <a:cs typeface="Calibri" pitchFamily="34" charset="-120"/>
              </a:rPr>
              <a:t>Class skill</a:t>
            </a:r>
            <a:endParaRPr lang="en-US" sz="1500" dirty="0"/>
          </a:p>
        </p:txBody>
      </p:sp>
      <p:sp>
        <p:nvSpPr>
          <p:cNvPr id="14" name="Text 10"/>
          <p:cNvSpPr txBox="1"/>
          <p:nvPr/>
        </p:nvSpPr>
        <p:spPr>
          <a:xfrm>
            <a:off x="2784348" y="2606040"/>
            <a:ext cx="1476756" cy="905256"/>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UseSkill(new</a:t>
            </a:r>
            <a:endParaRPr lang="en-US" sz="1000" dirty="0"/>
          </a:p>
          <a:p>
            <a:pPr indent="0" marL="0">
              <a:buNone/>
            </a:pPr>
            <a:r>
              <a:rPr lang="en-US" sz="1000" dirty="0">
                <a:solidFill>
                  <a:srgbClr val="6B7280"/>
                </a:solidFill>
                <a:latin typeface="Calibri" pitchFamily="34" charset="0"/>
                <a:ea typeface="Calibri" pitchFamily="34" charset="-122"/>
                <a:cs typeface="Calibri" pitchFamily="34" charset="-120"/>
              </a:rPr>
              <a:t>UnitConverterSkill())</a:t>
            </a:r>
            <a:endParaRPr lang="en-US" sz="1000" dirty="0"/>
          </a:p>
        </p:txBody>
      </p:sp>
      <p:sp>
        <p:nvSpPr>
          <p:cNvPr id="15" name="Shape 11"/>
          <p:cNvSpPr/>
          <p:nvPr/>
        </p:nvSpPr>
        <p:spPr>
          <a:xfrm>
            <a:off x="4462272" y="2400300"/>
            <a:ext cx="219456" cy="219456"/>
          </a:xfrm>
          <a:prstGeom prst="rightArrow">
            <a:avLst/>
          </a:prstGeom>
          <a:solidFill>
            <a:srgbClr val="F5A623"/>
          </a:solidFill>
          <a:ln w="12700">
            <a:solidFill>
              <a:srgbClr val="F5A623"/>
            </a:solidFill>
            <a:prstDash val="solid"/>
          </a:ln>
        </p:spPr>
      </p:sp>
      <p:sp>
        <p:nvSpPr>
          <p:cNvPr id="16" name="Shape 12"/>
          <p:cNvSpPr/>
          <p:nvPr/>
        </p:nvSpPr>
        <p:spPr>
          <a:xfrm>
            <a:off x="4745736" y="1417320"/>
            <a:ext cx="1796796" cy="2185416"/>
          </a:xfrm>
          <a:prstGeom prst="roundRect">
            <a:avLst>
              <a:gd name="adj" fmla="val 4071"/>
            </a:avLst>
          </a:prstGeom>
          <a:solidFill>
            <a:srgbClr val="EFEBFC"/>
          </a:solidFill>
          <a:ln w="12700">
            <a:solidFill>
              <a:srgbClr val="EFEBFC"/>
            </a:solidFill>
            <a:prstDash val="solid"/>
          </a:ln>
        </p:spPr>
      </p:sp>
      <p:sp>
        <p:nvSpPr>
          <p:cNvPr id="17" name="Shape 13"/>
          <p:cNvSpPr/>
          <p:nvPr/>
        </p:nvSpPr>
        <p:spPr>
          <a:xfrm>
            <a:off x="4928616" y="1618488"/>
            <a:ext cx="457200" cy="457200"/>
          </a:xfrm>
          <a:prstGeom prst="ellipse">
            <a:avLst/>
          </a:prstGeom>
          <a:solidFill>
            <a:srgbClr val="512BD4"/>
          </a:solidFill>
          <a:ln w="12700">
            <a:solidFill>
              <a:srgbClr val="512BD4"/>
            </a:solidFill>
            <a:prstDash val="solid"/>
          </a:ln>
        </p:spPr>
      </p:sp>
      <p:pic>
        <p:nvPicPr>
          <p:cNvPr id="18" name="Image 2" descr="preencoded.png">    </p:cNvPr>
          <p:cNvPicPr>
            <a:picLocks noChangeAspect="1"/>
          </p:cNvPicPr>
          <p:nvPr/>
        </p:nvPicPr>
        <p:blipFill>
          <a:blip r:embed="rId3"/>
          <a:stretch>
            <a:fillRect/>
          </a:stretch>
        </p:blipFill>
        <p:spPr>
          <a:xfrm>
            <a:off x="5047488" y="1737360"/>
            <a:ext cx="219456" cy="219456"/>
          </a:xfrm>
          <a:prstGeom prst="rect">
            <a:avLst/>
          </a:prstGeom>
        </p:spPr>
      </p:pic>
      <p:sp>
        <p:nvSpPr>
          <p:cNvPr id="19" name="Text 14"/>
          <p:cNvSpPr txBox="1"/>
          <p:nvPr/>
        </p:nvSpPr>
        <p:spPr>
          <a:xfrm>
            <a:off x="4928616" y="2194560"/>
            <a:ext cx="1476756" cy="411480"/>
          </a:xfrm>
          <a:prstGeom prst="rect">
            <a:avLst/>
          </a:prstGeom>
          <a:noFill/>
          <a:ln/>
        </p:spPr>
        <p:txBody>
          <a:bodyPr wrap="square" lIns="0" tIns="0" rIns="0" bIns="0" rtlCol="0" anchor="t"/>
          <a:lstStyle/>
          <a:p>
            <a:pPr indent="0" marL="0">
              <a:buNone/>
            </a:pPr>
            <a:r>
              <a:rPr lang="en-US" sz="1500" b="1" dirty="0">
                <a:solidFill>
                  <a:srgbClr val="1F2937"/>
                </a:solidFill>
                <a:latin typeface="Calibri" pitchFamily="34" charset="0"/>
                <a:ea typeface="Calibri" pitchFamily="34" charset="-122"/>
                <a:cs typeface="Calibri" pitchFamily="34" charset="-120"/>
              </a:rPr>
              <a:t>Inline skill</a:t>
            </a:r>
            <a:endParaRPr lang="en-US" sz="1500" dirty="0"/>
          </a:p>
        </p:txBody>
      </p:sp>
      <p:sp>
        <p:nvSpPr>
          <p:cNvPr id="20" name="Text 15"/>
          <p:cNvSpPr txBox="1"/>
          <p:nvPr/>
        </p:nvSpPr>
        <p:spPr>
          <a:xfrm>
            <a:off x="4928616" y="2606040"/>
            <a:ext cx="1476756" cy="905256"/>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UseSkill(</a:t>
            </a:r>
            <a:endParaRPr lang="en-US" sz="1200" dirty="0"/>
          </a:p>
          <a:p>
            <a:pPr indent="0" marL="0">
              <a:buNone/>
            </a:pPr>
            <a:r>
              <a:rPr lang="en-US" sz="1200" dirty="0">
                <a:solidFill>
                  <a:srgbClr val="6B7280"/>
                </a:solidFill>
                <a:latin typeface="Calibri" pitchFamily="34" charset="0"/>
                <a:ea typeface="Calibri" pitchFamily="34" charset="-122"/>
                <a:cs typeface="Calibri" pitchFamily="34" charset="-120"/>
              </a:rPr>
              <a:t>ProjectInfo</a:t>
            </a:r>
            <a:endParaRPr lang="en-US" sz="1200" dirty="0"/>
          </a:p>
          <a:p>
            <a:pPr indent="0" marL="0">
              <a:buNone/>
            </a:pPr>
            <a:r>
              <a:rPr lang="en-US" sz="1200" dirty="0">
                <a:solidFill>
                  <a:srgbClr val="6B7280"/>
                </a:solidFill>
                <a:latin typeface="Calibri" pitchFamily="34" charset="0"/>
                <a:ea typeface="Calibri" pitchFamily="34" charset="-122"/>
                <a:cs typeface="Calibri" pitchFamily="34" charset="-120"/>
              </a:rPr>
              <a:t>SkillFactory</a:t>
            </a:r>
            <a:endParaRPr lang="en-US" sz="1200" dirty="0"/>
          </a:p>
          <a:p>
            <a:pPr indent="0" marL="0">
              <a:buNone/>
            </a:pPr>
            <a:r>
              <a:rPr lang="en-US" sz="1200" dirty="0">
                <a:solidFill>
                  <a:srgbClr val="6B7280"/>
                </a:solidFill>
                <a:latin typeface="Calibri" pitchFamily="34" charset="0"/>
                <a:ea typeface="Calibri" pitchFamily="34" charset="-122"/>
                <a:cs typeface="Calibri" pitchFamily="34" charset="-120"/>
              </a:rPr>
              <a:t>.Create())</a:t>
            </a:r>
            <a:endParaRPr lang="en-US" sz="1200" dirty="0"/>
          </a:p>
        </p:txBody>
      </p:sp>
      <p:sp>
        <p:nvSpPr>
          <p:cNvPr id="21" name="Shape 16"/>
          <p:cNvSpPr/>
          <p:nvPr/>
        </p:nvSpPr>
        <p:spPr>
          <a:xfrm>
            <a:off x="6606540" y="2400300"/>
            <a:ext cx="219456" cy="219456"/>
          </a:xfrm>
          <a:prstGeom prst="rightArrow">
            <a:avLst/>
          </a:prstGeom>
          <a:solidFill>
            <a:srgbClr val="F5A623"/>
          </a:solidFill>
          <a:ln w="12700">
            <a:solidFill>
              <a:srgbClr val="F5A623"/>
            </a:solidFill>
            <a:prstDash val="solid"/>
          </a:ln>
        </p:spPr>
      </p:sp>
      <p:sp>
        <p:nvSpPr>
          <p:cNvPr id="22" name="Shape 17"/>
          <p:cNvSpPr/>
          <p:nvPr/>
        </p:nvSpPr>
        <p:spPr>
          <a:xfrm>
            <a:off x="6890004" y="1417320"/>
            <a:ext cx="1796796" cy="2185416"/>
          </a:xfrm>
          <a:prstGeom prst="roundRect">
            <a:avLst>
              <a:gd name="adj" fmla="val 4071"/>
            </a:avLst>
          </a:prstGeom>
          <a:solidFill>
            <a:srgbClr val="512BD4"/>
          </a:solidFill>
          <a:ln w="12700">
            <a:solidFill>
              <a:srgbClr val="512BD4"/>
            </a:solidFill>
            <a:prstDash val="solid"/>
          </a:ln>
        </p:spPr>
      </p:sp>
      <p:sp>
        <p:nvSpPr>
          <p:cNvPr id="23" name="Shape 18"/>
          <p:cNvSpPr/>
          <p:nvPr/>
        </p:nvSpPr>
        <p:spPr>
          <a:xfrm>
            <a:off x="7072884" y="1618488"/>
            <a:ext cx="457200" cy="457200"/>
          </a:xfrm>
          <a:prstGeom prst="ellipse">
            <a:avLst/>
          </a:prstGeom>
          <a:solidFill>
            <a:srgbClr val="FFFFFF"/>
          </a:solidFill>
          <a:ln w="12700">
            <a:solidFill>
              <a:srgbClr val="FFFFFF"/>
            </a:solidFill>
            <a:prstDash val="solid"/>
          </a:ln>
        </p:spPr>
      </p:sp>
      <p:pic>
        <p:nvPicPr>
          <p:cNvPr id="24" name="Image 3" descr="preencoded.png">    </p:cNvPr>
          <p:cNvPicPr>
            <a:picLocks noChangeAspect="1"/>
          </p:cNvPicPr>
          <p:nvPr/>
        </p:nvPicPr>
        <p:blipFill>
          <a:blip r:embed="rId4"/>
          <a:stretch>
            <a:fillRect/>
          </a:stretch>
        </p:blipFill>
        <p:spPr>
          <a:xfrm>
            <a:off x="7191756" y="1737360"/>
            <a:ext cx="219456" cy="219456"/>
          </a:xfrm>
          <a:prstGeom prst="rect">
            <a:avLst/>
          </a:prstGeom>
        </p:spPr>
      </p:pic>
      <p:sp>
        <p:nvSpPr>
          <p:cNvPr id="25" name="Text 19"/>
          <p:cNvSpPr txBox="1"/>
          <p:nvPr/>
        </p:nvSpPr>
        <p:spPr>
          <a:xfrm>
            <a:off x="7072884" y="2194560"/>
            <a:ext cx="1476756" cy="411480"/>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Build()</a:t>
            </a:r>
            <a:endParaRPr lang="en-US" sz="1500" dirty="0"/>
          </a:p>
        </p:txBody>
      </p:sp>
      <p:sp>
        <p:nvSpPr>
          <p:cNvPr id="26" name="Text 20"/>
          <p:cNvSpPr txBox="1"/>
          <p:nvPr/>
        </p:nvSpPr>
        <p:spPr>
          <a:xfrm>
            <a:off x="7072884" y="2606040"/>
            <a:ext cx="1476756" cy="905256"/>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One deduplicated, cached provider. The agent sees one merged list.</a:t>
            </a:r>
            <a:endParaRPr lang="en-US" sz="1200" dirty="0"/>
          </a:p>
        </p:txBody>
      </p:sp>
      <p:sp>
        <p:nvSpPr>
          <p:cNvPr id="27" name="Text 21"/>
          <p:cNvSpPr txBox="1"/>
          <p:nvPr/>
        </p:nvSpPr>
        <p:spPr>
          <a:xfrm>
            <a:off x="457200" y="3922776"/>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UseFilter runs over the merged set before Build. Here it is a deliberate no-op.</a:t>
            </a:r>
            <a:endParaRPr lang="en-US" sz="1400" dirty="0"/>
          </a:p>
        </p:txBody>
      </p:sp>
      <p:sp>
        <p:nvSpPr>
          <p:cNvPr id="28" name="Text 22"/>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  Skills 2 — Orchestrated Skills</a:t>
            </a:r>
            <a:endParaRPr lang="en-US" sz="900" dirty="0"/>
          </a:p>
        </p:txBody>
      </p:sp>
      <p:sp>
        <p:nvSpPr>
          <p:cNvPr id="29" name="Text 23"/>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CORE CONCEPT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Skills authored in code</a:t>
            </a:r>
            <a:endParaRPr lang="en-US" sz="2800" dirty="0"/>
          </a:p>
        </p:txBody>
      </p:sp>
      <p:sp>
        <p:nvSpPr>
          <p:cNvPr id="4" name="Shape 2"/>
          <p:cNvSpPr/>
          <p:nvPr/>
        </p:nvSpPr>
        <p:spPr>
          <a:xfrm>
            <a:off x="457200" y="1371600"/>
            <a:ext cx="3931920" cy="2331720"/>
          </a:xfrm>
          <a:prstGeom prst="roundRect">
            <a:avLst>
              <a:gd name="adj" fmla="val 3137"/>
            </a:avLst>
          </a:prstGeom>
          <a:solidFill>
            <a:srgbClr val="EFEBFC"/>
          </a:solidFill>
          <a:ln w="12700">
            <a:solidFill>
              <a:srgbClr val="EFEBFC"/>
            </a:solidFill>
            <a:prstDash val="solid"/>
          </a:ln>
        </p:spPr>
      </p:sp>
      <p:sp>
        <p:nvSpPr>
          <p:cNvPr id="5" name="Shape 3"/>
          <p:cNvSpPr/>
          <p:nvPr/>
        </p:nvSpPr>
        <p:spPr>
          <a:xfrm>
            <a:off x="685800" y="1600200"/>
            <a:ext cx="438912" cy="438912"/>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99917" y="1714317"/>
            <a:ext cx="210678" cy="210678"/>
          </a:xfrm>
          <a:prstGeom prst="rect">
            <a:avLst/>
          </a:prstGeom>
        </p:spPr>
      </p:pic>
      <p:sp>
        <p:nvSpPr>
          <p:cNvPr id="7" name="Text 4"/>
          <p:cNvSpPr txBox="1"/>
          <p:nvPr/>
        </p:nvSpPr>
        <p:spPr>
          <a:xfrm>
            <a:off x="1261872" y="1600200"/>
            <a:ext cx="2926080" cy="438912"/>
          </a:xfrm>
          <a:prstGeom prst="rect">
            <a:avLst/>
          </a:prstGeom>
          <a:noFill/>
          <a:ln/>
        </p:spPr>
        <p:txBody>
          <a:bodyPr wrap="square" lIns="0" tIns="0" rIns="0" bIns="0" rtlCol="0" anchor="ctr"/>
          <a:lstStyle/>
          <a:p>
            <a:pPr indent="0" marL="0">
              <a:buNone/>
            </a:pPr>
            <a:r>
              <a:rPr lang="en-US" sz="1700" b="1" dirty="0">
                <a:solidFill>
                  <a:srgbClr val="1F2937"/>
                </a:solidFill>
                <a:latin typeface="Calibri" pitchFamily="34" charset="0"/>
                <a:ea typeface="Calibri" pitchFamily="34" charset="-122"/>
                <a:cs typeface="Calibri" pitchFamily="34" charset="-120"/>
              </a:rPr>
              <a:t>Class-based</a:t>
            </a:r>
            <a:endParaRPr lang="en-US" sz="1700" dirty="0"/>
          </a:p>
        </p:txBody>
      </p:sp>
      <p:sp>
        <p:nvSpPr>
          <p:cNvPr id="8" name="Text 5"/>
          <p:cNvSpPr txBox="1"/>
          <p:nvPr/>
        </p:nvSpPr>
        <p:spPr>
          <a:xfrm>
            <a:off x="685800" y="2194560"/>
            <a:ext cx="3474720" cy="118872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UnitConverterSkill : AgentClassSkill&lt;T&gt;</a:t>
            </a:r>
            <a:endParaRPr lang="en-US" sz="1300" dirty="0"/>
          </a:p>
          <a:p>
            <a:pPr marL="177800" indent="-177800">
              <a:spcAft>
                <a:spcPts val="400"/>
              </a:spcAft>
              <a:buSzPct val="100000"/>
              <a:buChar char="•"/>
            </a:pPr>
            <a:r>
              <a:rPr lang="en-US" sz="1150" dirty="0">
                <a:solidFill>
                  <a:srgbClr val="1F2937"/>
                </a:solidFill>
                <a:latin typeface="Calibri" pitchFamily="34" charset="0"/>
                <a:ea typeface="Calibri" pitchFamily="34" charset="-122"/>
                <a:cs typeface="Calibri" pitchFamily="34" charset="-120"/>
              </a:rPr>
              <a:t>[AgentSkillResource("conversion-table")]</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[AgentSkillScript("convert")]</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Ships as a NuGet package</a:t>
            </a:r>
            <a:endParaRPr lang="en-US" sz="1300" dirty="0"/>
          </a:p>
        </p:txBody>
      </p:sp>
      <p:sp>
        <p:nvSpPr>
          <p:cNvPr id="9" name="Shape 6"/>
          <p:cNvSpPr/>
          <p:nvPr/>
        </p:nvSpPr>
        <p:spPr>
          <a:xfrm>
            <a:off x="4754880" y="1371600"/>
            <a:ext cx="3931920" cy="2331720"/>
          </a:xfrm>
          <a:prstGeom prst="roundRect">
            <a:avLst>
              <a:gd name="adj" fmla="val 3137"/>
            </a:avLst>
          </a:prstGeom>
          <a:solidFill>
            <a:srgbClr val="F6F4FE"/>
          </a:solidFill>
          <a:ln w="12700">
            <a:solidFill>
              <a:srgbClr val="F6F4FE"/>
            </a:solidFill>
            <a:prstDash val="solid"/>
          </a:ln>
        </p:spPr>
      </p:sp>
      <p:sp>
        <p:nvSpPr>
          <p:cNvPr id="10" name="Shape 7"/>
          <p:cNvSpPr/>
          <p:nvPr/>
        </p:nvSpPr>
        <p:spPr>
          <a:xfrm>
            <a:off x="4983480" y="1600200"/>
            <a:ext cx="438912" cy="438912"/>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5097597" y="1714317"/>
            <a:ext cx="210678" cy="210678"/>
          </a:xfrm>
          <a:prstGeom prst="rect">
            <a:avLst/>
          </a:prstGeom>
        </p:spPr>
      </p:pic>
      <p:sp>
        <p:nvSpPr>
          <p:cNvPr id="12" name="Text 8"/>
          <p:cNvSpPr txBox="1"/>
          <p:nvPr/>
        </p:nvSpPr>
        <p:spPr>
          <a:xfrm>
            <a:off x="5559552" y="1600200"/>
            <a:ext cx="2926080" cy="438912"/>
          </a:xfrm>
          <a:prstGeom prst="rect">
            <a:avLst/>
          </a:prstGeom>
          <a:noFill/>
          <a:ln/>
        </p:spPr>
        <p:txBody>
          <a:bodyPr wrap="square" lIns="0" tIns="0" rIns="0" bIns="0" rtlCol="0" anchor="ctr"/>
          <a:lstStyle/>
          <a:p>
            <a:pPr indent="0" marL="0">
              <a:buNone/>
            </a:pPr>
            <a:r>
              <a:rPr lang="en-US" sz="1700" b="1" dirty="0">
                <a:solidFill>
                  <a:srgbClr val="1F2937"/>
                </a:solidFill>
                <a:latin typeface="Calibri" pitchFamily="34" charset="0"/>
                <a:ea typeface="Calibri" pitchFamily="34" charset="-122"/>
                <a:cs typeface="Calibri" pitchFamily="34" charset="-120"/>
              </a:rPr>
              <a:t>Inline</a:t>
            </a:r>
            <a:endParaRPr lang="en-US" sz="1700" dirty="0"/>
          </a:p>
        </p:txBody>
      </p:sp>
      <p:sp>
        <p:nvSpPr>
          <p:cNvPr id="13" name="Text 9"/>
          <p:cNvSpPr txBox="1"/>
          <p:nvPr/>
        </p:nvSpPr>
        <p:spPr>
          <a:xfrm>
            <a:off x="4983480" y="2194560"/>
            <a:ext cx="3474720" cy="118872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ProjectInfoSkillFactory builds an AgentInlineSkill</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AddResource("environment", () =&gt; ...)</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The delegate runs at read time</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Closes over runtime state</a:t>
            </a:r>
            <a:endParaRPr lang="en-US" sz="1300" dirty="0"/>
          </a:p>
        </p:txBody>
      </p:sp>
      <p:sp>
        <p:nvSpPr>
          <p:cNvPr id="14" name="Text 10"/>
          <p:cNvSpPr txBox="1"/>
          <p:nvPr/>
        </p:nvSpPr>
        <p:spPr>
          <a:xfrm>
            <a:off x="457200" y="3977640"/>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Attributes declare a class skill. Plain method calls build an inline one.</a:t>
            </a:r>
            <a:endParaRPr lang="en-US" sz="1400" dirty="0"/>
          </a:p>
        </p:txBody>
      </p:sp>
      <p:sp>
        <p:nvSpPr>
          <p:cNvPr id="15" name="Text 11"/>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  Skills 2 — Orchestrated Skills</a:t>
            </a:r>
            <a:endParaRPr lang="en-US" sz="900" dirty="0"/>
          </a:p>
        </p:txBody>
      </p:sp>
      <p:sp>
        <p:nvSpPr>
          <p:cNvPr id="16" name="Text 12"/>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CORE CONCEPT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Where a skill's script runs</a:t>
            </a:r>
            <a:endParaRPr lang="en-US" sz="2800" dirty="0"/>
          </a:p>
        </p:txBody>
      </p:sp>
      <p:sp>
        <p:nvSpPr>
          <p:cNvPr id="4" name="Shape 2"/>
          <p:cNvSpPr/>
          <p:nvPr/>
        </p:nvSpPr>
        <p:spPr>
          <a:xfrm>
            <a:off x="457200" y="1371600"/>
            <a:ext cx="2560320" cy="2103120"/>
          </a:xfrm>
          <a:prstGeom prst="roundRect">
            <a:avLst>
              <a:gd name="adj" fmla="val 3478"/>
            </a:avLst>
          </a:prstGeom>
          <a:solidFill>
            <a:srgbClr val="EFEBFC"/>
          </a:solidFill>
          <a:ln w="12700">
            <a:solidFill>
              <a:srgbClr val="EFEBFC"/>
            </a:solidFill>
            <a:prstDash val="solid"/>
          </a:ln>
        </p:spPr>
      </p:sp>
      <p:sp>
        <p:nvSpPr>
          <p:cNvPr id="5" name="Shape 3"/>
          <p:cNvSpPr/>
          <p:nvPr/>
        </p:nvSpPr>
        <p:spPr>
          <a:xfrm>
            <a:off x="640080" y="1554480"/>
            <a:ext cx="384048" cy="384048"/>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39932" y="1654332"/>
            <a:ext cx="184343" cy="184343"/>
          </a:xfrm>
          <a:prstGeom prst="rect">
            <a:avLst/>
          </a:prstGeom>
        </p:spPr>
      </p:pic>
      <p:sp>
        <p:nvSpPr>
          <p:cNvPr id="7" name="Text 4"/>
          <p:cNvSpPr txBox="1"/>
          <p:nvPr/>
        </p:nvSpPr>
        <p:spPr>
          <a:xfrm>
            <a:off x="1143000" y="1554480"/>
            <a:ext cx="1737360" cy="384048"/>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Class-based</a:t>
            </a:r>
            <a:endParaRPr lang="en-US" sz="1500" dirty="0"/>
          </a:p>
        </p:txBody>
      </p:sp>
      <p:sp>
        <p:nvSpPr>
          <p:cNvPr id="8" name="Text 5"/>
          <p:cNvSpPr txBox="1"/>
          <p:nvPr/>
        </p:nvSpPr>
        <p:spPr>
          <a:xfrm>
            <a:off x="640080" y="2057400"/>
            <a:ext cx="2194560" cy="13258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In-process. Convert is a plain C# delegate, so a call is a method call.</a:t>
            </a:r>
            <a:endParaRPr lang="en-US" sz="1200" dirty="0"/>
          </a:p>
        </p:txBody>
      </p:sp>
      <p:sp>
        <p:nvSpPr>
          <p:cNvPr id="9" name="Shape 6"/>
          <p:cNvSpPr/>
          <p:nvPr/>
        </p:nvSpPr>
        <p:spPr>
          <a:xfrm>
            <a:off x="3291840" y="1371600"/>
            <a:ext cx="2560320" cy="2103120"/>
          </a:xfrm>
          <a:prstGeom prst="roundRect">
            <a:avLst>
              <a:gd name="adj" fmla="val 3478"/>
            </a:avLst>
          </a:prstGeom>
          <a:solidFill>
            <a:srgbClr val="EFEBFC"/>
          </a:solidFill>
          <a:ln w="12700">
            <a:solidFill>
              <a:srgbClr val="EFEBFC"/>
            </a:solidFill>
            <a:prstDash val="solid"/>
          </a:ln>
        </p:spPr>
      </p:sp>
      <p:sp>
        <p:nvSpPr>
          <p:cNvPr id="10" name="Shape 7"/>
          <p:cNvSpPr/>
          <p:nvPr/>
        </p:nvSpPr>
        <p:spPr>
          <a:xfrm>
            <a:off x="3474720" y="1554480"/>
            <a:ext cx="384048" cy="384048"/>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3574572" y="1654332"/>
            <a:ext cx="184343" cy="184343"/>
          </a:xfrm>
          <a:prstGeom prst="rect">
            <a:avLst/>
          </a:prstGeom>
        </p:spPr>
      </p:pic>
      <p:sp>
        <p:nvSpPr>
          <p:cNvPr id="12" name="Text 8"/>
          <p:cNvSpPr txBox="1"/>
          <p:nvPr/>
        </p:nvSpPr>
        <p:spPr>
          <a:xfrm>
            <a:off x="3977640" y="1554480"/>
            <a:ext cx="1737360" cy="384048"/>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Inline</a:t>
            </a:r>
            <a:endParaRPr lang="en-US" sz="1500" dirty="0"/>
          </a:p>
        </p:txBody>
      </p:sp>
      <p:sp>
        <p:nvSpPr>
          <p:cNvPr id="13" name="Text 9"/>
          <p:cNvSpPr txBox="1"/>
          <p:nvPr/>
        </p:nvSpPr>
        <p:spPr>
          <a:xfrm>
            <a:off x="3474720" y="2057400"/>
            <a:ext cx="2194560" cy="13258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In-process too. Never touches the runner.</a:t>
            </a:r>
            <a:endParaRPr lang="en-US" sz="1200" dirty="0"/>
          </a:p>
        </p:txBody>
      </p:sp>
      <p:sp>
        <p:nvSpPr>
          <p:cNvPr id="14" name="Shape 10"/>
          <p:cNvSpPr/>
          <p:nvPr/>
        </p:nvSpPr>
        <p:spPr>
          <a:xfrm>
            <a:off x="6126480" y="1371600"/>
            <a:ext cx="2560320" cy="2103120"/>
          </a:xfrm>
          <a:prstGeom prst="roundRect">
            <a:avLst>
              <a:gd name="adj" fmla="val 3478"/>
            </a:avLst>
          </a:prstGeom>
          <a:solidFill>
            <a:srgbClr val="512BD4"/>
          </a:solidFill>
          <a:ln w="12700">
            <a:solidFill>
              <a:srgbClr val="512BD4"/>
            </a:solidFill>
            <a:prstDash val="solid"/>
          </a:ln>
        </p:spPr>
      </p:sp>
      <p:sp>
        <p:nvSpPr>
          <p:cNvPr id="15" name="Shape 11"/>
          <p:cNvSpPr/>
          <p:nvPr/>
        </p:nvSpPr>
        <p:spPr>
          <a:xfrm>
            <a:off x="6309360" y="1554480"/>
            <a:ext cx="384048" cy="384048"/>
          </a:xfrm>
          <a:prstGeom prst="ellipse">
            <a:avLst/>
          </a:prstGeom>
          <a:solidFill>
            <a:srgbClr val="FFFFFF"/>
          </a:solidFill>
          <a:ln w="12700">
            <a:solidFill>
              <a:srgbClr val="FFFFFF"/>
            </a:solidFill>
            <a:prstDash val="solid"/>
          </a:ln>
        </p:spPr>
      </p:sp>
      <p:pic>
        <p:nvPicPr>
          <p:cNvPr id="16" name="Image 2" descr="preencoded.png">    </p:cNvPr>
          <p:cNvPicPr>
            <a:picLocks noChangeAspect="1"/>
          </p:cNvPicPr>
          <p:nvPr/>
        </p:nvPicPr>
        <p:blipFill>
          <a:blip r:embed="rId3"/>
          <a:stretch>
            <a:fillRect/>
          </a:stretch>
        </p:blipFill>
        <p:spPr>
          <a:xfrm>
            <a:off x="6409212" y="1654332"/>
            <a:ext cx="184343" cy="184343"/>
          </a:xfrm>
          <a:prstGeom prst="rect">
            <a:avLst/>
          </a:prstGeom>
        </p:spPr>
      </p:pic>
      <p:sp>
        <p:nvSpPr>
          <p:cNvPr id="17" name="Text 12"/>
          <p:cNvSpPr txBox="1"/>
          <p:nvPr/>
        </p:nvSpPr>
        <p:spPr>
          <a:xfrm>
            <a:off x="6812280" y="1554480"/>
            <a:ext cx="1737360" cy="384048"/>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File-based</a:t>
            </a:r>
            <a:endParaRPr lang="en-US" sz="1500" dirty="0"/>
          </a:p>
        </p:txBody>
      </p:sp>
      <p:sp>
        <p:nvSpPr>
          <p:cNvPr id="18" name="Text 13"/>
          <p:cNvSpPr txBox="1"/>
          <p:nvPr/>
        </p:nvSpPr>
        <p:spPr>
          <a:xfrm>
            <a:off x="6309360" y="2057400"/>
            <a:ext cx="2194560" cy="1325880"/>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SubprocessScriptRunner, registered with UseFileScriptRunner. Build() throws without one.</a:t>
            </a:r>
            <a:endParaRPr lang="en-US" sz="1200" dirty="0"/>
          </a:p>
        </p:txBody>
      </p:sp>
      <p:sp>
        <p:nvSpPr>
          <p:cNvPr id="19" name="Text 14"/>
          <p:cNvSpPr txBox="1"/>
          <p:nvPr/>
        </p:nvSpPr>
        <p:spPr>
          <a:xfrm>
            <a:off x="457200" y="3703320"/>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Registered here, never invoked: the checklist skill ships no scripts.</a:t>
            </a:r>
            <a:endParaRPr lang="en-US" sz="1400" dirty="0"/>
          </a:p>
        </p:txBody>
      </p:sp>
      <p:sp>
        <p:nvSpPr>
          <p:cNvPr id="20" name="Text 15"/>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  Skills 2 — Orchestrated Skills</a:t>
            </a:r>
            <a:endParaRPr lang="en-US" sz="900" dirty="0"/>
          </a:p>
        </p:txBody>
      </p:sp>
      <p:sp>
        <p:nvSpPr>
          <p:cNvPr id="21" name="Text 16"/>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CORE CONCEPT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Approval automated per tool</a:t>
            </a:r>
            <a:endParaRPr lang="en-US" sz="2800" dirty="0"/>
          </a:p>
        </p:txBody>
      </p:sp>
      <p:sp>
        <p:nvSpPr>
          <p:cNvPr id="4" name="Shape 2"/>
          <p:cNvSpPr/>
          <p:nvPr/>
        </p:nvSpPr>
        <p:spPr>
          <a:xfrm>
            <a:off x="457200" y="1417320"/>
            <a:ext cx="2468880" cy="2377440"/>
          </a:xfrm>
          <a:prstGeom prst="roundRect">
            <a:avLst>
              <a:gd name="adj" fmla="val 3077"/>
            </a:avLst>
          </a:prstGeom>
          <a:solidFill>
            <a:srgbClr val="512BD4"/>
          </a:solidFill>
          <a:ln w="12700">
            <a:solidFill>
              <a:srgbClr val="512BD4"/>
            </a:solidFill>
            <a:prstDash val="solid"/>
          </a:ln>
        </p:spPr>
      </p:sp>
      <p:sp>
        <p:nvSpPr>
          <p:cNvPr id="5" name="Shape 3"/>
          <p:cNvSpPr/>
          <p:nvPr/>
        </p:nvSpPr>
        <p:spPr>
          <a:xfrm>
            <a:off x="685800" y="1645920"/>
            <a:ext cx="502920" cy="502920"/>
          </a:xfrm>
          <a:prstGeom prst="ellipse">
            <a:avLst/>
          </a:prstGeom>
          <a:solidFill>
            <a:srgbClr val="FFFFFF"/>
          </a:solidFill>
          <a:ln w="12700">
            <a:solidFill>
              <a:srgbClr val="FFFFFF"/>
            </a:solidFill>
            <a:prstDash val="solid"/>
          </a:ln>
        </p:spPr>
      </p:sp>
      <p:pic>
        <p:nvPicPr>
          <p:cNvPr id="6" name="Image 0" descr="preencoded.png">    </p:cNvPr>
          <p:cNvPicPr>
            <a:picLocks noChangeAspect="1"/>
          </p:cNvPicPr>
          <p:nvPr/>
        </p:nvPicPr>
        <p:blipFill>
          <a:blip r:embed="rId1"/>
          <a:stretch>
            <a:fillRect/>
          </a:stretch>
        </p:blipFill>
        <p:spPr>
          <a:xfrm>
            <a:off x="816559" y="1776679"/>
            <a:ext cx="241402" cy="241402"/>
          </a:xfrm>
          <a:prstGeom prst="rect">
            <a:avLst/>
          </a:prstGeom>
        </p:spPr>
      </p:pic>
      <p:sp>
        <p:nvSpPr>
          <p:cNvPr id="7" name="Text 4"/>
          <p:cNvSpPr txBox="1"/>
          <p:nvPr/>
        </p:nvSpPr>
        <p:spPr>
          <a:xfrm>
            <a:off x="685800" y="2286000"/>
            <a:ext cx="2057400" cy="457200"/>
          </a:xfrm>
          <a:prstGeom prst="rect">
            <a:avLst/>
          </a:prstGeom>
          <a:noFill/>
          <a:ln/>
        </p:spPr>
        <p:txBody>
          <a:bodyPr wrap="square" lIns="0" tIns="0" rIns="0" bIns="0" rtlCol="0" anchor="t"/>
          <a:lstStyle/>
          <a:p>
            <a:pPr indent="0" marL="0">
              <a:buNone/>
            </a:pPr>
            <a:r>
              <a:rPr lang="en-US" sz="1800" b="1" dirty="0">
                <a:solidFill>
                  <a:srgbClr val="FFFFFF"/>
                </a:solidFill>
                <a:latin typeface="Calibri" pitchFamily="34" charset="0"/>
                <a:ea typeface="Calibri" pitchFamily="34" charset="-122"/>
                <a:cs typeface="Calibri" pitchFamily="34" charset="-120"/>
              </a:rPr>
              <a:t>UseToolApproval</a:t>
            </a:r>
            <a:endParaRPr lang="en-US" sz="1800" dirty="0"/>
          </a:p>
        </p:txBody>
      </p:sp>
      <p:sp>
        <p:nvSpPr>
          <p:cNvPr id="8" name="Text 5"/>
          <p:cNvSpPr txBox="1"/>
          <p:nvPr/>
        </p:nvSpPr>
        <p:spPr>
          <a:xfrm>
            <a:off x="685800" y="2743200"/>
            <a:ext cx="2057400" cy="96012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AutoApprovalRules =</a:t>
            </a:r>
            <a:endParaRPr lang="en-US" sz="1300" dirty="0"/>
          </a:p>
          <a:p>
            <a:pPr indent="0" marL="0">
              <a:buNone/>
            </a:pPr>
            <a:r>
              <a:rPr lang="en-US" sz="1300" dirty="0">
                <a:solidFill>
                  <a:srgbClr val="FFFFFF"/>
                </a:solidFill>
                <a:latin typeface="Calibri" pitchFamily="34" charset="0"/>
                <a:ea typeface="Calibri" pitchFamily="34" charset="-122"/>
                <a:cs typeface="Calibri" pitchFamily="34" charset="-120"/>
              </a:rPr>
              <a:t>ReadOnlyTools</a:t>
            </a:r>
            <a:endParaRPr lang="en-US" sz="1300" dirty="0"/>
          </a:p>
          <a:p>
            <a:pPr indent="0" marL="0">
              <a:buNone/>
            </a:pPr>
            <a:r>
              <a:rPr lang="en-US" sz="1300" dirty="0">
                <a:solidFill>
                  <a:srgbClr val="FFFFFF"/>
                </a:solidFill>
                <a:latin typeface="Calibri" pitchFamily="34" charset="0"/>
                <a:ea typeface="Calibri" pitchFamily="34" charset="-122"/>
                <a:cs typeface="Calibri" pitchFamily="34" charset="-120"/>
              </a:rPr>
              <a:t>AutoApprovalRule, layered on after the agent exists</a:t>
            </a:r>
            <a:endParaRPr lang="en-US" sz="1300" dirty="0"/>
          </a:p>
        </p:txBody>
      </p:sp>
      <p:sp>
        <p:nvSpPr>
          <p:cNvPr id="9" name="Shape 6"/>
          <p:cNvSpPr/>
          <p:nvPr/>
        </p:nvSpPr>
        <p:spPr>
          <a:xfrm>
            <a:off x="2926080" y="1752600"/>
            <a:ext cx="502920" cy="0"/>
          </a:xfrm>
          <a:prstGeom prst="line">
            <a:avLst/>
          </a:prstGeom>
          <a:noFill/>
          <a:ln w="25400">
            <a:solidFill>
              <a:srgbClr val="F5A623"/>
            </a:solidFill>
            <a:prstDash val="solid"/>
          </a:ln>
        </p:spPr>
      </p:sp>
      <p:sp>
        <p:nvSpPr>
          <p:cNvPr id="10" name="Shape 7"/>
          <p:cNvSpPr/>
          <p:nvPr/>
        </p:nvSpPr>
        <p:spPr>
          <a:xfrm>
            <a:off x="3429000" y="1417320"/>
            <a:ext cx="5257800" cy="670560"/>
          </a:xfrm>
          <a:prstGeom prst="roundRect">
            <a:avLst>
              <a:gd name="adj" fmla="val 10909"/>
            </a:avLst>
          </a:prstGeom>
          <a:solidFill>
            <a:srgbClr val="EFEBFC"/>
          </a:solidFill>
          <a:ln w="12700">
            <a:solidFill>
              <a:srgbClr val="EFEBFC"/>
            </a:solidFill>
            <a:prstDash val="solid"/>
          </a:ln>
        </p:spPr>
      </p:sp>
      <p:sp>
        <p:nvSpPr>
          <p:cNvPr id="11" name="Shape 8"/>
          <p:cNvSpPr/>
          <p:nvPr/>
        </p:nvSpPr>
        <p:spPr>
          <a:xfrm>
            <a:off x="3593592" y="1560576"/>
            <a:ext cx="384048" cy="384048"/>
          </a:xfrm>
          <a:prstGeom prst="ellipse">
            <a:avLst/>
          </a:prstGeom>
          <a:solidFill>
            <a:srgbClr val="512BD4"/>
          </a:solidFill>
          <a:ln w="12700">
            <a:solidFill>
              <a:srgbClr val="512BD4"/>
            </a:solidFill>
            <a:prstDash val="solid"/>
          </a:ln>
        </p:spPr>
      </p:sp>
      <p:pic>
        <p:nvPicPr>
          <p:cNvPr id="12" name="Image 1" descr="preencoded.png">    </p:cNvPr>
          <p:cNvPicPr>
            <a:picLocks noChangeAspect="1"/>
          </p:cNvPicPr>
          <p:nvPr/>
        </p:nvPicPr>
        <p:blipFill>
          <a:blip r:embed="rId2"/>
          <a:stretch>
            <a:fillRect/>
          </a:stretch>
        </p:blipFill>
        <p:spPr>
          <a:xfrm>
            <a:off x="3693444" y="1660428"/>
            <a:ext cx="184343" cy="184343"/>
          </a:xfrm>
          <a:prstGeom prst="rect">
            <a:avLst/>
          </a:prstGeom>
        </p:spPr>
      </p:pic>
      <p:sp>
        <p:nvSpPr>
          <p:cNvPr id="13" name="Text 9"/>
          <p:cNvSpPr txBox="1"/>
          <p:nvPr/>
        </p:nvSpPr>
        <p:spPr>
          <a:xfrm>
            <a:off x="4142232" y="1508760"/>
            <a:ext cx="1325880" cy="48768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load_skill</a:t>
            </a:r>
            <a:endParaRPr lang="en-US" sz="1500" dirty="0"/>
          </a:p>
        </p:txBody>
      </p:sp>
      <p:sp>
        <p:nvSpPr>
          <p:cNvPr id="14" name="Text 10"/>
          <p:cNvSpPr txBox="1"/>
          <p:nvPr/>
        </p:nvSpPr>
        <p:spPr>
          <a:xfrm>
            <a:off x="5577840" y="1508760"/>
            <a:ext cx="2971800" cy="48768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Read-only. Runs immediately.</a:t>
            </a:r>
            <a:endParaRPr lang="en-US" sz="1200" dirty="0"/>
          </a:p>
        </p:txBody>
      </p:sp>
      <p:sp>
        <p:nvSpPr>
          <p:cNvPr id="15" name="Shape 11"/>
          <p:cNvSpPr/>
          <p:nvPr/>
        </p:nvSpPr>
        <p:spPr>
          <a:xfrm>
            <a:off x="2926080" y="2606040"/>
            <a:ext cx="502920" cy="0"/>
          </a:xfrm>
          <a:prstGeom prst="line">
            <a:avLst/>
          </a:prstGeom>
          <a:noFill/>
          <a:ln w="25400">
            <a:solidFill>
              <a:srgbClr val="F5A623"/>
            </a:solidFill>
            <a:prstDash val="solid"/>
          </a:ln>
        </p:spPr>
      </p:sp>
      <p:sp>
        <p:nvSpPr>
          <p:cNvPr id="16" name="Shape 12"/>
          <p:cNvSpPr/>
          <p:nvPr/>
        </p:nvSpPr>
        <p:spPr>
          <a:xfrm>
            <a:off x="3429000" y="2270760"/>
            <a:ext cx="5257800" cy="670560"/>
          </a:xfrm>
          <a:prstGeom prst="roundRect">
            <a:avLst>
              <a:gd name="adj" fmla="val 10909"/>
            </a:avLst>
          </a:prstGeom>
          <a:solidFill>
            <a:srgbClr val="EFEBFC"/>
          </a:solidFill>
          <a:ln w="12700">
            <a:solidFill>
              <a:srgbClr val="EFEBFC"/>
            </a:solidFill>
            <a:prstDash val="solid"/>
          </a:ln>
        </p:spPr>
      </p:sp>
      <p:sp>
        <p:nvSpPr>
          <p:cNvPr id="17" name="Shape 13"/>
          <p:cNvSpPr/>
          <p:nvPr/>
        </p:nvSpPr>
        <p:spPr>
          <a:xfrm>
            <a:off x="3593592" y="2414016"/>
            <a:ext cx="384048" cy="384048"/>
          </a:xfrm>
          <a:prstGeom prst="ellipse">
            <a:avLst/>
          </a:prstGeom>
          <a:solidFill>
            <a:srgbClr val="512BD4"/>
          </a:solidFill>
          <a:ln w="12700">
            <a:solidFill>
              <a:srgbClr val="512BD4"/>
            </a:solidFill>
            <a:prstDash val="solid"/>
          </a:ln>
        </p:spPr>
      </p:sp>
      <p:pic>
        <p:nvPicPr>
          <p:cNvPr id="18" name="Image 2" descr="preencoded.png">    </p:cNvPr>
          <p:cNvPicPr>
            <a:picLocks noChangeAspect="1"/>
          </p:cNvPicPr>
          <p:nvPr/>
        </p:nvPicPr>
        <p:blipFill>
          <a:blip r:embed="rId3"/>
          <a:stretch>
            <a:fillRect/>
          </a:stretch>
        </p:blipFill>
        <p:spPr>
          <a:xfrm>
            <a:off x="3693444" y="2513868"/>
            <a:ext cx="184343" cy="184343"/>
          </a:xfrm>
          <a:prstGeom prst="rect">
            <a:avLst/>
          </a:prstGeom>
        </p:spPr>
      </p:pic>
      <p:sp>
        <p:nvSpPr>
          <p:cNvPr id="19" name="Text 14"/>
          <p:cNvSpPr txBox="1"/>
          <p:nvPr/>
        </p:nvSpPr>
        <p:spPr>
          <a:xfrm>
            <a:off x="4142232" y="2362200"/>
            <a:ext cx="1325880" cy="48768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read_skill_</a:t>
            </a:r>
            <a:endParaRPr lang="en-US" sz="1500" dirty="0"/>
          </a:p>
          <a:p>
            <a:pPr indent="0" marL="0">
              <a:buNone/>
            </a:pPr>
            <a:r>
              <a:rPr lang="en-US" sz="1500" b="1" dirty="0">
                <a:solidFill>
                  <a:srgbClr val="1F2937"/>
                </a:solidFill>
                <a:latin typeface="Calibri" pitchFamily="34" charset="0"/>
                <a:ea typeface="Calibri" pitchFamily="34" charset="-122"/>
                <a:cs typeface="Calibri" pitchFamily="34" charset="-120"/>
              </a:rPr>
              <a:t>resource</a:t>
            </a:r>
            <a:endParaRPr lang="en-US" sz="1500" dirty="0"/>
          </a:p>
        </p:txBody>
      </p:sp>
      <p:sp>
        <p:nvSpPr>
          <p:cNvPr id="20" name="Text 15"/>
          <p:cNvSpPr txBox="1"/>
          <p:nvPr/>
        </p:nvSpPr>
        <p:spPr>
          <a:xfrm>
            <a:off x="5577840" y="2362200"/>
            <a:ext cx="2971800" cy="48768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Read-only. Runs immediately.</a:t>
            </a:r>
            <a:endParaRPr lang="en-US" sz="1200" dirty="0"/>
          </a:p>
        </p:txBody>
      </p:sp>
      <p:sp>
        <p:nvSpPr>
          <p:cNvPr id="21" name="Shape 16"/>
          <p:cNvSpPr/>
          <p:nvPr/>
        </p:nvSpPr>
        <p:spPr>
          <a:xfrm>
            <a:off x="2926080" y="3459480"/>
            <a:ext cx="502920" cy="0"/>
          </a:xfrm>
          <a:prstGeom prst="line">
            <a:avLst/>
          </a:prstGeom>
          <a:noFill/>
          <a:ln w="25400">
            <a:solidFill>
              <a:srgbClr val="F5A623"/>
            </a:solidFill>
            <a:prstDash val="solid"/>
          </a:ln>
        </p:spPr>
      </p:sp>
      <p:sp>
        <p:nvSpPr>
          <p:cNvPr id="22" name="Shape 17"/>
          <p:cNvSpPr/>
          <p:nvPr/>
        </p:nvSpPr>
        <p:spPr>
          <a:xfrm>
            <a:off x="3429000" y="3124200"/>
            <a:ext cx="5257800" cy="670560"/>
          </a:xfrm>
          <a:prstGeom prst="roundRect">
            <a:avLst>
              <a:gd name="adj" fmla="val 10909"/>
            </a:avLst>
          </a:prstGeom>
          <a:solidFill>
            <a:srgbClr val="EFEBFC"/>
          </a:solidFill>
          <a:ln w="12700">
            <a:solidFill>
              <a:srgbClr val="EFEBFC"/>
            </a:solidFill>
            <a:prstDash val="solid"/>
          </a:ln>
        </p:spPr>
      </p:sp>
      <p:sp>
        <p:nvSpPr>
          <p:cNvPr id="23" name="Shape 18"/>
          <p:cNvSpPr/>
          <p:nvPr/>
        </p:nvSpPr>
        <p:spPr>
          <a:xfrm>
            <a:off x="3593592" y="3267456"/>
            <a:ext cx="384048" cy="384048"/>
          </a:xfrm>
          <a:prstGeom prst="ellipse">
            <a:avLst/>
          </a:prstGeom>
          <a:solidFill>
            <a:srgbClr val="512BD4"/>
          </a:solidFill>
          <a:ln w="12700">
            <a:solidFill>
              <a:srgbClr val="512BD4"/>
            </a:solidFill>
            <a:prstDash val="solid"/>
          </a:ln>
        </p:spPr>
      </p:sp>
      <p:pic>
        <p:nvPicPr>
          <p:cNvPr id="24" name="Image 3" descr="preencoded.png">    </p:cNvPr>
          <p:cNvPicPr>
            <a:picLocks noChangeAspect="1"/>
          </p:cNvPicPr>
          <p:nvPr/>
        </p:nvPicPr>
        <p:blipFill>
          <a:blip r:embed="rId4"/>
          <a:stretch>
            <a:fillRect/>
          </a:stretch>
        </p:blipFill>
        <p:spPr>
          <a:xfrm>
            <a:off x="3693444" y="3367308"/>
            <a:ext cx="184343" cy="184343"/>
          </a:xfrm>
          <a:prstGeom prst="rect">
            <a:avLst/>
          </a:prstGeom>
        </p:spPr>
      </p:pic>
      <p:sp>
        <p:nvSpPr>
          <p:cNvPr id="25" name="Text 19"/>
          <p:cNvSpPr txBox="1"/>
          <p:nvPr/>
        </p:nvSpPr>
        <p:spPr>
          <a:xfrm>
            <a:off x="4142232" y="3215640"/>
            <a:ext cx="1325880" cy="487680"/>
          </a:xfrm>
          <a:prstGeom prst="rect">
            <a:avLst/>
          </a:prstGeom>
          <a:noFill/>
          <a:ln/>
        </p:spPr>
        <p:txBody>
          <a:bodyPr wrap="square" lIns="0" tIns="0" rIns="0" bIns="0" rtlCol="0" anchor="ctr"/>
          <a:lstStyle/>
          <a:p>
            <a:pPr indent="0" marL="0">
              <a:buNone/>
            </a:pPr>
            <a:r>
              <a:rPr lang="en-US" sz="1050" b="1" dirty="0">
                <a:solidFill>
                  <a:srgbClr val="1F2937"/>
                </a:solidFill>
                <a:latin typeface="Calibri" pitchFamily="34" charset="0"/>
                <a:ea typeface="Calibri" pitchFamily="34" charset="-122"/>
                <a:cs typeface="Calibri" pitchFamily="34" charset="-120"/>
              </a:rPr>
              <a:t>run_skill_script</a:t>
            </a:r>
            <a:endParaRPr lang="en-US" sz="1050" dirty="0"/>
          </a:p>
        </p:txBody>
      </p:sp>
      <p:sp>
        <p:nvSpPr>
          <p:cNvPr id="26" name="Text 20"/>
          <p:cNvSpPr txBox="1"/>
          <p:nvPr/>
        </p:nvSpPr>
        <p:spPr>
          <a:xfrm>
            <a:off x="5577840" y="3215640"/>
            <a:ext cx="2971800" cy="48768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Still pauses for an explicit decision</a:t>
            </a:r>
            <a:endParaRPr lang="en-US" sz="1200" dirty="0"/>
          </a:p>
        </p:txBody>
      </p:sp>
      <p:sp>
        <p:nvSpPr>
          <p:cNvPr id="27" name="Text 21"/>
          <p:cNvSpPr txBox="1"/>
          <p:nvPr/>
        </p:nvSpPr>
        <p:spPr>
          <a:xfrm>
            <a:off x="457200" y="4114800"/>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The policy Lesson 9 previewed, now applied to skill tools.</a:t>
            </a:r>
            <a:endParaRPr lang="en-US" sz="1400" dirty="0"/>
          </a:p>
        </p:txBody>
      </p:sp>
      <p:sp>
        <p:nvSpPr>
          <p:cNvPr id="28" name="Text 22"/>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  Skills 2 — Orchestrated Skills</a:t>
            </a:r>
            <a:endParaRPr lang="en-US" sz="900" dirty="0"/>
          </a:p>
        </p:txBody>
      </p:sp>
      <p:sp>
        <p:nvSpPr>
          <p:cNvPr id="29" name="Text 23"/>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EXPECTED OUTPUT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Silent lookups, one gated script</a:t>
            </a:r>
            <a:endParaRPr lang="en-US" sz="2800" dirty="0"/>
          </a:p>
        </p:txBody>
      </p:sp>
      <p:sp>
        <p:nvSpPr>
          <p:cNvPr id="4" name="Shape 2"/>
          <p:cNvSpPr/>
          <p:nvPr/>
        </p:nvSpPr>
        <p:spPr>
          <a:xfrm>
            <a:off x="457200" y="1325880"/>
            <a:ext cx="5257800" cy="2849880"/>
          </a:xfrm>
          <a:prstGeom prst="roundRect">
            <a:avLst>
              <a:gd name="adj" fmla="val 2567"/>
            </a:avLst>
          </a:prstGeom>
          <a:solidFill>
            <a:srgbClr val="0F1420"/>
          </a:solidFill>
          <a:ln w="12700">
            <a:solidFill>
              <a:srgbClr val="0F1420"/>
            </a:solidFill>
            <a:prstDash val="solid"/>
          </a:ln>
        </p:spPr>
      </p:sp>
      <p:sp>
        <p:nvSpPr>
          <p:cNvPr id="5" name="Text 3"/>
          <p:cNvSpPr txBox="1"/>
          <p:nvPr/>
        </p:nvSpPr>
        <p:spPr>
          <a:xfrm>
            <a:off x="640080" y="1463040"/>
            <a:ext cx="4892040" cy="2575560"/>
          </a:xfrm>
          <a:prstGeom prst="rect">
            <a:avLst/>
          </a:prstGeom>
          <a:noFill/>
          <a:ln/>
        </p:spPr>
        <p:txBody>
          <a:bodyPr wrap="square" lIns="0" tIns="0" rIns="0" bIns="0" rtlCol="0" anchor="t"/>
          <a:lstStyle/>
          <a:p>
            <a:pPr indent="0" marL="0">
              <a:buNone/>
            </a:pPr>
            <a:r>
              <a:rPr lang="en-US" sz="1000" dirty="0">
                <a:solidFill>
                  <a:srgbClr val="D7E3F4"/>
                </a:solidFill>
                <a:latin typeface="Courier New" pitchFamily="34" charset="0"/>
                <a:ea typeface="Courier New" pitchFamily="34" charset="-122"/>
                <a:cs typeface="Courier New" pitchFamily="34" charset="-120"/>
              </a:rPr>
              <a:t>=== Prompt 1: file-based skill (read-only, auto-approved) ===</a:t>
            </a:r>
            <a:endParaRPr lang="en-US" sz="1000" dirty="0"/>
          </a:p>
          <a:p>
            <a:pPr indent="0" marL="0">
              <a:buNone/>
            </a:pPr>
            <a:r>
              <a:rPr lang="en-US" sz="1000" dirty="0">
                <a:solidFill>
                  <a:srgbClr val="9FE6B8"/>
                </a:solidFill>
                <a:latin typeface="Courier New" pitchFamily="34" charset="0"/>
                <a:ea typeface="Courier New" pitchFamily="34" charset="-122"/>
                <a:cs typeface="Courier New" pitchFamily="34" charset="-120"/>
              </a:rPr>
              <a:t>- **Async naming and safety**: Fail - `SaveOrder` is</a:t>
            </a:r>
            <a:endParaRPr lang="en-US" sz="1000" dirty="0"/>
          </a:p>
          <a:p>
            <a:pPr indent="0" marL="0">
              <a:buNone/>
            </a:pPr>
            <a:r>
              <a:rPr lang="en-US" sz="1000" dirty="0">
                <a:solidFill>
                  <a:srgbClr val="9FE6B8"/>
                </a:solidFill>
                <a:latin typeface="Courier New" pitchFamily="34" charset="0"/>
                <a:ea typeface="Courier New" pitchFamily="34" charset="-122"/>
                <a:cs typeface="Courier New" pitchFamily="34" charset="-120"/>
              </a:rPr>
              <a:t>  declared `async void` instead of returning `Task`, ...</a:t>
            </a:r>
            <a:endParaRPr lang="en-US" sz="1000" dirty="0"/>
          </a:p>
          <a:p>
            <a:pPr indent="0" marL="0">
              <a:buNone/>
            </a:pPr>
            <a:r>
              <a:rPr lang="en-US" sz="1000" dirty="0">
                <a:solidFill>
                  <a:srgbClr val="9FE6B8"/>
                </a:solidFill>
                <a:latin typeface="Courier New" pitchFamily="34" charset="0"/>
                <a:ea typeface="Courier New" pitchFamily="34" charset="-122"/>
                <a:cs typeface="Courier New" pitchFamily="34" charset="-120"/>
              </a:rPr>
              <a:t>- **Exception handling**: Fail - the `catch (Exception)`</a:t>
            </a:r>
            <a:endParaRPr lang="en-US" sz="1000" dirty="0"/>
          </a:p>
          <a:p>
            <a:pPr indent="0" marL="0">
              <a:buNone/>
            </a:pPr>
            <a:r>
              <a:rPr lang="en-US" sz="1000" dirty="0">
                <a:solidFill>
                  <a:srgbClr val="9FE6B8"/>
                </a:solidFill>
                <a:latin typeface="Courier New" pitchFamily="34" charset="0"/>
                <a:ea typeface="Courier New" pitchFamily="34" charset="-122"/>
                <a:cs typeface="Courier New" pitchFamily="34" charset="-120"/>
              </a:rPr>
              <a:t>  block is empty; ...</a:t>
            </a:r>
            <a:endParaRPr lang="en-US" sz="1000" dirty="0"/>
          </a:p>
          <a:p>
            <a:pPr indent="0" marL="0">
              <a:buNone/>
            </a:pPr>
            <a:r>
              <a:rPr lang="en-US" sz="1000" dirty="0">
                <a:solidFill>
                  <a:srgbClr val="9FE6B8"/>
                </a:solidFill>
                <a:latin typeface="Courier New" pitchFamily="34" charset="0"/>
                <a:ea typeface="Courier New" pitchFamily="34" charset="-122"/>
                <a:cs typeface="Courier New" pitchFamily="34" charset="-120"/>
              </a:rPr>
              <a:t>- **Nullability**: Pass - ...</a:t>
            </a:r>
            <a:endParaRPr lang="en-US" sz="1000" dirty="0"/>
          </a:p>
          <a:p>
            <a:pPr indent="0" marL="0">
              <a:buNone/>
            </a:pPr>
            <a:r>
              <a:rPr lang="en-US" sz="1000" dirty="0">
                <a:solidFill>
                  <a:srgbClr val="9FE6B8"/>
                </a:solidFill>
                <a:latin typeface="Courier New" pitchFamily="34" charset="0"/>
                <a:ea typeface="Courier New" pitchFamily="34" charset="-122"/>
                <a:cs typeface="Courier New" pitchFamily="34" charset="-120"/>
              </a:rPr>
              <a:t>- **Naming conventions**: Pass - ...</a:t>
            </a:r>
            <a:endParaRPr lang="en-US" sz="1000" dirty="0"/>
          </a:p>
          <a:p>
            <a:pPr indent="0" marL="0">
              <a:buNone/>
            </a:pPr>
            <a:r>
              <a:rPr lang="en-US" sz="1000" dirty="0">
                <a:solidFill>
                  <a:srgbClr val="9FE6B8"/>
                </a:solidFill>
                <a:latin typeface="Courier New" pitchFamily="34" charset="0"/>
                <a:ea typeface="Courier New" pitchFamily="34" charset="-122"/>
                <a:cs typeface="Courier New" pitchFamily="34" charset="-120"/>
              </a:rPr>
              <a:t>- **Single responsibility**: Pass - ...</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 </a:t>
            </a:r>
            <a:endParaRPr lang="en-US" sz="1000" dirty="0"/>
          </a:p>
          <a:p>
            <a:pPr indent="0" marL="0">
              <a:buNone/>
            </a:pPr>
            <a:r>
              <a:rPr lang="en-US" sz="1000" dirty="0">
                <a:solidFill>
                  <a:srgbClr val="9FE6B8"/>
                </a:solidFill>
                <a:latin typeface="Courier New" pitchFamily="34" charset="0"/>
                <a:ea typeface="Courier New" pitchFamily="34" charset="-122"/>
                <a:cs typeface="Courier New" pitchFamily="34" charset="-120"/>
              </a:rPr>
              <a:t>Overall verdict: Needs changes.</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 </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 Prompt 2: class-based skill script</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    (still requires approval) ===</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Approval requested to call 'run_skill_script'.</a:t>
            </a:r>
            <a:endParaRPr lang="en-US" sz="1000" dirty="0"/>
          </a:p>
          <a:p>
            <a:pPr indent="0" marL="0">
              <a:buNone/>
            </a:pPr>
            <a:r>
              <a:rPr lang="en-US" sz="1000" b="1" dirty="0">
                <a:solidFill>
                  <a:srgbClr val="F5A623"/>
                </a:solidFill>
                <a:latin typeface="Courier New" pitchFamily="34" charset="0"/>
                <a:ea typeface="Courier New" pitchFamily="34" charset="-122"/>
                <a:cs typeface="Courier New" pitchFamily="34" charset="-120"/>
              </a:rPr>
              <a:t>Decision: APPROVED</a:t>
            </a:r>
            <a:endParaRPr lang="en-US" sz="1000" dirty="0"/>
          </a:p>
          <a:p>
            <a:pPr indent="0" marL="0">
              <a:buNone/>
            </a:pPr>
            <a:r>
              <a:rPr lang="en-US" sz="1000" dirty="0">
                <a:solidFill>
                  <a:srgbClr val="9FE6B8"/>
                </a:solidFill>
                <a:latin typeface="Courier New" pitchFamily="34" charset="0"/>
                <a:ea typeface="Courier New" pitchFamily="34" charset="-122"/>
                <a:cs typeface="Courier New" pitchFamily="34" charset="-120"/>
              </a:rPr>
              <a:t>26.2 miles is approximately 42.1846 kilometers.</a:t>
            </a:r>
            <a:endParaRPr lang="en-US" sz="1000" dirty="0"/>
          </a:p>
        </p:txBody>
      </p:sp>
      <p:sp>
        <p:nvSpPr>
          <p:cNvPr id="6" name="Shape 4"/>
          <p:cNvSpPr/>
          <p:nvPr/>
        </p:nvSpPr>
        <p:spPr>
          <a:xfrm>
            <a:off x="6035040" y="1325880"/>
            <a:ext cx="384048" cy="384048"/>
          </a:xfrm>
          <a:prstGeom prst="ellipse">
            <a:avLst/>
          </a:prstGeom>
          <a:solidFill>
            <a:srgbClr val="512BD4"/>
          </a:solidFill>
          <a:ln w="12700">
            <a:solidFill>
              <a:srgbClr val="512BD4"/>
            </a:solidFill>
            <a:prstDash val="solid"/>
          </a:ln>
        </p:spPr>
      </p:sp>
      <p:pic>
        <p:nvPicPr>
          <p:cNvPr id="7" name="Image 0" descr="preencoded.png">    </p:cNvPr>
          <p:cNvPicPr>
            <a:picLocks noChangeAspect="1"/>
          </p:cNvPicPr>
          <p:nvPr/>
        </p:nvPicPr>
        <p:blipFill>
          <a:blip r:embed="rId1"/>
          <a:stretch>
            <a:fillRect/>
          </a:stretch>
        </p:blipFill>
        <p:spPr>
          <a:xfrm>
            <a:off x="6134892" y="1425732"/>
            <a:ext cx="184343" cy="184343"/>
          </a:xfrm>
          <a:prstGeom prst="rect">
            <a:avLst/>
          </a:prstGeom>
        </p:spPr>
      </p:pic>
      <p:sp>
        <p:nvSpPr>
          <p:cNvPr id="8" name="Text 5"/>
          <p:cNvSpPr txBox="1"/>
          <p:nvPr/>
        </p:nvSpPr>
        <p:spPr>
          <a:xfrm>
            <a:off x="6537960" y="1325880"/>
            <a:ext cx="214884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Prompt 1</a:t>
            </a:r>
            <a:endParaRPr lang="en-US" sz="1400" dirty="0"/>
          </a:p>
        </p:txBody>
      </p:sp>
      <p:sp>
        <p:nvSpPr>
          <p:cNvPr id="9" name="Text 6"/>
          <p:cNvSpPr txBox="1"/>
          <p:nvPr/>
        </p:nvSpPr>
        <p:spPr>
          <a:xfrm>
            <a:off x="6537960" y="1709928"/>
            <a:ext cx="214884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No approval lines: both read-only tools auto-approve</a:t>
            </a:r>
            <a:endParaRPr lang="en-US" sz="1200" dirty="0"/>
          </a:p>
        </p:txBody>
      </p:sp>
      <p:sp>
        <p:nvSpPr>
          <p:cNvPr id="10" name="Shape 7"/>
          <p:cNvSpPr/>
          <p:nvPr/>
        </p:nvSpPr>
        <p:spPr>
          <a:xfrm>
            <a:off x="6035040" y="2423160"/>
            <a:ext cx="384048" cy="384048"/>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6134892" y="2523012"/>
            <a:ext cx="184343" cy="184343"/>
          </a:xfrm>
          <a:prstGeom prst="rect">
            <a:avLst/>
          </a:prstGeom>
        </p:spPr>
      </p:pic>
      <p:sp>
        <p:nvSpPr>
          <p:cNvPr id="12" name="Text 8"/>
          <p:cNvSpPr txBox="1"/>
          <p:nvPr/>
        </p:nvSpPr>
        <p:spPr>
          <a:xfrm>
            <a:off x="6537960" y="2423160"/>
            <a:ext cx="214884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Prompt 2</a:t>
            </a:r>
            <a:endParaRPr lang="en-US" sz="1400" dirty="0"/>
          </a:p>
        </p:txBody>
      </p:sp>
      <p:sp>
        <p:nvSpPr>
          <p:cNvPr id="13" name="Text 9"/>
          <p:cNvSpPr txBox="1"/>
          <p:nvPr/>
        </p:nvSpPr>
        <p:spPr>
          <a:xfrm>
            <a:off x="6537960" y="2807208"/>
            <a:ext cx="214884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Exactly one approval, for run_skill_script</a:t>
            </a:r>
            <a:endParaRPr lang="en-US" sz="1200" dirty="0"/>
          </a:p>
        </p:txBody>
      </p:sp>
      <p:sp>
        <p:nvSpPr>
          <p:cNvPr id="14" name="Text 10"/>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  Skills 2 — Orchestrated Skills</a:t>
            </a:r>
            <a:endParaRPr lang="en-US" sz="900" dirty="0"/>
          </a:p>
        </p:txBody>
      </p:sp>
      <p:sp>
        <p:nvSpPr>
          <p:cNvPr id="15" name="Text 11"/>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41B2D"/>
        </a:solidFill>
      </p:bgPr>
    </p:bg>
    <p:spTree>
      <p:nvGrpSpPr>
        <p:cNvPr id="1" name=""/>
        <p:cNvGrpSpPr/>
        <p:nvPr/>
      </p:nvGrpSpPr>
      <p:grpSpPr>
        <a:xfrm>
          <a:off x="0" y="0"/>
          <a:ext cx="0" cy="0"/>
          <a:chOff x="0" y="0"/>
          <a:chExt cx="0" cy="0"/>
        </a:xfrm>
      </p:grpSpPr>
      <p:sp>
        <p:nvSpPr>
          <p:cNvPr id="2" name="Text 0"/>
          <p:cNvSpPr txBox="1"/>
          <p:nvPr/>
        </p:nvSpPr>
        <p:spPr>
          <a:xfrm>
            <a:off x="457200" y="347472"/>
            <a:ext cx="4572000" cy="228600"/>
          </a:xfrm>
          <a:prstGeom prst="rect">
            <a:avLst/>
          </a:prstGeom>
          <a:noFill/>
          <a:ln/>
        </p:spPr>
        <p:txBody>
          <a:bodyPr wrap="square" lIns="0" tIns="0" rIns="0" bIns="0" rtlCol="0" anchor="t"/>
          <a:lstStyle/>
          <a:p>
            <a:pPr indent="0" marL="0">
              <a:buNone/>
            </a:pPr>
            <a:r>
              <a:rPr lang="en-US" sz="1100" b="1" spc="200" kern="0" dirty="0">
                <a:solidFill>
                  <a:srgbClr val="F5A623"/>
                </a:solidFill>
                <a:latin typeface="Calibri" pitchFamily="34" charset="0"/>
                <a:ea typeface="Calibri" pitchFamily="34" charset="-122"/>
                <a:cs typeface="Calibri" pitchFamily="34" charset="-120"/>
              </a:rPr>
              <a:t>SUMMARY</a:t>
            </a:r>
            <a:endParaRPr lang="en-US" sz="1100" dirty="0"/>
          </a:p>
        </p:txBody>
      </p:sp>
      <p:sp>
        <p:nvSpPr>
          <p:cNvPr id="3" name="Text 1"/>
          <p:cNvSpPr txBox="1"/>
          <p:nvPr/>
        </p:nvSpPr>
        <p:spPr>
          <a:xfrm>
            <a:off x="457200" y="566928"/>
            <a:ext cx="8229600" cy="502920"/>
          </a:xfrm>
          <a:prstGeom prst="rect">
            <a:avLst/>
          </a:prstGeom>
          <a:noFill/>
          <a:ln/>
        </p:spPr>
        <p:txBody>
          <a:bodyPr wrap="square" lIns="0" tIns="0" rIns="0" bIns="0" rtlCol="0" anchor="t"/>
          <a:lstStyle/>
          <a:p>
            <a:pPr indent="0" marL="0">
              <a:buNone/>
            </a:pPr>
            <a:r>
              <a:rPr lang="en-US" sz="2600" b="1" dirty="0">
                <a:solidFill>
                  <a:srgbClr val="FFFFFF"/>
                </a:solidFill>
                <a:latin typeface="Cambria" pitchFamily="34" charset="0"/>
                <a:ea typeface="Cambria" pitchFamily="34" charset="-122"/>
                <a:cs typeface="Cambria" pitchFamily="34" charset="-120"/>
              </a:rPr>
              <a:t>What we learned, and what it builds on</a:t>
            </a:r>
            <a:endParaRPr lang="en-US" sz="2600" dirty="0"/>
          </a:p>
        </p:txBody>
      </p:sp>
      <p:sp>
        <p:nvSpPr>
          <p:cNvPr id="4" name="Shape 2"/>
          <p:cNvSpPr/>
          <p:nvPr/>
        </p:nvSpPr>
        <p:spPr>
          <a:xfrm>
            <a:off x="457200" y="1234440"/>
            <a:ext cx="2926080" cy="587502"/>
          </a:xfrm>
          <a:prstGeom prst="roundRect">
            <a:avLst>
              <a:gd name="adj" fmla="val 12451"/>
            </a:avLst>
          </a:prstGeom>
          <a:solidFill>
            <a:srgbClr val="1F2943"/>
          </a:solidFill>
          <a:ln w="12700">
            <a:solidFill>
              <a:srgbClr val="1F2943"/>
            </a:solidFill>
            <a:prstDash val="solid"/>
          </a:ln>
        </p:spPr>
      </p:sp>
      <p:sp>
        <p:nvSpPr>
          <p:cNvPr id="5" name="Text 3"/>
          <p:cNvSpPr txBox="1"/>
          <p:nvPr/>
        </p:nvSpPr>
        <p:spPr>
          <a:xfrm>
            <a:off x="621792" y="1234440"/>
            <a:ext cx="2651760" cy="587502"/>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SKILL.md and progressive disclosure</a:t>
            </a:r>
            <a:endParaRPr lang="en-US" sz="1300" dirty="0"/>
          </a:p>
        </p:txBody>
      </p:sp>
      <p:sp>
        <p:nvSpPr>
          <p:cNvPr id="6" name="Shape 4"/>
          <p:cNvSpPr/>
          <p:nvPr/>
        </p:nvSpPr>
        <p:spPr>
          <a:xfrm>
            <a:off x="3493008" y="1436751"/>
            <a:ext cx="329184" cy="182880"/>
          </a:xfrm>
          <a:prstGeom prst="rightArrow">
            <a:avLst/>
          </a:prstGeom>
          <a:solidFill>
            <a:srgbClr val="F5A623"/>
          </a:solidFill>
          <a:ln w="12700">
            <a:solidFill>
              <a:srgbClr val="F5A623"/>
            </a:solidFill>
            <a:prstDash val="solid"/>
          </a:ln>
        </p:spPr>
      </p:sp>
      <p:sp>
        <p:nvSpPr>
          <p:cNvPr id="7" name="Text 5"/>
          <p:cNvSpPr txBox="1"/>
          <p:nvPr/>
        </p:nvSpPr>
        <p:spPr>
          <a:xfrm>
            <a:off x="3977640" y="1234440"/>
            <a:ext cx="4709160" cy="587502"/>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Skills 1  </a:t>
            </a:r>
            <a:pPr indent="0" marL="0">
              <a:buNone/>
            </a:pPr>
            <a:r>
              <a:rPr lang="en-US" sz="1250" dirty="0">
                <a:solidFill>
                  <a:srgbClr val="FFFFFF"/>
                </a:solidFill>
                <a:latin typeface="Calibri" pitchFamily="34" charset="0"/>
                <a:ea typeface="Calibri" pitchFamily="34" charset="-122"/>
                <a:cs typeface="Calibri" pitchFamily="34" charset="-120"/>
              </a:rPr>
              <a:t>Builds on the single file-based skill and its manual approval loop</a:t>
            </a:r>
            <a:endParaRPr lang="en-US" sz="1250" dirty="0"/>
          </a:p>
        </p:txBody>
      </p:sp>
      <p:sp>
        <p:nvSpPr>
          <p:cNvPr id="8" name="Shape 6"/>
          <p:cNvSpPr/>
          <p:nvPr/>
        </p:nvSpPr>
        <p:spPr>
          <a:xfrm>
            <a:off x="457200" y="1931670"/>
            <a:ext cx="2926080" cy="587502"/>
          </a:xfrm>
          <a:prstGeom prst="roundRect">
            <a:avLst>
              <a:gd name="adj" fmla="val 12451"/>
            </a:avLst>
          </a:prstGeom>
          <a:solidFill>
            <a:srgbClr val="1F2943"/>
          </a:solidFill>
          <a:ln w="12700">
            <a:solidFill>
              <a:srgbClr val="1F2943"/>
            </a:solidFill>
            <a:prstDash val="solid"/>
          </a:ln>
        </p:spPr>
      </p:sp>
      <p:sp>
        <p:nvSpPr>
          <p:cNvPr id="9" name="Text 7"/>
          <p:cNvSpPr txBox="1"/>
          <p:nvPr/>
        </p:nvSpPr>
        <p:spPr>
          <a:xfrm>
            <a:off x="621792" y="1931670"/>
            <a:ext cx="2651760" cy="587502"/>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One provider in AIContextProviders</a:t>
            </a:r>
            <a:endParaRPr lang="en-US" sz="1300" dirty="0"/>
          </a:p>
        </p:txBody>
      </p:sp>
      <p:sp>
        <p:nvSpPr>
          <p:cNvPr id="10" name="Shape 8"/>
          <p:cNvSpPr/>
          <p:nvPr/>
        </p:nvSpPr>
        <p:spPr>
          <a:xfrm>
            <a:off x="3493008" y="2133981"/>
            <a:ext cx="329184" cy="182880"/>
          </a:xfrm>
          <a:prstGeom prst="rightArrow">
            <a:avLst/>
          </a:prstGeom>
          <a:solidFill>
            <a:srgbClr val="F5A623"/>
          </a:solidFill>
          <a:ln w="12700">
            <a:solidFill>
              <a:srgbClr val="F5A623"/>
            </a:solidFill>
            <a:prstDash val="solid"/>
          </a:ln>
        </p:spPr>
      </p:sp>
      <p:sp>
        <p:nvSpPr>
          <p:cNvPr id="11" name="Text 9"/>
          <p:cNvSpPr txBox="1"/>
          <p:nvPr/>
        </p:nvSpPr>
        <p:spPr>
          <a:xfrm>
            <a:off x="3977640" y="1931670"/>
            <a:ext cx="4709160" cy="587502"/>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Lesson 5  </a:t>
            </a:r>
            <a:pPr indent="0" marL="0">
              <a:buNone/>
            </a:pPr>
            <a:r>
              <a:rPr lang="en-US" sz="1250" dirty="0">
                <a:solidFill>
                  <a:srgbClr val="FFFFFF"/>
                </a:solidFill>
                <a:latin typeface="Calibri" pitchFamily="34" charset="0"/>
                <a:ea typeface="Calibri" pitchFamily="34" charset="-122"/>
                <a:cs typeface="Calibri" pitchFamily="34" charset="-120"/>
              </a:rPr>
              <a:t>Builds on the AIContextProvider mechanism and CreateAgentWithContextProviders</a:t>
            </a:r>
            <a:endParaRPr lang="en-US" sz="1250" dirty="0"/>
          </a:p>
        </p:txBody>
      </p:sp>
      <p:sp>
        <p:nvSpPr>
          <p:cNvPr id="12" name="Shape 10"/>
          <p:cNvSpPr/>
          <p:nvPr/>
        </p:nvSpPr>
        <p:spPr>
          <a:xfrm>
            <a:off x="457200" y="2628900"/>
            <a:ext cx="2926080" cy="587502"/>
          </a:xfrm>
          <a:prstGeom prst="roundRect">
            <a:avLst>
              <a:gd name="adj" fmla="val 12451"/>
            </a:avLst>
          </a:prstGeom>
          <a:solidFill>
            <a:srgbClr val="1F2943"/>
          </a:solidFill>
          <a:ln w="12700">
            <a:solidFill>
              <a:srgbClr val="1F2943"/>
            </a:solidFill>
            <a:prstDash val="solid"/>
          </a:ln>
        </p:spPr>
      </p:sp>
      <p:sp>
        <p:nvSpPr>
          <p:cNvPr id="13" name="Text 11"/>
          <p:cNvSpPr txBox="1"/>
          <p:nvPr/>
        </p:nvSpPr>
        <p:spPr>
          <a:xfrm>
            <a:off x="621792" y="2628900"/>
            <a:ext cx="2651760" cy="587502"/>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Approving run_skill_script</a:t>
            </a:r>
            <a:endParaRPr lang="en-US" sz="1300" dirty="0"/>
          </a:p>
        </p:txBody>
      </p:sp>
      <p:sp>
        <p:nvSpPr>
          <p:cNvPr id="14" name="Shape 12"/>
          <p:cNvSpPr/>
          <p:nvPr/>
        </p:nvSpPr>
        <p:spPr>
          <a:xfrm>
            <a:off x="3493008" y="2831211"/>
            <a:ext cx="329184" cy="182880"/>
          </a:xfrm>
          <a:prstGeom prst="rightArrow">
            <a:avLst/>
          </a:prstGeom>
          <a:solidFill>
            <a:srgbClr val="F5A623"/>
          </a:solidFill>
          <a:ln w="12700">
            <a:solidFill>
              <a:srgbClr val="F5A623"/>
            </a:solidFill>
            <a:prstDash val="solid"/>
          </a:ln>
        </p:spPr>
      </p:sp>
      <p:sp>
        <p:nvSpPr>
          <p:cNvPr id="15" name="Text 13"/>
          <p:cNvSpPr txBox="1"/>
          <p:nvPr/>
        </p:nvSpPr>
        <p:spPr>
          <a:xfrm>
            <a:off x="3977640" y="2628900"/>
            <a:ext cx="4709160" cy="587502"/>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Lesson 9  </a:t>
            </a:r>
            <a:pPr indent="0" marL="0">
              <a:buNone/>
            </a:pPr>
            <a:r>
              <a:rPr lang="en-US" sz="1250" dirty="0">
                <a:solidFill>
                  <a:srgbClr val="FFFFFF"/>
                </a:solidFill>
                <a:latin typeface="Calibri" pitchFamily="34" charset="0"/>
                <a:ea typeface="Calibri" pitchFamily="34" charset="-122"/>
                <a:cs typeface="Calibri" pitchFamily="34" charset="-120"/>
              </a:rPr>
              <a:t>Builds on the ToolApprovalRequestContent pause and response</a:t>
            </a:r>
            <a:endParaRPr lang="en-US" sz="1250" dirty="0"/>
          </a:p>
        </p:txBody>
      </p:sp>
      <p:sp>
        <p:nvSpPr>
          <p:cNvPr id="16" name="Shape 14"/>
          <p:cNvSpPr/>
          <p:nvPr/>
        </p:nvSpPr>
        <p:spPr>
          <a:xfrm>
            <a:off x="457200" y="3326130"/>
            <a:ext cx="2926080" cy="587502"/>
          </a:xfrm>
          <a:prstGeom prst="roundRect">
            <a:avLst>
              <a:gd name="adj" fmla="val 12451"/>
            </a:avLst>
          </a:prstGeom>
          <a:solidFill>
            <a:srgbClr val="1F2943"/>
          </a:solidFill>
          <a:ln w="12700">
            <a:solidFill>
              <a:srgbClr val="1F2943"/>
            </a:solidFill>
            <a:prstDash val="solid"/>
          </a:ln>
        </p:spPr>
      </p:sp>
      <p:sp>
        <p:nvSpPr>
          <p:cNvPr id="17" name="Text 15"/>
          <p:cNvSpPr txBox="1"/>
          <p:nvPr/>
        </p:nvSpPr>
        <p:spPr>
          <a:xfrm>
            <a:off x="621792" y="3326130"/>
            <a:ext cx="2651760" cy="587502"/>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UseToolApproval with AutoApprovalRules</a:t>
            </a:r>
            <a:endParaRPr lang="en-US" sz="1300" dirty="0"/>
          </a:p>
        </p:txBody>
      </p:sp>
      <p:sp>
        <p:nvSpPr>
          <p:cNvPr id="18" name="Shape 16"/>
          <p:cNvSpPr/>
          <p:nvPr/>
        </p:nvSpPr>
        <p:spPr>
          <a:xfrm>
            <a:off x="3493008" y="3528441"/>
            <a:ext cx="329184" cy="182880"/>
          </a:xfrm>
          <a:prstGeom prst="rightArrow">
            <a:avLst/>
          </a:prstGeom>
          <a:solidFill>
            <a:srgbClr val="F5A623"/>
          </a:solidFill>
          <a:ln w="12700">
            <a:solidFill>
              <a:srgbClr val="F5A623"/>
            </a:solidFill>
            <a:prstDash val="solid"/>
          </a:ln>
        </p:spPr>
      </p:sp>
      <p:sp>
        <p:nvSpPr>
          <p:cNvPr id="19" name="Text 17"/>
          <p:cNvSpPr txBox="1"/>
          <p:nvPr/>
        </p:nvSpPr>
        <p:spPr>
          <a:xfrm>
            <a:off x="3977640" y="3326130"/>
            <a:ext cx="4709160" cy="587502"/>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Lesson 9  </a:t>
            </a:r>
            <a:pPr indent="0" marL="0">
              <a:buNone/>
            </a:pPr>
            <a:r>
              <a:rPr lang="en-US" sz="1250" dirty="0">
                <a:solidFill>
                  <a:srgbClr val="FFFFFF"/>
                </a:solidFill>
                <a:latin typeface="Calibri" pitchFamily="34" charset="0"/>
                <a:ea typeface="Calibri" pitchFamily="34" charset="-122"/>
                <a:cs typeface="Calibri" pitchFamily="34" charset="-120"/>
              </a:rPr>
              <a:t>Builds on the policy layer Lesson 9 named but left for later</a:t>
            </a:r>
            <a:endParaRPr lang="en-US" sz="1250" dirty="0"/>
          </a:p>
        </p:txBody>
      </p:sp>
      <p:sp>
        <p:nvSpPr>
          <p:cNvPr id="20" name="Text 18"/>
          <p:cNvSpPr txBox="1"/>
          <p:nvPr/>
        </p:nvSpPr>
        <p:spPr>
          <a:xfrm>
            <a:off x="457200" y="4206240"/>
            <a:ext cx="8229600" cy="320040"/>
          </a:xfrm>
          <a:prstGeom prst="rect">
            <a:avLst/>
          </a:prstGeom>
          <a:noFill/>
          <a:ln/>
        </p:spPr>
        <p:txBody>
          <a:bodyPr wrap="square" lIns="0" tIns="0" rIns="0" bIns="0" rtlCol="0" anchor="t"/>
          <a:lstStyle/>
          <a:p>
            <a:pPr indent="0" marL="0">
              <a:buNone/>
            </a:pPr>
            <a:r>
              <a:rPr lang="en-US" sz="1300" dirty="0">
                <a:solidFill>
                  <a:srgbClr val="B8B2E6"/>
                </a:solidFill>
                <a:latin typeface="Calibri" pitchFamily="34" charset="0"/>
                <a:ea typeface="Calibri" pitchFamily="34" charset="-122"/>
                <a:cs typeface="Calibri" pitchFamily="34" charset="-120"/>
              </a:rPr>
              <a:t>Ships in  </a:t>
            </a:r>
            <a:pPr indent="0" marL="0">
              <a:buNone/>
            </a:pPr>
            <a:r>
              <a:rPr lang="en-US" sz="1300" b="1" dirty="0">
                <a:solidFill>
                  <a:srgbClr val="FFFFFF"/>
                </a:solidFill>
                <a:latin typeface="Calibri" pitchFamily="34" charset="0"/>
                <a:ea typeface="Calibri" pitchFamily="34" charset="-122"/>
                <a:cs typeface="Calibri" pitchFamily="34" charset="-120"/>
              </a:rPr>
              <a:t>Bonus — MAF Agent Skills</a:t>
            </a:r>
            <a:endParaRPr lang="en-US" sz="1300" dirty="0"/>
          </a:p>
        </p:txBody>
      </p:sp>
      <p:sp>
        <p:nvSpPr>
          <p:cNvPr id="21" name="Text 19"/>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B8B2E6"/>
                </a:solidFill>
                <a:latin typeface="Calibri" pitchFamily="34" charset="0"/>
                <a:ea typeface="Calibri" pitchFamily="34" charset="-122"/>
                <a:cs typeface="Calibri" pitchFamily="34" charset="-120"/>
              </a:rPr>
              <a:t>Applied Agentic Orchestration  ·  Skills 2 — Orchestrated Skills</a:t>
            </a:r>
            <a:endParaRPr lang="en-US" sz="900" dirty="0"/>
          </a:p>
        </p:txBody>
      </p:sp>
      <p:sp>
        <p:nvSpPr>
          <p:cNvPr id="22" name="Text 20"/>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B8B2E6"/>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Skills 2 — Orchestrated Skills</dc:title>
  <dc:subject>PptxGenJS Presentation</dc:subject>
  <dc:creator>Applied Agentic Orchestration with Microsoft Agent Framework</dc:creator>
  <cp:lastModifiedBy>Applied Agentic Orchestration with Microsoft Agent Framework</cp:lastModifiedBy>
  <cp:revision>1</cp:revision>
  <dcterms:created xsi:type="dcterms:W3CDTF">2026-10-08T00:09:32Z</dcterms:created>
  <dcterms:modified xsi:type="dcterms:W3CDTF">2026-10-08T00:09:32Z</dcterms:modified>
</cp:coreProperties>
</file>