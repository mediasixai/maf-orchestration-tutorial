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Until now every workflow ran inside the console process that started it. This lesson turns a workflow into a service. ResearchAgent and WriterAgent are composed into a sequential workflow, workflow.AsAIAgent wraps the whole graph as a single AIAgent, and Microsoft Foundry Agent Service's hosting contract, the Responses protocol, serves it as POST /responses. The app runs on your own machine with nothing but OPENAI_API_KEY and the usual MAF_LLM and MAF_MODEL, and the same code is what a Foundry Hosted Agent container runs. That makes it a direct comparison of the two hosting models: self-hosting the workflow yourself, or deploying it to Foundry. Prerequisites: Lesson 1's ChatClientAgent and the ChatClientFactory and AgentFactory pattern; Lesson 12's AgentWorkflowBuilder.BuildSequential, which chains agents so each one sees the previous agent's output; and Lesson 19, for hosting an agent in ASP.NET Core, the Microsoft.NET.Sdk.Web project type, and pinning the port in code with UseUrls.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 framework net10.0 with the Microsoft.NET.Sdk.Web SDK: like Lesson 19, this lesson is a web host rather than a console app, because it serves HTTP requests. Packages: Microsoft.Agents.AI 1.24.0 for AIAgent and ChatClientAgent; Microsoft.Agents.AI.Workflows 1.24.0 for AgentWorkflowBuilder.BuildSequential and Workflow.AsAIAgent; Microsoft.Agents.AI.Foundry.Hosting 1.24.0-preview.261006.1, the Foundry Agent Service hosting contract with AddFoundryResponses and MapFoundryResponses, which ships as a preview package; Microsoft.Extensions.AI.OpenAI 10.10.1 and OpenAI 2.14.0. Set OPENAI_API_KEY; MAF_LLM and MAF_MODEL are required as in every lesson; the demos use OPENAI and gpt-4.1-mini. No Azure subscription is needed to build, run or test this lesson. AddFoundryResponses takes any AIAgent, so the project has no Azure SDK reference and no Foundry project. Running locally, the hosting layer stores responses, sessions and workflow checkpoints as JSON files under %USERPROFILE%\.agentserver, or ~/.agentserver on macOS and Linux. The folder is created on first run, and you can delete it between runs to start fresh. Only the deployment steps need Azure.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workflow becomes an agent with AsAIAgent. workflow.AsAIAgent(id, name, description) wraps a Workflow in an AIAgent. Callers use it like any other agent: they send chat messages and get chat messages back, and the workflow runs underneath. The workflow's start executor must accept chat messages. A sequential workflow from AgentWorkflowBuilder.BuildSequential starts with an agent, so it can be wrapped directly. A hand-built WorkflowBuilder graph needs a chat-protocol start executor, one deriving from ChatProtocolExecutor. Anything that hosts an AIAgent can now host a whole multi-agent workflow, including the Foundry Responses host in this lesson and the A2A host from Lesson 19. In the code, the two agents are built the usual way from ChatClientFactory and AgentFactory. ResearchAgent answers the latest question with a few factual bullets and uses earlier turns to resolve words like 'there'; WriterAgent rewrites those bullets as one friendly sentence. BuildSequential("ResearchThenWrite", [researchAgent, writerAgent]) sends the incoming conversation to ResearchAgent, appends its reply, and sends the whole conversation to WriterAgent. AsAIAgent then gives the graph the id research-then-write, the name ResearchThenWrite and a description, and from there the hosting code treats it like any other AIAgent.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AddFoundryResponses and MapFoundryResponses are the hosting contract. builder.Services.AddFoundryResponses(workflowAgent) registers the Responses protocol handler for that one agent, along with the session store and workflow checkpointing. app.MapFoundryResponses() maps POST /responses, for plain JSON, streaming and multi-turn calls, and the GET /readiness health probe that Foundry checks before it routes traffic to a container. These two calls are the same whether the app runs on your laptop or in Foundry. Before them, builder.WebHost.UseUrls pins the port to http://localhost:8088, so launchSettings.json cannot pick a different one, the same choice Lesson 19 made; 8088 matches azd ai agent run, so local testing uses the same URL either way. After them, app.Run() starts an ordinary Kestrel server. Nothing about the running process is Azure-specific; it becomes a Foundry Hosted Agent only when azd deploy packages this same project as a container.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Responses protocol is OpenAI-compatible. POST /responses with {"input": "..."} returns a response object with an id, an agent_session_id and an output array. For a workflow agent, output holds a message item for each agent that spoke: here, ResearchAgent's bullets and then WriterAgent's sentence. It also holds workflow_action items that trace each executor starting, in_progress, and finishing, completed. Passing "stream": true switches to Server-Sent Events: response.created, then response.output_item.added, response.output_text.delta and response.output_item.done for each item, then response.completed. Passing a response's id as previous_response_id continues the same conversation. The follow-up turn keeps the same agent_session_id, and both agents see the earlier messages, so a question like 'What language do people speak there?' resolves 'there' from the first turn. To try it after dotnet run, use Invoke-RestMethod against http://localhost:8088/responses with a JSON body and filter the output for message items, send a second body with previous_response_id set to the first reply's id, and use curl.exe -N with "stream": true to watch the event stream.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host keeps the state for you. Every turn is saved: the responses themselves, the agent session, and the workflow's checkpoints. If no session store is passed, AddFoundryResponses uses Foundry's durable state store when the app is deployed, and the local files under %USERPROFILE%\.agentserver when it runs on your machine. The workflow is checkpointed automatically, so you do not need the CheckpointManager setup from Lesson 18. An AddFoundryResponses(agent, agentSessionStore) overload lets a self-hosted app plug in its own durable store, such as a database or blob storage. The console snippet on the left card is from this lesson's real startup log, trimmed: hosted=False and StorageProvider=FileResponsesProvider show the app running as a self-hosted process with its state in the local .agentserver folder.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Self-hosted versus Foundry-hosted: the code is identical. What changes is who runs it and what you get for free. Where it runs: self-hosted is anywhere, your machine, a VM, App Service, any container platform, any cloud; Foundry-hosted is a managed container in Microsoft Foundry Agent Service. Protocol: self-hosted is your choice, Responses as in this lesson, A2A as in Lesson 19, or both; Foundry uses Responses, which is OpenAI-compatible, or Invocations, which is custom. Session and workflow state: self-hosted is local files by default or a store you provide, and backing it up and sharing it across instances is your job; Foundry uses its durable state store, kept across turns, idle periods and restarts. Identity: whatever you wire up, versus a Microsoft Entra identity for each deployed agent. Scaling: your job, versus managed by the platform. Versioning and rollout: your job, versus immutable versions for every deployment, with traffic split between versions for canary or blue-green rollout and instant rollback. Telemetry: whatever exporter you configure, Lesson 20 used the console, versus APPLICATIONINSIGHTS_CONNECTION_STRING injected so traces go to Application Insights. Deployment: however you like, versus azd provision plus azd deploy. Self-hosting gives total control over cloud, provider and protocol, and you build the production concerns yourself. Foundry hosting solves identity, scaling, state, versioning and telemetry for you, as long as the agent runs on Azure.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deploying to Foundry adds. This part needs an Azure subscription and the Azure Developer CLI, azd, and the lesson describes it rather than running it. azd provision creates a resource group with a Foundry resource and project, a model deployment, Application Insights and a container registry. azd deploy builds this project into a container image, pushes it to the registry and deploys it to Foundry Agent Service. At run time Foundry injects FOUNDRY_PROJECT_ENDPOINT, AZURE_AI_MODEL_DEPLOYMENT_NAME and APPLICATIONINSIGHTS_CONNECTION_STRING into the container. The last one ties back to Lesson 20's telemetry, now going to Application Insights instead of the console. azd ai agent run runs the same container locally for testing, on port 8088, which is why this lesson pins that port in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Starting the app with dotnet run prints the hosting layer's startup log, and that part of the panel is real captured output. On the slide the instance value is cut to '...', the logger's namespace is shortened, the remaining configuration values after StorageProvider, DefaultModel not set, DefaultFetchHistoryCount=100 and EventStreamTtl of ten minutes, are cut, and the Application started, Hosting environment and Content root path lines are cut to the final '...'. The instance value and the content root path depend on your machine. hosted=False and StorageProvider=FileResponsesProvider show the app running as a self-hosted process with its state in the local .agentserver folder. The request and response part of the lesson's Expected Output is pending a re-capture with OPENAI_API_KEY set, so no response text appears on the slide. What the lesson says the calls return: the non-streaming call returns a completed response whose output holds workflow_action items for ResearchAgent, WriterAgent and the workflow's OutputMessages step, plus two message items, ResearchAgent's bullet points about Paris and WriterAgent's one-sentence answer. The follow-up call with previous_response_id returns the same agent_session_id, and its messages answer that people in France speak French. The streaming call emits response.created, a sequence of response.output_item.added, response.output_text.delta and response.output_item.done events, and ends with response.completed.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where each piece goes. Lesson 22's design hosts the finished graph with Workflow.AsAIAgent plus AddFoundryResponses, and designs the start node as a ChatProtocolExecutor from the beginning, because AsAIAgent drives a workflow by sending it chat messages and then a TurnToken. In Lesson 24, AddFoundryResponses and MapFoundryResponses serve Lesson 23's Researcher, Analyst, approval port, Writer graph at POST /responses in an ASP.NET Core host that runs locally with no Azure resources: this lesson's hosting, given a workflow agent built by hand instead of a sequential one. Lesson 24's client answers the pending approval with a second POST whose previous_response_id is the first reply's id. Its replies show the graph running as workflow_action output items, one per executor invocation. Because the host checkpoints the run automatically and stores the session under .agentserver, a pending approval survives a host restart. And Lesson 24's container packaging returns to this lesson's comparison: inside a container the host's local state lives in the container's filesystem, while deployed as a Foundry Hosted Agent, Foundry's durable store holds it instead. All of this ships in the Lesson 22 to 24 capstone, the Research-and-Report pipeline, served over the Responses protocol.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1.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B2D"/>
        </a:solidFill>
      </p:bgPr>
    </p:bg>
    <p:spTree>
      <p:nvGrpSpPr>
        <p:cNvPr id="1" name=""/>
        <p:cNvGrpSpPr/>
        <p:nvPr/>
      </p:nvGrpSpPr>
      <p:grpSpPr>
        <a:xfrm>
          <a:off x="0" y="0"/>
          <a:ext cx="0" cy="0"/>
          <a:chOff x="0" y="0"/>
          <a:chExt cx="0" cy="0"/>
        </a:xfrm>
      </p:grpSpPr>
      <p:sp>
        <p:nvSpPr>
          <p:cNvPr id="2" name="Text 0"/>
          <p:cNvSpPr txBox="1"/>
          <p:nvPr/>
        </p:nvSpPr>
        <p:spPr>
          <a:xfrm>
            <a:off x="457200" y="502920"/>
            <a:ext cx="4206240" cy="457200"/>
          </a:xfrm>
          <a:prstGeom prst="rect">
            <a:avLst/>
          </a:prstGeom>
          <a:noFill/>
          <a:ln/>
        </p:spPr>
        <p:txBody>
          <a:bodyPr wrap="square" lIns="0" tIns="0" rIns="0" bIns="0" rtlCol="0" anchor="t"/>
          <a:lstStyle/>
          <a:p>
            <a:pPr indent="0" marL="0">
              <a:buNone/>
            </a:pPr>
            <a:r>
              <a:rPr lang="en-US" sz="1100" b="1" spc="200" kern="0" dirty="0">
                <a:solidFill>
                  <a:srgbClr val="F5A623"/>
                </a:solidFill>
                <a:latin typeface="Calibri" pitchFamily="34" charset="0"/>
                <a:ea typeface="Calibri" pitchFamily="34" charset="-122"/>
                <a:cs typeface="Calibri" pitchFamily="34" charset="-120"/>
              </a:rPr>
              <a:t>LESSON 21  ·  PHASE 3</a:t>
            </a:r>
            <a:endParaRPr lang="en-US" sz="1100" dirty="0"/>
          </a:p>
        </p:txBody>
      </p:sp>
      <p:sp>
        <p:nvSpPr>
          <p:cNvPr id="3" name="Text 1"/>
          <p:cNvSpPr txBox="1"/>
          <p:nvPr/>
        </p:nvSpPr>
        <p:spPr>
          <a:xfrm>
            <a:off x="457200" y="1005840"/>
            <a:ext cx="4206240" cy="1371600"/>
          </a:xfrm>
          <a:prstGeom prst="rect">
            <a:avLst/>
          </a:prstGeom>
          <a:noFill/>
          <a:ln/>
        </p:spPr>
        <p:txBody>
          <a:bodyPr wrap="square" lIns="0" tIns="0" rIns="0" bIns="0" rtlCol="0" anchor="b"/>
          <a:lstStyle/>
          <a:p>
            <a:pPr indent="0" marL="0">
              <a:buNone/>
            </a:pPr>
            <a:r>
              <a:rPr lang="en-US" sz="4000" b="1" dirty="0">
                <a:solidFill>
                  <a:srgbClr val="FFFFFF"/>
                </a:solidFill>
                <a:latin typeface="Cambria" pitchFamily="34" charset="0"/>
                <a:ea typeface="Cambria" pitchFamily="34" charset="-122"/>
                <a:cs typeface="Cambria" pitchFamily="34" charset="-120"/>
              </a:rPr>
              <a:t>Hosting and Deployment</a:t>
            </a:r>
            <a:endParaRPr lang="en-US" sz="4000" dirty="0"/>
          </a:p>
        </p:txBody>
      </p:sp>
      <p:sp>
        <p:nvSpPr>
          <p:cNvPr id="4" name="Text 2"/>
          <p:cNvSpPr txBox="1"/>
          <p:nvPr/>
        </p:nvSpPr>
        <p:spPr>
          <a:xfrm>
            <a:off x="457200" y="2468880"/>
            <a:ext cx="4206240" cy="640080"/>
          </a:xfrm>
          <a:prstGeom prst="rect">
            <a:avLst/>
          </a:prstGeom>
          <a:noFill/>
          <a:ln/>
        </p:spPr>
        <p:txBody>
          <a:bodyPr wrap="square" lIns="0" tIns="0" rIns="0" bIns="0" rtlCol="0" anchor="t"/>
          <a:lstStyle/>
          <a:p>
            <a:pPr indent="0" marL="0">
              <a:buNone/>
            </a:pPr>
            <a:r>
              <a:rPr lang="en-US" sz="1600" dirty="0">
                <a:solidFill>
                  <a:srgbClr val="B8B2E6"/>
                </a:solidFill>
                <a:latin typeface="Calibri" pitchFamily="34" charset="0"/>
                <a:ea typeface="Calibri" pitchFamily="34" charset="-122"/>
                <a:cs typeface="Calibri" pitchFamily="34" charset="-120"/>
              </a:rPr>
              <a:t>Turn a workflow into a service: self-hosted today, Foundry-hosted with azd</a:t>
            </a:r>
            <a:endParaRPr lang="en-US" sz="1600" dirty="0"/>
          </a:p>
        </p:txBody>
      </p:sp>
      <p:sp>
        <p:nvSpPr>
          <p:cNvPr id="5" name="Text 3"/>
          <p:cNvSpPr txBox="1"/>
          <p:nvPr/>
        </p:nvSpPr>
        <p:spPr>
          <a:xfrm>
            <a:off x="457200" y="3346704"/>
            <a:ext cx="1097280" cy="274320"/>
          </a:xfrm>
          <a:prstGeom prst="rect">
            <a:avLst/>
          </a:prstGeom>
          <a:noFill/>
          <a:ln/>
        </p:spPr>
        <p:txBody>
          <a:bodyPr wrap="square" lIns="0" tIns="0" rIns="0" bIns="0" rtlCol="0" anchor="t"/>
          <a:lstStyle/>
          <a:p>
            <a:pPr indent="0" marL="0">
              <a:buNone/>
            </a:pPr>
            <a:r>
              <a:rPr lang="en-US" sz="900" b="1" spc="100" kern="0" dirty="0">
                <a:solidFill>
                  <a:srgbClr val="B8B2E6"/>
                </a:solidFill>
                <a:latin typeface="Calibri" pitchFamily="34" charset="0"/>
                <a:ea typeface="Calibri" pitchFamily="34" charset="-122"/>
                <a:cs typeface="Calibri" pitchFamily="34" charset="-120"/>
              </a:rPr>
              <a:t>STARTS FROM</a:t>
            </a:r>
            <a:endParaRPr lang="en-US" sz="900" dirty="0"/>
          </a:p>
        </p:txBody>
      </p:sp>
      <p:sp>
        <p:nvSpPr>
          <p:cNvPr id="6" name="Text 4"/>
          <p:cNvSpPr txBox="1"/>
          <p:nvPr/>
        </p:nvSpPr>
        <p:spPr>
          <a:xfrm>
            <a:off x="1554480" y="3291840"/>
            <a:ext cx="3291840" cy="365760"/>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Lessons 1, 12 and 19</a:t>
            </a:r>
            <a:endParaRPr lang="en-US" sz="1100" dirty="0"/>
          </a:p>
        </p:txBody>
      </p:sp>
      <p:sp>
        <p:nvSpPr>
          <p:cNvPr id="7" name="Text 5"/>
          <p:cNvSpPr txBox="1"/>
          <p:nvPr/>
        </p:nvSpPr>
        <p:spPr>
          <a:xfrm>
            <a:off x="457200" y="3803904"/>
            <a:ext cx="1097280" cy="274320"/>
          </a:xfrm>
          <a:prstGeom prst="rect">
            <a:avLst/>
          </a:prstGeom>
          <a:noFill/>
          <a:ln/>
        </p:spPr>
        <p:txBody>
          <a:bodyPr wrap="square" lIns="0" tIns="0" rIns="0" bIns="0" rtlCol="0" anchor="t"/>
          <a:lstStyle/>
          <a:p>
            <a:pPr indent="0" marL="0">
              <a:buNone/>
            </a:pPr>
            <a:r>
              <a:rPr lang="en-US" sz="900" b="1" spc="100" kern="0" dirty="0">
                <a:solidFill>
                  <a:srgbClr val="B8B2E6"/>
                </a:solidFill>
                <a:latin typeface="Calibri" pitchFamily="34" charset="0"/>
                <a:ea typeface="Calibri" pitchFamily="34" charset="-122"/>
                <a:cs typeface="Calibri" pitchFamily="34" charset="-120"/>
              </a:rPr>
              <a:t>FINISHES AS</a:t>
            </a:r>
            <a:endParaRPr lang="en-US" sz="900" dirty="0"/>
          </a:p>
        </p:txBody>
      </p:sp>
      <p:sp>
        <p:nvSpPr>
          <p:cNvPr id="8" name="Text 6"/>
          <p:cNvSpPr txBox="1"/>
          <p:nvPr/>
        </p:nvSpPr>
        <p:spPr>
          <a:xfrm>
            <a:off x="1554480" y="3749040"/>
            <a:ext cx="3291840" cy="365760"/>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src/HostingAndDeployment</a:t>
            </a:r>
            <a:endParaRPr lang="en-US" sz="1100" dirty="0"/>
          </a:p>
        </p:txBody>
      </p:sp>
      <p:sp>
        <p:nvSpPr>
          <p:cNvPr id="9" name="Shape 7"/>
          <p:cNvSpPr/>
          <p:nvPr/>
        </p:nvSpPr>
        <p:spPr>
          <a:xfrm>
            <a:off x="4983480" y="502920"/>
            <a:ext cx="3703320" cy="4069080"/>
          </a:xfrm>
          <a:prstGeom prst="roundRect">
            <a:avLst>
              <a:gd name="adj" fmla="val 1975"/>
            </a:avLst>
          </a:prstGeom>
          <a:solidFill>
            <a:srgbClr val="1F2943"/>
          </a:solidFill>
          <a:ln w="12700">
            <a:solidFill>
              <a:srgbClr val="1F2943"/>
            </a:solidFill>
            <a:prstDash val="solid"/>
          </a:ln>
        </p:spPr>
      </p:sp>
      <p:sp>
        <p:nvSpPr>
          <p:cNvPr id="10" name="Text 8"/>
          <p:cNvSpPr txBox="1"/>
          <p:nvPr/>
        </p:nvSpPr>
        <p:spPr>
          <a:xfrm>
            <a:off x="5257800" y="731520"/>
            <a:ext cx="3200400" cy="365760"/>
          </a:xfrm>
          <a:prstGeom prst="rect">
            <a:avLst/>
          </a:prstGeom>
          <a:noFill/>
          <a:ln/>
        </p:spPr>
        <p:txBody>
          <a:bodyPr wrap="square" lIns="0" tIns="0" rIns="0" bIns="0" rtlCol="0" anchor="t"/>
          <a:lstStyle/>
          <a:p>
            <a:pPr indent="0" marL="0">
              <a:buNone/>
            </a:pPr>
            <a:r>
              <a:rPr lang="en-US" sz="1600" b="1" dirty="0">
                <a:solidFill>
                  <a:srgbClr val="FFFFFF"/>
                </a:solidFill>
                <a:latin typeface="Cambria" pitchFamily="34" charset="0"/>
                <a:ea typeface="Cambria" pitchFamily="34" charset="-122"/>
                <a:cs typeface="Cambria" pitchFamily="34" charset="-120"/>
              </a:rPr>
              <a:t>In this lesson you'll learn</a:t>
            </a:r>
            <a:endParaRPr lang="en-US" sz="1600" dirty="0"/>
          </a:p>
        </p:txBody>
      </p:sp>
      <p:sp>
        <p:nvSpPr>
          <p:cNvPr id="11" name="Shape 9"/>
          <p:cNvSpPr/>
          <p:nvPr/>
        </p:nvSpPr>
        <p:spPr>
          <a:xfrm>
            <a:off x="5257800" y="1252728"/>
            <a:ext cx="310896" cy="310896"/>
          </a:xfrm>
          <a:prstGeom prst="ellipse">
            <a:avLst/>
          </a:prstGeom>
          <a:solidFill>
            <a:srgbClr val="512BD4"/>
          </a:solidFill>
          <a:ln w="12700">
            <a:solidFill>
              <a:srgbClr val="512BD4"/>
            </a:solidFill>
            <a:prstDash val="solid"/>
          </a:ln>
        </p:spPr>
      </p:sp>
      <p:pic>
        <p:nvPicPr>
          <p:cNvPr id="12" name="Image 0" descr="preencoded.png">    </p:cNvPr>
          <p:cNvPicPr>
            <a:picLocks noChangeAspect="1"/>
          </p:cNvPicPr>
          <p:nvPr/>
        </p:nvPicPr>
        <p:blipFill>
          <a:blip r:embed="rId1"/>
          <a:stretch>
            <a:fillRect/>
          </a:stretch>
        </p:blipFill>
        <p:spPr>
          <a:xfrm>
            <a:off x="5338633" y="1333561"/>
            <a:ext cx="149230" cy="149230"/>
          </a:xfrm>
          <a:prstGeom prst="rect">
            <a:avLst/>
          </a:prstGeom>
        </p:spPr>
      </p:pic>
      <p:sp>
        <p:nvSpPr>
          <p:cNvPr id="13" name="Text 10"/>
          <p:cNvSpPr txBox="1"/>
          <p:nvPr/>
        </p:nvSpPr>
        <p:spPr>
          <a:xfrm>
            <a:off x="5715000" y="123444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Wrapping a whole workflow as one AIAgent</a:t>
            </a:r>
            <a:endParaRPr lang="en-US" sz="1300" dirty="0"/>
          </a:p>
        </p:txBody>
      </p:sp>
      <p:sp>
        <p:nvSpPr>
          <p:cNvPr id="14" name="Shape 11"/>
          <p:cNvSpPr/>
          <p:nvPr/>
        </p:nvSpPr>
        <p:spPr>
          <a:xfrm>
            <a:off x="5257800" y="1892808"/>
            <a:ext cx="310896" cy="310896"/>
          </a:xfrm>
          <a:prstGeom prst="ellipse">
            <a:avLst/>
          </a:prstGeom>
          <a:solidFill>
            <a:srgbClr val="512BD4"/>
          </a:solidFill>
          <a:ln w="12700">
            <a:solidFill>
              <a:srgbClr val="512BD4"/>
            </a:solidFill>
            <a:prstDash val="solid"/>
          </a:ln>
        </p:spPr>
      </p:sp>
      <p:pic>
        <p:nvPicPr>
          <p:cNvPr id="15" name="Image 1" descr="preencoded.png">    </p:cNvPr>
          <p:cNvPicPr>
            <a:picLocks noChangeAspect="1"/>
          </p:cNvPicPr>
          <p:nvPr/>
        </p:nvPicPr>
        <p:blipFill>
          <a:blip r:embed="rId2"/>
          <a:stretch>
            <a:fillRect/>
          </a:stretch>
        </p:blipFill>
        <p:spPr>
          <a:xfrm>
            <a:off x="5338633" y="1973641"/>
            <a:ext cx="149230" cy="149230"/>
          </a:xfrm>
          <a:prstGeom prst="rect">
            <a:avLst/>
          </a:prstGeom>
        </p:spPr>
      </p:pic>
      <p:sp>
        <p:nvSpPr>
          <p:cNvPr id="16" name="Text 12"/>
          <p:cNvSpPr txBox="1"/>
          <p:nvPr/>
        </p:nvSpPr>
        <p:spPr>
          <a:xfrm>
            <a:off x="5715000" y="187452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Foundry's hosting contract: two calls, any AIAgent</a:t>
            </a:r>
            <a:endParaRPr lang="en-US" sz="1300" dirty="0"/>
          </a:p>
        </p:txBody>
      </p:sp>
      <p:sp>
        <p:nvSpPr>
          <p:cNvPr id="17" name="Shape 13"/>
          <p:cNvSpPr/>
          <p:nvPr/>
        </p:nvSpPr>
        <p:spPr>
          <a:xfrm>
            <a:off x="5257800" y="2532888"/>
            <a:ext cx="310896" cy="310896"/>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5338633" y="2613721"/>
            <a:ext cx="149230" cy="149230"/>
          </a:xfrm>
          <a:prstGeom prst="rect">
            <a:avLst/>
          </a:prstGeom>
        </p:spPr>
      </p:pic>
      <p:sp>
        <p:nvSpPr>
          <p:cNvPr id="19" name="Text 14"/>
          <p:cNvSpPr txBox="1"/>
          <p:nvPr/>
        </p:nvSpPr>
        <p:spPr>
          <a:xfrm>
            <a:off x="5715000" y="251460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The Responses protocol: JSON, streaming, multi-turn</a:t>
            </a:r>
            <a:endParaRPr lang="en-US" sz="1300" dirty="0"/>
          </a:p>
        </p:txBody>
      </p:sp>
      <p:sp>
        <p:nvSpPr>
          <p:cNvPr id="20" name="Shape 15"/>
          <p:cNvSpPr/>
          <p:nvPr/>
        </p:nvSpPr>
        <p:spPr>
          <a:xfrm>
            <a:off x="5257800" y="3172968"/>
            <a:ext cx="310896" cy="310896"/>
          </a:xfrm>
          <a:prstGeom prst="ellipse">
            <a:avLst/>
          </a:prstGeom>
          <a:solidFill>
            <a:srgbClr val="512BD4"/>
          </a:solidFill>
          <a:ln w="12700">
            <a:solidFill>
              <a:srgbClr val="512BD4"/>
            </a:solidFill>
            <a:prstDash val="solid"/>
          </a:ln>
        </p:spPr>
      </p:sp>
      <p:pic>
        <p:nvPicPr>
          <p:cNvPr id="21" name="Image 3" descr="preencoded.png">    </p:cNvPr>
          <p:cNvPicPr>
            <a:picLocks noChangeAspect="1"/>
          </p:cNvPicPr>
          <p:nvPr/>
        </p:nvPicPr>
        <p:blipFill>
          <a:blip r:embed="rId4"/>
          <a:stretch>
            <a:fillRect/>
          </a:stretch>
        </p:blipFill>
        <p:spPr>
          <a:xfrm>
            <a:off x="5338633" y="3253801"/>
            <a:ext cx="149230" cy="149230"/>
          </a:xfrm>
          <a:prstGeom prst="rect">
            <a:avLst/>
          </a:prstGeom>
        </p:spPr>
      </p:pic>
      <p:sp>
        <p:nvSpPr>
          <p:cNvPr id="22" name="Text 16"/>
          <p:cNvSpPr txBox="1"/>
          <p:nvPr/>
        </p:nvSpPr>
        <p:spPr>
          <a:xfrm>
            <a:off x="5715000" y="315468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Where the host keeps sessions and checkpoints</a:t>
            </a:r>
            <a:endParaRPr lang="en-US" sz="1300" dirty="0"/>
          </a:p>
        </p:txBody>
      </p:sp>
      <p:sp>
        <p:nvSpPr>
          <p:cNvPr id="23" name="Shape 17"/>
          <p:cNvSpPr/>
          <p:nvPr/>
        </p:nvSpPr>
        <p:spPr>
          <a:xfrm>
            <a:off x="5257800" y="3813048"/>
            <a:ext cx="310896" cy="310896"/>
          </a:xfrm>
          <a:prstGeom prst="ellipse">
            <a:avLst/>
          </a:prstGeom>
          <a:solidFill>
            <a:srgbClr val="512BD4"/>
          </a:solidFill>
          <a:ln w="12700">
            <a:solidFill>
              <a:srgbClr val="512BD4"/>
            </a:solidFill>
            <a:prstDash val="solid"/>
          </a:ln>
        </p:spPr>
      </p:sp>
      <p:pic>
        <p:nvPicPr>
          <p:cNvPr id="24" name="Image 4" descr="preencoded.png">    </p:cNvPr>
          <p:cNvPicPr>
            <a:picLocks noChangeAspect="1"/>
          </p:cNvPicPr>
          <p:nvPr/>
        </p:nvPicPr>
        <p:blipFill>
          <a:blip r:embed="rId5"/>
          <a:stretch>
            <a:fillRect/>
          </a:stretch>
        </p:blipFill>
        <p:spPr>
          <a:xfrm>
            <a:off x="5338633" y="3893881"/>
            <a:ext cx="149230" cy="149230"/>
          </a:xfrm>
          <a:prstGeom prst="rect">
            <a:avLst/>
          </a:prstGeom>
        </p:spPr>
      </p:pic>
      <p:sp>
        <p:nvSpPr>
          <p:cNvPr id="25" name="Text 18"/>
          <p:cNvSpPr txBox="1"/>
          <p:nvPr/>
        </p:nvSpPr>
        <p:spPr>
          <a:xfrm>
            <a:off x="5715000" y="379476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Self-hosted versus Foundry-hosted, and azd deploy</a:t>
            </a:r>
            <a:endParaRPr lang="en-US" sz="1300" dirty="0"/>
          </a:p>
        </p:txBody>
      </p:sp>
      <p:sp>
        <p:nvSpPr>
          <p:cNvPr id="26" name="Text 19"/>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B8B2E6"/>
                </a:solidFill>
                <a:latin typeface="Calibri" pitchFamily="34" charset="0"/>
                <a:ea typeface="Calibri" pitchFamily="34" charset="-122"/>
                <a:cs typeface="Calibri" pitchFamily="34" charset="-120"/>
              </a:rPr>
              <a:t>Applied Agentic Orchestration  ·  Lesson 21 — Hosting and Deployment</a:t>
            </a:r>
            <a:endParaRPr lang="en-US" sz="900" dirty="0"/>
          </a:p>
        </p:txBody>
      </p:sp>
      <p:sp>
        <p:nvSpPr>
          <p:cNvPr id="27" name="Text 20"/>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B8B2E6"/>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SETUP</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A web host, one preview package, no Azure</a:t>
            </a:r>
            <a:endParaRPr lang="en-US" sz="2800" dirty="0"/>
          </a:p>
        </p:txBody>
      </p:sp>
      <p:sp>
        <p:nvSpPr>
          <p:cNvPr id="4" name="Shape 2"/>
          <p:cNvSpPr/>
          <p:nvPr/>
        </p:nvSpPr>
        <p:spPr>
          <a:xfrm>
            <a:off x="457200" y="1371600"/>
            <a:ext cx="2560320" cy="2011680"/>
          </a:xfrm>
          <a:prstGeom prst="roundRect">
            <a:avLst>
              <a:gd name="adj" fmla="val 3636"/>
            </a:avLst>
          </a:prstGeom>
          <a:solidFill>
            <a:srgbClr val="EFEBFC"/>
          </a:solidFill>
          <a:ln w="12700">
            <a:solidFill>
              <a:srgbClr val="EFEBFC"/>
            </a:solidFill>
            <a:prstDash val="solid"/>
          </a:ln>
        </p:spPr>
      </p:sp>
      <p:sp>
        <p:nvSpPr>
          <p:cNvPr id="5" name="Shape 3"/>
          <p:cNvSpPr/>
          <p:nvPr/>
        </p:nvSpPr>
        <p:spPr>
          <a:xfrm>
            <a:off x="640080" y="1554480"/>
            <a:ext cx="384048" cy="384048"/>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39932" y="1654332"/>
            <a:ext cx="184343" cy="184343"/>
          </a:xfrm>
          <a:prstGeom prst="rect">
            <a:avLst/>
          </a:prstGeom>
        </p:spPr>
      </p:pic>
      <p:sp>
        <p:nvSpPr>
          <p:cNvPr id="7" name="Text 4"/>
          <p:cNvSpPr txBox="1"/>
          <p:nvPr/>
        </p:nvSpPr>
        <p:spPr>
          <a:xfrm>
            <a:off x="1143000" y="1554480"/>
            <a:ext cx="173736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Foundry.Hosting</a:t>
            </a:r>
            <a:endParaRPr lang="en-US" sz="1400" dirty="0"/>
          </a:p>
        </p:txBody>
      </p:sp>
      <p:sp>
        <p:nvSpPr>
          <p:cNvPr id="8" name="Text 5"/>
          <p:cNvSpPr txBox="1"/>
          <p:nvPr/>
        </p:nvSpPr>
        <p:spPr>
          <a:xfrm>
            <a:off x="640080" y="2057400"/>
            <a:ext cx="2194560" cy="123444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Microsoft.Agents.AI.</a:t>
            </a:r>
            <a:endParaRPr lang="en-US" sz="1200" dirty="0"/>
          </a:p>
          <a:p>
            <a:pPr indent="0" marL="0">
              <a:buNone/>
            </a:pPr>
            <a:r>
              <a:rPr lang="en-US" sz="1200" dirty="0">
                <a:solidFill>
                  <a:srgbClr val="6B7280"/>
                </a:solidFill>
                <a:latin typeface="Calibri" pitchFamily="34" charset="0"/>
                <a:ea typeface="Calibri" pitchFamily="34" charset="-122"/>
                <a:cs typeface="Calibri" pitchFamily="34" charset="-120"/>
              </a:rPr>
              <a:t>Foundry.Hosting</a:t>
            </a:r>
            <a:endParaRPr lang="en-US" sz="1200" dirty="0"/>
          </a:p>
          <a:p>
            <a:pPr indent="0" marL="0">
              <a:buNone/>
            </a:pPr>
            <a:r>
              <a:rPr lang="en-US" sz="1200" dirty="0">
                <a:solidFill>
                  <a:srgbClr val="6B7280"/>
                </a:solidFill>
                <a:latin typeface="Calibri" pitchFamily="34" charset="0"/>
                <a:ea typeface="Calibri" pitchFamily="34" charset="-122"/>
                <a:cs typeface="Calibri" pitchFamily="34" charset="-120"/>
              </a:rPr>
              <a:t>1.24.0-preview.261006.1</a:t>
            </a:r>
            <a:endParaRPr lang="en-US" sz="1200" dirty="0"/>
          </a:p>
        </p:txBody>
      </p:sp>
      <p:sp>
        <p:nvSpPr>
          <p:cNvPr id="9" name="Shape 6"/>
          <p:cNvSpPr/>
          <p:nvPr/>
        </p:nvSpPr>
        <p:spPr>
          <a:xfrm>
            <a:off x="3291840" y="1371600"/>
            <a:ext cx="2560320" cy="2011680"/>
          </a:xfrm>
          <a:prstGeom prst="roundRect">
            <a:avLst>
              <a:gd name="adj" fmla="val 3636"/>
            </a:avLst>
          </a:prstGeom>
          <a:solidFill>
            <a:srgbClr val="EFEBFC"/>
          </a:solidFill>
          <a:ln w="12700">
            <a:solidFill>
              <a:srgbClr val="EFEBFC"/>
            </a:solidFill>
            <a:prstDash val="solid"/>
          </a:ln>
        </p:spPr>
      </p:sp>
      <p:sp>
        <p:nvSpPr>
          <p:cNvPr id="10" name="Shape 7"/>
          <p:cNvSpPr/>
          <p:nvPr/>
        </p:nvSpPr>
        <p:spPr>
          <a:xfrm>
            <a:off x="3474720" y="155448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3574572" y="1654332"/>
            <a:ext cx="184343" cy="184343"/>
          </a:xfrm>
          <a:prstGeom prst="rect">
            <a:avLst/>
          </a:prstGeom>
        </p:spPr>
      </p:pic>
      <p:sp>
        <p:nvSpPr>
          <p:cNvPr id="12" name="Text 8"/>
          <p:cNvSpPr txBox="1"/>
          <p:nvPr/>
        </p:nvSpPr>
        <p:spPr>
          <a:xfrm>
            <a:off x="3977640" y="1554480"/>
            <a:ext cx="173736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Sdk.Web</a:t>
            </a:r>
            <a:endParaRPr lang="en-US" sz="1400" dirty="0"/>
          </a:p>
        </p:txBody>
      </p:sp>
      <p:sp>
        <p:nvSpPr>
          <p:cNvPr id="13" name="Text 9"/>
          <p:cNvSpPr txBox="1"/>
          <p:nvPr/>
        </p:nvSpPr>
        <p:spPr>
          <a:xfrm>
            <a:off x="3474720" y="2057400"/>
            <a:ext cx="2194560" cy="123444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A web host, like Lesson 19, because it serves HTTP requests</a:t>
            </a:r>
            <a:endParaRPr lang="en-US" sz="1200" dirty="0"/>
          </a:p>
        </p:txBody>
      </p:sp>
      <p:sp>
        <p:nvSpPr>
          <p:cNvPr id="14" name="Shape 10"/>
          <p:cNvSpPr/>
          <p:nvPr/>
        </p:nvSpPr>
        <p:spPr>
          <a:xfrm>
            <a:off x="6126480" y="1371600"/>
            <a:ext cx="2560320" cy="2011680"/>
          </a:xfrm>
          <a:prstGeom prst="roundRect">
            <a:avLst>
              <a:gd name="adj" fmla="val 3636"/>
            </a:avLst>
          </a:prstGeom>
          <a:solidFill>
            <a:srgbClr val="512BD4"/>
          </a:solidFill>
          <a:ln w="12700">
            <a:solidFill>
              <a:srgbClr val="512BD4"/>
            </a:solidFill>
            <a:prstDash val="solid"/>
          </a:ln>
        </p:spPr>
      </p:sp>
      <p:sp>
        <p:nvSpPr>
          <p:cNvPr id="15" name="Shape 11"/>
          <p:cNvSpPr/>
          <p:nvPr/>
        </p:nvSpPr>
        <p:spPr>
          <a:xfrm>
            <a:off x="6309360" y="1554480"/>
            <a:ext cx="384048" cy="384048"/>
          </a:xfrm>
          <a:prstGeom prst="ellipse">
            <a:avLst/>
          </a:prstGeom>
          <a:solidFill>
            <a:srgbClr val="FFFFFF"/>
          </a:solidFill>
          <a:ln w="12700">
            <a:solidFill>
              <a:srgbClr val="FFFFFF"/>
            </a:solidFill>
            <a:prstDash val="solid"/>
          </a:ln>
        </p:spPr>
      </p:sp>
      <p:pic>
        <p:nvPicPr>
          <p:cNvPr id="16" name="Image 2" descr="preencoded.png">    </p:cNvPr>
          <p:cNvPicPr>
            <a:picLocks noChangeAspect="1"/>
          </p:cNvPicPr>
          <p:nvPr/>
        </p:nvPicPr>
        <p:blipFill>
          <a:blip r:embed="rId3"/>
          <a:stretch>
            <a:fillRect/>
          </a:stretch>
        </p:blipFill>
        <p:spPr>
          <a:xfrm>
            <a:off x="6409212" y="1654332"/>
            <a:ext cx="184343" cy="184343"/>
          </a:xfrm>
          <a:prstGeom prst="rect">
            <a:avLst/>
          </a:prstGeom>
        </p:spPr>
      </p:pic>
      <p:sp>
        <p:nvSpPr>
          <p:cNvPr id="17" name="Text 12"/>
          <p:cNvSpPr txBox="1"/>
          <p:nvPr/>
        </p:nvSpPr>
        <p:spPr>
          <a:xfrm>
            <a:off x="6812280" y="1554480"/>
            <a:ext cx="1737360" cy="384048"/>
          </a:xfrm>
          <a:prstGeom prst="rect">
            <a:avLst/>
          </a:prstGeom>
          <a:noFill/>
          <a:ln/>
        </p:spPr>
        <p:txBody>
          <a:bodyPr wrap="square" lIns="0" tIns="0" rIns="0" bIns="0" rtlCol="0" anchor="ctr"/>
          <a:lstStyle/>
          <a:p>
            <a:pPr indent="0" marL="0">
              <a:buNone/>
            </a:pPr>
            <a:r>
              <a:rPr lang="en-US" sz="1300" b="1" dirty="0">
                <a:solidFill>
                  <a:srgbClr val="FFFFFF"/>
                </a:solidFill>
                <a:latin typeface="Courier New" pitchFamily="34" charset="0"/>
                <a:ea typeface="Courier New" pitchFamily="34" charset="-122"/>
                <a:cs typeface="Courier New" pitchFamily="34" charset="-120"/>
              </a:rPr>
              <a:t>OPENAI_API_KEY</a:t>
            </a:r>
            <a:endParaRPr lang="en-US" sz="1300" dirty="0"/>
          </a:p>
        </p:txBody>
      </p:sp>
      <p:sp>
        <p:nvSpPr>
          <p:cNvPr id="18" name="Text 13"/>
          <p:cNvSpPr txBox="1"/>
          <p:nvPr/>
        </p:nvSpPr>
        <p:spPr>
          <a:xfrm>
            <a:off x="6309360" y="2057400"/>
            <a:ext cx="2194560" cy="123444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With MAF_LLM and MAF_MODEL. No Azure subscription, no Foundry project.</a:t>
            </a:r>
            <a:endParaRPr lang="en-US" sz="1200" dirty="0"/>
          </a:p>
        </p:txBody>
      </p:sp>
      <p:sp>
        <p:nvSpPr>
          <p:cNvPr id="19" name="Text 14"/>
          <p:cNvSpPr txBox="1"/>
          <p:nvPr/>
        </p:nvSpPr>
        <p:spPr>
          <a:xfrm>
            <a:off x="457200" y="361188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Plus Microsoft.Agents.AI.Workflows 1.24.0 for BuildSequential and AsAIAgent.</a:t>
            </a:r>
            <a:endParaRPr lang="en-US" sz="1400" dirty="0"/>
          </a:p>
        </p:txBody>
      </p:sp>
      <p:sp>
        <p:nvSpPr>
          <p:cNvPr id="20" name="Text 15"/>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  Lesson 21 — Hosting and Deployment</a:t>
            </a:r>
            <a:endParaRPr lang="en-US" sz="900" dirty="0"/>
          </a:p>
        </p:txBody>
      </p:sp>
      <p:sp>
        <p:nvSpPr>
          <p:cNvPr id="21" name="Text 16"/>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A workflow becomes an agent with AsAIAgent</a:t>
            </a:r>
            <a:endParaRPr lang="en-US" sz="2800" dirty="0"/>
          </a:p>
        </p:txBody>
      </p:sp>
      <p:sp>
        <p:nvSpPr>
          <p:cNvPr id="4" name="Shape 2"/>
          <p:cNvSpPr/>
          <p:nvPr/>
        </p:nvSpPr>
        <p:spPr>
          <a:xfrm>
            <a:off x="457200" y="1417320"/>
            <a:ext cx="1796796" cy="2221992"/>
          </a:xfrm>
          <a:prstGeom prst="roundRect">
            <a:avLst>
              <a:gd name="adj" fmla="val 4071"/>
            </a:avLst>
          </a:prstGeom>
          <a:solidFill>
            <a:srgbClr val="EFEBFC"/>
          </a:solidFill>
          <a:ln w="12700">
            <a:solidFill>
              <a:srgbClr val="EFEBFC"/>
            </a:solidFill>
            <a:prstDash val="solid"/>
          </a:ln>
        </p:spPr>
      </p:sp>
      <p:sp>
        <p:nvSpPr>
          <p:cNvPr id="5" name="Shape 3"/>
          <p:cNvSpPr/>
          <p:nvPr/>
        </p:nvSpPr>
        <p:spPr>
          <a:xfrm>
            <a:off x="640080" y="1618488"/>
            <a:ext cx="457200" cy="457200"/>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58952" y="1737360"/>
            <a:ext cx="219456" cy="219456"/>
          </a:xfrm>
          <a:prstGeom prst="rect">
            <a:avLst/>
          </a:prstGeom>
        </p:spPr>
      </p:pic>
      <p:sp>
        <p:nvSpPr>
          <p:cNvPr id="7" name="Text 4"/>
          <p:cNvSpPr txBox="1"/>
          <p:nvPr/>
        </p:nvSpPr>
        <p:spPr>
          <a:xfrm>
            <a:off x="640080" y="2194560"/>
            <a:ext cx="1476756" cy="6400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Two agents</a:t>
            </a:r>
            <a:endParaRPr lang="en-US" sz="1500" dirty="0"/>
          </a:p>
        </p:txBody>
      </p:sp>
      <p:sp>
        <p:nvSpPr>
          <p:cNvPr id="8" name="Text 5"/>
          <p:cNvSpPr txBox="1"/>
          <p:nvPr/>
        </p:nvSpPr>
        <p:spPr>
          <a:xfrm>
            <a:off x="640080" y="2834640"/>
            <a:ext cx="1476756" cy="71323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ResearchAgent bullets, WriterAgent one sentence</a:t>
            </a:r>
            <a:endParaRPr lang="en-US" sz="1200" dirty="0"/>
          </a:p>
        </p:txBody>
      </p:sp>
      <p:sp>
        <p:nvSpPr>
          <p:cNvPr id="9" name="Shape 6"/>
          <p:cNvSpPr/>
          <p:nvPr/>
        </p:nvSpPr>
        <p:spPr>
          <a:xfrm>
            <a:off x="2318004" y="2418588"/>
            <a:ext cx="219456" cy="219456"/>
          </a:xfrm>
          <a:prstGeom prst="rightArrow">
            <a:avLst/>
          </a:prstGeom>
          <a:solidFill>
            <a:srgbClr val="F5A623"/>
          </a:solidFill>
          <a:ln w="12700">
            <a:solidFill>
              <a:srgbClr val="F5A623"/>
            </a:solidFill>
            <a:prstDash val="solid"/>
          </a:ln>
        </p:spPr>
      </p:sp>
      <p:sp>
        <p:nvSpPr>
          <p:cNvPr id="10" name="Shape 7"/>
          <p:cNvSpPr/>
          <p:nvPr/>
        </p:nvSpPr>
        <p:spPr>
          <a:xfrm>
            <a:off x="2601468" y="1417320"/>
            <a:ext cx="1796796" cy="2221992"/>
          </a:xfrm>
          <a:prstGeom prst="roundRect">
            <a:avLst>
              <a:gd name="adj" fmla="val 4071"/>
            </a:avLst>
          </a:prstGeom>
          <a:solidFill>
            <a:srgbClr val="EFEBFC"/>
          </a:solidFill>
          <a:ln w="12700">
            <a:solidFill>
              <a:srgbClr val="EFEBFC"/>
            </a:solidFill>
            <a:prstDash val="solid"/>
          </a:ln>
        </p:spPr>
      </p:sp>
      <p:sp>
        <p:nvSpPr>
          <p:cNvPr id="11" name="Shape 8"/>
          <p:cNvSpPr/>
          <p:nvPr/>
        </p:nvSpPr>
        <p:spPr>
          <a:xfrm>
            <a:off x="2784348" y="1618488"/>
            <a:ext cx="457200" cy="457200"/>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2903220" y="1737360"/>
            <a:ext cx="219456" cy="219456"/>
          </a:xfrm>
          <a:prstGeom prst="rect">
            <a:avLst/>
          </a:prstGeom>
        </p:spPr>
      </p:pic>
      <p:sp>
        <p:nvSpPr>
          <p:cNvPr id="13" name="Text 9"/>
          <p:cNvSpPr txBox="1"/>
          <p:nvPr/>
        </p:nvSpPr>
        <p:spPr>
          <a:xfrm>
            <a:off x="2784348" y="2194560"/>
            <a:ext cx="1476756" cy="640080"/>
          </a:xfrm>
          <a:prstGeom prst="rect">
            <a:avLst/>
          </a:prstGeom>
          <a:noFill/>
          <a:ln/>
        </p:spPr>
        <p:txBody>
          <a:bodyPr wrap="square" lIns="0" tIns="0" rIns="0" bIns="0" rtlCol="0" anchor="t"/>
          <a:lstStyle/>
          <a:p>
            <a:pPr indent="0" marL="0">
              <a:buNone/>
            </a:pPr>
            <a:r>
              <a:rPr lang="en-US" sz="1250" b="1" dirty="0">
                <a:solidFill>
                  <a:srgbClr val="1F2937"/>
                </a:solidFill>
                <a:latin typeface="Calibri" pitchFamily="34" charset="0"/>
                <a:ea typeface="Calibri" pitchFamily="34" charset="-122"/>
                <a:cs typeface="Calibri" pitchFamily="34" charset="-120"/>
              </a:rPr>
              <a:t>BuildSequential</a:t>
            </a:r>
            <a:endParaRPr lang="en-US" sz="1250" dirty="0"/>
          </a:p>
        </p:txBody>
      </p:sp>
      <p:sp>
        <p:nvSpPr>
          <p:cNvPr id="14" name="Text 10"/>
          <p:cNvSpPr txBox="1"/>
          <p:nvPr/>
        </p:nvSpPr>
        <p:spPr>
          <a:xfrm>
            <a:off x="2784348" y="2834640"/>
            <a:ext cx="1476756" cy="71323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Lesson 12's pipeline: research, then write</a:t>
            </a:r>
            <a:endParaRPr lang="en-US" sz="1200" dirty="0"/>
          </a:p>
        </p:txBody>
      </p:sp>
      <p:sp>
        <p:nvSpPr>
          <p:cNvPr id="15" name="Shape 11"/>
          <p:cNvSpPr/>
          <p:nvPr/>
        </p:nvSpPr>
        <p:spPr>
          <a:xfrm>
            <a:off x="4462272" y="2418588"/>
            <a:ext cx="219456" cy="219456"/>
          </a:xfrm>
          <a:prstGeom prst="rightArrow">
            <a:avLst/>
          </a:prstGeom>
          <a:solidFill>
            <a:srgbClr val="F5A623"/>
          </a:solidFill>
          <a:ln w="12700">
            <a:solidFill>
              <a:srgbClr val="F5A623"/>
            </a:solidFill>
            <a:prstDash val="solid"/>
          </a:ln>
        </p:spPr>
      </p:sp>
      <p:sp>
        <p:nvSpPr>
          <p:cNvPr id="16" name="Shape 12"/>
          <p:cNvSpPr/>
          <p:nvPr/>
        </p:nvSpPr>
        <p:spPr>
          <a:xfrm>
            <a:off x="4745736" y="1417320"/>
            <a:ext cx="1796796" cy="2221992"/>
          </a:xfrm>
          <a:prstGeom prst="roundRect">
            <a:avLst>
              <a:gd name="adj" fmla="val 4071"/>
            </a:avLst>
          </a:prstGeom>
          <a:solidFill>
            <a:srgbClr val="512BD4"/>
          </a:solidFill>
          <a:ln w="12700">
            <a:solidFill>
              <a:srgbClr val="512BD4"/>
            </a:solidFill>
            <a:prstDash val="solid"/>
          </a:ln>
        </p:spPr>
      </p:sp>
      <p:sp>
        <p:nvSpPr>
          <p:cNvPr id="17" name="Shape 13"/>
          <p:cNvSpPr/>
          <p:nvPr/>
        </p:nvSpPr>
        <p:spPr>
          <a:xfrm>
            <a:off x="4928616" y="1618488"/>
            <a:ext cx="457200" cy="457200"/>
          </a:xfrm>
          <a:prstGeom prst="ellipse">
            <a:avLst/>
          </a:prstGeom>
          <a:solidFill>
            <a:srgbClr val="FFFFFF"/>
          </a:solidFill>
          <a:ln w="12700">
            <a:solidFill>
              <a:srgbClr val="FFFFFF"/>
            </a:solidFill>
            <a:prstDash val="solid"/>
          </a:ln>
        </p:spPr>
      </p:sp>
      <p:pic>
        <p:nvPicPr>
          <p:cNvPr id="18" name="Image 2" descr="preencoded.png">    </p:cNvPr>
          <p:cNvPicPr>
            <a:picLocks noChangeAspect="1"/>
          </p:cNvPicPr>
          <p:nvPr/>
        </p:nvPicPr>
        <p:blipFill>
          <a:blip r:embed="rId3"/>
          <a:stretch>
            <a:fillRect/>
          </a:stretch>
        </p:blipFill>
        <p:spPr>
          <a:xfrm>
            <a:off x="5047488" y="1737360"/>
            <a:ext cx="219456" cy="219456"/>
          </a:xfrm>
          <a:prstGeom prst="rect">
            <a:avLst/>
          </a:prstGeom>
        </p:spPr>
      </p:pic>
      <p:sp>
        <p:nvSpPr>
          <p:cNvPr id="19" name="Text 14"/>
          <p:cNvSpPr txBox="1"/>
          <p:nvPr/>
        </p:nvSpPr>
        <p:spPr>
          <a:xfrm>
            <a:off x="4928616" y="2194560"/>
            <a:ext cx="1476756" cy="64008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workflow.</a:t>
            </a:r>
            <a:endParaRPr lang="en-US" sz="1400" dirty="0"/>
          </a:p>
          <a:p>
            <a:pPr indent="0" marL="0">
              <a:buNone/>
            </a:pPr>
            <a:r>
              <a:rPr lang="en-US" sz="1400" b="1" dirty="0">
                <a:solidFill>
                  <a:srgbClr val="FFFFFF"/>
                </a:solidFill>
                <a:latin typeface="Calibri" pitchFamily="34" charset="0"/>
                <a:ea typeface="Calibri" pitchFamily="34" charset="-122"/>
                <a:cs typeface="Calibri" pitchFamily="34" charset="-120"/>
              </a:rPr>
              <a:t>AsAIAgent</a:t>
            </a:r>
            <a:endParaRPr lang="en-US" sz="1400" dirty="0"/>
          </a:p>
        </p:txBody>
      </p:sp>
      <p:sp>
        <p:nvSpPr>
          <p:cNvPr id="20" name="Text 15"/>
          <p:cNvSpPr txBox="1"/>
          <p:nvPr/>
        </p:nvSpPr>
        <p:spPr>
          <a:xfrm>
            <a:off x="4928616" y="2834640"/>
            <a:ext cx="1476756" cy="713232"/>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id, name, description: one AIAgent</a:t>
            </a:r>
            <a:endParaRPr lang="en-US" sz="1200" dirty="0"/>
          </a:p>
        </p:txBody>
      </p:sp>
      <p:sp>
        <p:nvSpPr>
          <p:cNvPr id="21" name="Shape 16"/>
          <p:cNvSpPr/>
          <p:nvPr/>
        </p:nvSpPr>
        <p:spPr>
          <a:xfrm>
            <a:off x="6606540" y="2418588"/>
            <a:ext cx="219456" cy="219456"/>
          </a:xfrm>
          <a:prstGeom prst="rightArrow">
            <a:avLst/>
          </a:prstGeom>
          <a:solidFill>
            <a:srgbClr val="F5A623"/>
          </a:solidFill>
          <a:ln w="12700">
            <a:solidFill>
              <a:srgbClr val="F5A623"/>
            </a:solidFill>
            <a:prstDash val="solid"/>
          </a:ln>
        </p:spPr>
      </p:sp>
      <p:sp>
        <p:nvSpPr>
          <p:cNvPr id="22" name="Shape 17"/>
          <p:cNvSpPr/>
          <p:nvPr/>
        </p:nvSpPr>
        <p:spPr>
          <a:xfrm>
            <a:off x="6890004" y="1417320"/>
            <a:ext cx="1796796" cy="2221992"/>
          </a:xfrm>
          <a:prstGeom prst="roundRect">
            <a:avLst>
              <a:gd name="adj" fmla="val 4071"/>
            </a:avLst>
          </a:prstGeom>
          <a:solidFill>
            <a:srgbClr val="EFEBFC"/>
          </a:solidFill>
          <a:ln w="12700">
            <a:solidFill>
              <a:srgbClr val="EFEBFC"/>
            </a:solidFill>
            <a:prstDash val="solid"/>
          </a:ln>
        </p:spPr>
      </p:sp>
      <p:sp>
        <p:nvSpPr>
          <p:cNvPr id="23" name="Shape 18"/>
          <p:cNvSpPr/>
          <p:nvPr/>
        </p:nvSpPr>
        <p:spPr>
          <a:xfrm>
            <a:off x="7072884" y="1618488"/>
            <a:ext cx="457200" cy="457200"/>
          </a:xfrm>
          <a:prstGeom prst="ellipse">
            <a:avLst/>
          </a:prstGeom>
          <a:solidFill>
            <a:srgbClr val="512BD4"/>
          </a:solidFill>
          <a:ln w="12700">
            <a:solidFill>
              <a:srgbClr val="512BD4"/>
            </a:solidFill>
            <a:prstDash val="solid"/>
          </a:ln>
        </p:spPr>
      </p:sp>
      <p:pic>
        <p:nvPicPr>
          <p:cNvPr id="24" name="Image 3" descr="preencoded.png">    </p:cNvPr>
          <p:cNvPicPr>
            <a:picLocks noChangeAspect="1"/>
          </p:cNvPicPr>
          <p:nvPr/>
        </p:nvPicPr>
        <p:blipFill>
          <a:blip r:embed="rId4"/>
          <a:stretch>
            <a:fillRect/>
          </a:stretch>
        </p:blipFill>
        <p:spPr>
          <a:xfrm>
            <a:off x="7191756" y="1737360"/>
            <a:ext cx="219456" cy="219456"/>
          </a:xfrm>
          <a:prstGeom prst="rect">
            <a:avLst/>
          </a:prstGeom>
        </p:spPr>
      </p:pic>
      <p:sp>
        <p:nvSpPr>
          <p:cNvPr id="25" name="Text 19"/>
          <p:cNvSpPr txBox="1"/>
          <p:nvPr/>
        </p:nvSpPr>
        <p:spPr>
          <a:xfrm>
            <a:off x="7072884" y="2194560"/>
            <a:ext cx="1476756" cy="640080"/>
          </a:xfrm>
          <a:prstGeom prst="rect">
            <a:avLst/>
          </a:prstGeom>
          <a:noFill/>
          <a:ln/>
        </p:spPr>
        <p:txBody>
          <a:bodyPr wrap="square" lIns="0" tIns="0" rIns="0" bIns="0" rtlCol="0" anchor="t"/>
          <a:lstStyle/>
          <a:p>
            <a:pPr indent="0" marL="0">
              <a:buNone/>
            </a:pPr>
            <a:r>
              <a:rPr lang="en-US" sz="1400" b="1" dirty="0">
                <a:solidFill>
                  <a:srgbClr val="1F2937"/>
                </a:solidFill>
                <a:latin typeface="Calibri" pitchFamily="34" charset="0"/>
                <a:ea typeface="Calibri" pitchFamily="34" charset="-122"/>
                <a:cs typeface="Calibri" pitchFamily="34" charset="-120"/>
              </a:rPr>
              <a:t>Any AIAgent host</a:t>
            </a:r>
            <a:endParaRPr lang="en-US" sz="1400" dirty="0"/>
          </a:p>
        </p:txBody>
      </p:sp>
      <p:sp>
        <p:nvSpPr>
          <p:cNvPr id="26" name="Text 20"/>
          <p:cNvSpPr txBox="1"/>
          <p:nvPr/>
        </p:nvSpPr>
        <p:spPr>
          <a:xfrm>
            <a:off x="7072884" y="2834640"/>
            <a:ext cx="1476756" cy="71323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Foundry Responses here, or Lesson 19's A2A</a:t>
            </a:r>
            <a:endParaRPr lang="en-US" sz="1200" dirty="0"/>
          </a:p>
        </p:txBody>
      </p:sp>
      <p:sp>
        <p:nvSpPr>
          <p:cNvPr id="27" name="Text 21"/>
          <p:cNvSpPr txBox="1"/>
          <p:nvPr/>
        </p:nvSpPr>
        <p:spPr>
          <a:xfrm>
            <a:off x="457200" y="3959352"/>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The start executor must accept chat messages. A sequential workflow starts with an agent.</a:t>
            </a:r>
            <a:endParaRPr lang="en-US" sz="1400" dirty="0"/>
          </a:p>
        </p:txBody>
      </p:sp>
      <p:sp>
        <p:nvSpPr>
          <p:cNvPr id="28" name="Text 22"/>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  Lesson 21 — Hosting and Deployment</a:t>
            </a:r>
            <a:endParaRPr lang="en-US" sz="900" dirty="0"/>
          </a:p>
        </p:txBody>
      </p:sp>
      <p:sp>
        <p:nvSpPr>
          <p:cNvPr id="29" name="Text 23"/>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Two calls are the hosting contract</a:t>
            </a:r>
            <a:endParaRPr lang="en-US" sz="2800" dirty="0"/>
          </a:p>
        </p:txBody>
      </p:sp>
      <p:sp>
        <p:nvSpPr>
          <p:cNvPr id="4" name="Shape 2"/>
          <p:cNvSpPr/>
          <p:nvPr/>
        </p:nvSpPr>
        <p:spPr>
          <a:xfrm>
            <a:off x="457200" y="1371600"/>
            <a:ext cx="3931920" cy="2103120"/>
          </a:xfrm>
          <a:prstGeom prst="roundRect">
            <a:avLst>
              <a:gd name="adj" fmla="val 3478"/>
            </a:avLst>
          </a:prstGeom>
          <a:solidFill>
            <a:srgbClr val="F6F4FE"/>
          </a:solidFill>
          <a:ln w="12700">
            <a:solidFill>
              <a:srgbClr val="F6F4FE"/>
            </a:solidFill>
            <a:prstDash val="solid"/>
          </a:ln>
        </p:spPr>
      </p:sp>
      <p:sp>
        <p:nvSpPr>
          <p:cNvPr id="5" name="Shape 3"/>
          <p:cNvSpPr/>
          <p:nvPr/>
        </p:nvSpPr>
        <p:spPr>
          <a:xfrm>
            <a:off x="685800" y="1600200"/>
            <a:ext cx="438912" cy="438912"/>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99917" y="1714317"/>
            <a:ext cx="210678" cy="210678"/>
          </a:xfrm>
          <a:prstGeom prst="rect">
            <a:avLst/>
          </a:prstGeom>
        </p:spPr>
      </p:pic>
      <p:sp>
        <p:nvSpPr>
          <p:cNvPr id="7" name="Text 4"/>
          <p:cNvSpPr txBox="1"/>
          <p:nvPr/>
        </p:nvSpPr>
        <p:spPr>
          <a:xfrm>
            <a:off x="126187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AddFoundryResponses(agent)</a:t>
            </a:r>
            <a:endParaRPr lang="en-US" sz="1700" dirty="0"/>
          </a:p>
        </p:txBody>
      </p:sp>
      <p:sp>
        <p:nvSpPr>
          <p:cNvPr id="8" name="Text 5"/>
          <p:cNvSpPr txBox="1"/>
          <p:nvPr/>
        </p:nvSpPr>
        <p:spPr>
          <a:xfrm>
            <a:off x="68580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Registers the Responses handler</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Plus the session store and</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workflow checkpointing</a:t>
            </a:r>
            <a:endParaRPr lang="en-US" sz="1300" dirty="0"/>
          </a:p>
        </p:txBody>
      </p:sp>
      <p:sp>
        <p:nvSpPr>
          <p:cNvPr id="9" name="Shape 6"/>
          <p:cNvSpPr/>
          <p:nvPr/>
        </p:nvSpPr>
        <p:spPr>
          <a:xfrm>
            <a:off x="4754880" y="1371600"/>
            <a:ext cx="3931920" cy="2103120"/>
          </a:xfrm>
          <a:prstGeom prst="roundRect">
            <a:avLst>
              <a:gd name="adj" fmla="val 3478"/>
            </a:avLst>
          </a:prstGeom>
          <a:solidFill>
            <a:srgbClr val="F6F4FE"/>
          </a:solidFill>
          <a:ln w="12700">
            <a:solidFill>
              <a:srgbClr val="F6F4FE"/>
            </a:solidFill>
            <a:prstDash val="solid"/>
          </a:ln>
        </p:spPr>
      </p:sp>
      <p:sp>
        <p:nvSpPr>
          <p:cNvPr id="10" name="Shape 7"/>
          <p:cNvSpPr/>
          <p:nvPr/>
        </p:nvSpPr>
        <p:spPr>
          <a:xfrm>
            <a:off x="4983480" y="1600200"/>
            <a:ext cx="438912" cy="438912"/>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5097597" y="1714317"/>
            <a:ext cx="210678" cy="210678"/>
          </a:xfrm>
          <a:prstGeom prst="rect">
            <a:avLst/>
          </a:prstGeom>
        </p:spPr>
      </p:pic>
      <p:sp>
        <p:nvSpPr>
          <p:cNvPr id="12" name="Text 8"/>
          <p:cNvSpPr txBox="1"/>
          <p:nvPr/>
        </p:nvSpPr>
        <p:spPr>
          <a:xfrm>
            <a:off x="555955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MapFoundryResponses()</a:t>
            </a:r>
            <a:endParaRPr lang="en-US" sz="1700" dirty="0"/>
          </a:p>
        </p:txBody>
      </p:sp>
      <p:sp>
        <p:nvSpPr>
          <p:cNvPr id="13" name="Text 9"/>
          <p:cNvSpPr txBox="1"/>
          <p:nvPr/>
        </p:nvSpPr>
        <p:spPr>
          <a:xfrm>
            <a:off x="498348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POST /responses for every call</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GET /readiness, the health probe</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Foundry checks before routing</a:t>
            </a:r>
            <a:endParaRPr lang="en-US" sz="1300" dirty="0"/>
          </a:p>
        </p:txBody>
      </p:sp>
      <p:sp>
        <p:nvSpPr>
          <p:cNvPr id="14" name="Text 10"/>
          <p:cNvSpPr txBox="1"/>
          <p:nvPr/>
        </p:nvSpPr>
        <p:spPr>
          <a:xfrm>
            <a:off x="457200" y="374904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The same two calls on your laptop and in Foundry. No Azure types appear.</a:t>
            </a:r>
            <a:endParaRPr lang="en-US" sz="1400" dirty="0"/>
          </a:p>
        </p:txBody>
      </p:sp>
      <p:sp>
        <p:nvSpPr>
          <p:cNvPr id="15" name="Text 11"/>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  Lesson 21 — Hosting and Deployment</a:t>
            </a:r>
            <a:endParaRPr lang="en-US" sz="900" dirty="0"/>
          </a:p>
        </p:txBody>
      </p:sp>
      <p:sp>
        <p:nvSpPr>
          <p:cNvPr id="16" name="Text 12"/>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Responses: an OpenAI-compatible surface</a:t>
            </a:r>
            <a:endParaRPr lang="en-US" sz="2800" dirty="0"/>
          </a:p>
        </p:txBody>
      </p:sp>
      <p:sp>
        <p:nvSpPr>
          <p:cNvPr id="4" name="Shape 2"/>
          <p:cNvSpPr/>
          <p:nvPr/>
        </p:nvSpPr>
        <p:spPr>
          <a:xfrm>
            <a:off x="457200" y="1417320"/>
            <a:ext cx="2468880" cy="2377440"/>
          </a:xfrm>
          <a:prstGeom prst="roundRect">
            <a:avLst>
              <a:gd name="adj" fmla="val 3077"/>
            </a:avLst>
          </a:prstGeom>
          <a:solidFill>
            <a:srgbClr val="512BD4"/>
          </a:solidFill>
          <a:ln w="12700">
            <a:solidFill>
              <a:srgbClr val="512BD4"/>
            </a:solidFill>
            <a:prstDash val="solid"/>
          </a:ln>
        </p:spPr>
      </p:sp>
      <p:sp>
        <p:nvSpPr>
          <p:cNvPr id="5" name="Shape 3"/>
          <p:cNvSpPr/>
          <p:nvPr/>
        </p:nvSpPr>
        <p:spPr>
          <a:xfrm>
            <a:off x="685800" y="1645920"/>
            <a:ext cx="502920" cy="50292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816559" y="1776679"/>
            <a:ext cx="241402" cy="241402"/>
          </a:xfrm>
          <a:prstGeom prst="rect">
            <a:avLst/>
          </a:prstGeom>
        </p:spPr>
      </p:pic>
      <p:sp>
        <p:nvSpPr>
          <p:cNvPr id="7" name="Text 4"/>
          <p:cNvSpPr txBox="1"/>
          <p:nvPr/>
        </p:nvSpPr>
        <p:spPr>
          <a:xfrm>
            <a:off x="685800" y="2286000"/>
            <a:ext cx="2057400" cy="45720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POST /responses</a:t>
            </a:r>
            <a:endParaRPr lang="en-US" sz="1800" dirty="0"/>
          </a:p>
        </p:txBody>
      </p:sp>
      <p:sp>
        <p:nvSpPr>
          <p:cNvPr id="8" name="Text 5"/>
          <p:cNvSpPr txBox="1"/>
          <p:nvPr/>
        </p:nvSpPr>
        <p:spPr>
          <a:xfrm>
            <a:off x="685800" y="2743200"/>
            <a:ext cx="2057400" cy="9601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Send {"input": "..."}. Get an id, an agent_session_id and an output array.</a:t>
            </a:r>
            <a:endParaRPr lang="en-US" sz="1300" dirty="0"/>
          </a:p>
        </p:txBody>
      </p:sp>
      <p:sp>
        <p:nvSpPr>
          <p:cNvPr id="9" name="Shape 6"/>
          <p:cNvSpPr/>
          <p:nvPr/>
        </p:nvSpPr>
        <p:spPr>
          <a:xfrm>
            <a:off x="2926080" y="1752600"/>
            <a:ext cx="502920" cy="0"/>
          </a:xfrm>
          <a:prstGeom prst="line">
            <a:avLst/>
          </a:prstGeom>
          <a:noFill/>
          <a:ln w="25400">
            <a:solidFill>
              <a:srgbClr val="F5A623"/>
            </a:solidFill>
            <a:prstDash val="solid"/>
          </a:ln>
        </p:spPr>
      </p:sp>
      <p:sp>
        <p:nvSpPr>
          <p:cNvPr id="10" name="Shape 7"/>
          <p:cNvSpPr/>
          <p:nvPr/>
        </p:nvSpPr>
        <p:spPr>
          <a:xfrm>
            <a:off x="3429000" y="1417320"/>
            <a:ext cx="5257800" cy="670560"/>
          </a:xfrm>
          <a:prstGeom prst="roundRect">
            <a:avLst>
              <a:gd name="adj" fmla="val 10909"/>
            </a:avLst>
          </a:prstGeom>
          <a:solidFill>
            <a:srgbClr val="EFEBFC"/>
          </a:solidFill>
          <a:ln w="12700">
            <a:solidFill>
              <a:srgbClr val="EFEBFC"/>
            </a:solidFill>
            <a:prstDash val="solid"/>
          </a:ln>
        </p:spPr>
      </p:sp>
      <p:sp>
        <p:nvSpPr>
          <p:cNvPr id="11" name="Shape 8"/>
          <p:cNvSpPr/>
          <p:nvPr/>
        </p:nvSpPr>
        <p:spPr>
          <a:xfrm>
            <a:off x="3593592" y="1560576"/>
            <a:ext cx="384048" cy="384048"/>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3693444" y="1660428"/>
            <a:ext cx="184343" cy="184343"/>
          </a:xfrm>
          <a:prstGeom prst="rect">
            <a:avLst/>
          </a:prstGeom>
        </p:spPr>
      </p:pic>
      <p:sp>
        <p:nvSpPr>
          <p:cNvPr id="13" name="Text 9"/>
          <p:cNvSpPr txBox="1"/>
          <p:nvPr/>
        </p:nvSpPr>
        <p:spPr>
          <a:xfrm>
            <a:off x="4142232" y="1508760"/>
            <a:ext cx="1325880" cy="4876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Output items</a:t>
            </a:r>
            <a:endParaRPr lang="en-US" sz="1500" dirty="0"/>
          </a:p>
        </p:txBody>
      </p:sp>
      <p:sp>
        <p:nvSpPr>
          <p:cNvPr id="14" name="Text 10"/>
          <p:cNvSpPr txBox="1"/>
          <p:nvPr/>
        </p:nvSpPr>
        <p:spPr>
          <a:xfrm>
            <a:off x="5577840" y="1508760"/>
            <a:ext cx="2971800" cy="4876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A message per agent, plus workflow_action items</a:t>
            </a:r>
            <a:endParaRPr lang="en-US" sz="1200" dirty="0"/>
          </a:p>
        </p:txBody>
      </p:sp>
      <p:sp>
        <p:nvSpPr>
          <p:cNvPr id="15" name="Shape 11"/>
          <p:cNvSpPr/>
          <p:nvPr/>
        </p:nvSpPr>
        <p:spPr>
          <a:xfrm>
            <a:off x="2926080" y="2606040"/>
            <a:ext cx="502920" cy="0"/>
          </a:xfrm>
          <a:prstGeom prst="line">
            <a:avLst/>
          </a:prstGeom>
          <a:noFill/>
          <a:ln w="25400">
            <a:solidFill>
              <a:srgbClr val="F5A623"/>
            </a:solidFill>
            <a:prstDash val="solid"/>
          </a:ln>
        </p:spPr>
      </p:sp>
      <p:sp>
        <p:nvSpPr>
          <p:cNvPr id="16" name="Shape 12"/>
          <p:cNvSpPr/>
          <p:nvPr/>
        </p:nvSpPr>
        <p:spPr>
          <a:xfrm>
            <a:off x="3429000" y="2270760"/>
            <a:ext cx="5257800" cy="670560"/>
          </a:xfrm>
          <a:prstGeom prst="roundRect">
            <a:avLst>
              <a:gd name="adj" fmla="val 10909"/>
            </a:avLst>
          </a:prstGeom>
          <a:solidFill>
            <a:srgbClr val="EFEBFC"/>
          </a:solidFill>
          <a:ln w="12700">
            <a:solidFill>
              <a:srgbClr val="EFEBFC"/>
            </a:solidFill>
            <a:prstDash val="solid"/>
          </a:ln>
        </p:spPr>
      </p:sp>
      <p:sp>
        <p:nvSpPr>
          <p:cNvPr id="17" name="Shape 13"/>
          <p:cNvSpPr/>
          <p:nvPr/>
        </p:nvSpPr>
        <p:spPr>
          <a:xfrm>
            <a:off x="3593592" y="2414016"/>
            <a:ext cx="384048" cy="384048"/>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3693444" y="2513868"/>
            <a:ext cx="184343" cy="184343"/>
          </a:xfrm>
          <a:prstGeom prst="rect">
            <a:avLst/>
          </a:prstGeom>
        </p:spPr>
      </p:pic>
      <p:sp>
        <p:nvSpPr>
          <p:cNvPr id="19" name="Text 14"/>
          <p:cNvSpPr txBox="1"/>
          <p:nvPr/>
        </p:nvSpPr>
        <p:spPr>
          <a:xfrm>
            <a:off x="4142232" y="2362200"/>
            <a:ext cx="1325880" cy="4876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"stream": true</a:t>
            </a:r>
            <a:endParaRPr lang="en-US" sz="1500" dirty="0"/>
          </a:p>
        </p:txBody>
      </p:sp>
      <p:sp>
        <p:nvSpPr>
          <p:cNvPr id="20" name="Text 15"/>
          <p:cNvSpPr txBox="1"/>
          <p:nvPr/>
        </p:nvSpPr>
        <p:spPr>
          <a:xfrm>
            <a:off x="5577840" y="2362200"/>
            <a:ext cx="2971800" cy="4876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SSE from response.created to response.completed</a:t>
            </a:r>
            <a:endParaRPr lang="en-US" sz="1200" dirty="0"/>
          </a:p>
        </p:txBody>
      </p:sp>
      <p:sp>
        <p:nvSpPr>
          <p:cNvPr id="21" name="Shape 16"/>
          <p:cNvSpPr/>
          <p:nvPr/>
        </p:nvSpPr>
        <p:spPr>
          <a:xfrm>
            <a:off x="2926080" y="3459480"/>
            <a:ext cx="502920" cy="0"/>
          </a:xfrm>
          <a:prstGeom prst="line">
            <a:avLst/>
          </a:prstGeom>
          <a:noFill/>
          <a:ln w="25400">
            <a:solidFill>
              <a:srgbClr val="F5A623"/>
            </a:solidFill>
            <a:prstDash val="solid"/>
          </a:ln>
        </p:spPr>
      </p:sp>
      <p:sp>
        <p:nvSpPr>
          <p:cNvPr id="22" name="Shape 17"/>
          <p:cNvSpPr/>
          <p:nvPr/>
        </p:nvSpPr>
        <p:spPr>
          <a:xfrm>
            <a:off x="3429000" y="3124200"/>
            <a:ext cx="5257800" cy="670560"/>
          </a:xfrm>
          <a:prstGeom prst="roundRect">
            <a:avLst>
              <a:gd name="adj" fmla="val 10909"/>
            </a:avLst>
          </a:prstGeom>
          <a:solidFill>
            <a:srgbClr val="EFEBFC"/>
          </a:solidFill>
          <a:ln w="12700">
            <a:solidFill>
              <a:srgbClr val="EFEBFC"/>
            </a:solidFill>
            <a:prstDash val="solid"/>
          </a:ln>
        </p:spPr>
      </p:sp>
      <p:sp>
        <p:nvSpPr>
          <p:cNvPr id="23" name="Shape 18"/>
          <p:cNvSpPr/>
          <p:nvPr/>
        </p:nvSpPr>
        <p:spPr>
          <a:xfrm>
            <a:off x="3593592" y="3267456"/>
            <a:ext cx="384048" cy="384048"/>
          </a:xfrm>
          <a:prstGeom prst="ellipse">
            <a:avLst/>
          </a:prstGeom>
          <a:solidFill>
            <a:srgbClr val="512BD4"/>
          </a:solidFill>
          <a:ln w="12700">
            <a:solidFill>
              <a:srgbClr val="512BD4"/>
            </a:solidFill>
            <a:prstDash val="solid"/>
          </a:ln>
        </p:spPr>
      </p:sp>
      <p:pic>
        <p:nvPicPr>
          <p:cNvPr id="24" name="Image 3" descr="preencoded.png">    </p:cNvPr>
          <p:cNvPicPr>
            <a:picLocks noChangeAspect="1"/>
          </p:cNvPicPr>
          <p:nvPr/>
        </p:nvPicPr>
        <p:blipFill>
          <a:blip r:embed="rId4"/>
          <a:stretch>
            <a:fillRect/>
          </a:stretch>
        </p:blipFill>
        <p:spPr>
          <a:xfrm>
            <a:off x="3693444" y="3367308"/>
            <a:ext cx="184343" cy="184343"/>
          </a:xfrm>
          <a:prstGeom prst="rect">
            <a:avLst/>
          </a:prstGeom>
        </p:spPr>
      </p:pic>
      <p:sp>
        <p:nvSpPr>
          <p:cNvPr id="25" name="Text 19"/>
          <p:cNvSpPr txBox="1"/>
          <p:nvPr/>
        </p:nvSpPr>
        <p:spPr>
          <a:xfrm>
            <a:off x="4142232" y="3215640"/>
            <a:ext cx="1325880" cy="4876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Multi-turn</a:t>
            </a:r>
            <a:endParaRPr lang="en-US" sz="1500" dirty="0"/>
          </a:p>
        </p:txBody>
      </p:sp>
      <p:sp>
        <p:nvSpPr>
          <p:cNvPr id="26" name="Text 20"/>
          <p:cNvSpPr txBox="1"/>
          <p:nvPr/>
        </p:nvSpPr>
        <p:spPr>
          <a:xfrm>
            <a:off x="5577840" y="3215640"/>
            <a:ext cx="2971800" cy="4876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previous_response_id keeps the agent_session_id</a:t>
            </a:r>
            <a:endParaRPr lang="en-US" sz="1200" dirty="0"/>
          </a:p>
        </p:txBody>
      </p:sp>
      <p:sp>
        <p:nvSpPr>
          <p:cNvPr id="27" name="Text 21"/>
          <p:cNvSpPr txBox="1"/>
          <p:nvPr/>
        </p:nvSpPr>
        <p:spPr>
          <a:xfrm>
            <a:off x="457200" y="411480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Turn two asks 'What language do people speak there?' and both agents see turn one.</a:t>
            </a:r>
            <a:endParaRPr lang="en-US" sz="1400" dirty="0"/>
          </a:p>
        </p:txBody>
      </p:sp>
      <p:sp>
        <p:nvSpPr>
          <p:cNvPr id="28" name="Text 22"/>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  Lesson 21 — Hosting and Deployment</a:t>
            </a:r>
            <a:endParaRPr lang="en-US" sz="900" dirty="0"/>
          </a:p>
        </p:txBody>
      </p:sp>
      <p:sp>
        <p:nvSpPr>
          <p:cNvPr id="29" name="Text 23"/>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The host keeps the state for you</a:t>
            </a:r>
            <a:endParaRPr lang="en-US" sz="2800" dirty="0"/>
          </a:p>
        </p:txBody>
      </p:sp>
      <p:sp>
        <p:nvSpPr>
          <p:cNvPr id="4" name="Shape 2"/>
          <p:cNvSpPr/>
          <p:nvPr/>
        </p:nvSpPr>
        <p:spPr>
          <a:xfrm>
            <a:off x="457200" y="1371600"/>
            <a:ext cx="3931920" cy="2606040"/>
          </a:xfrm>
          <a:prstGeom prst="roundRect">
            <a:avLst>
              <a:gd name="adj" fmla="val 2807"/>
            </a:avLst>
          </a:prstGeom>
          <a:solidFill>
            <a:srgbClr val="EFEBFC"/>
          </a:solidFill>
          <a:ln w="12700">
            <a:solidFill>
              <a:srgbClr val="EFEBFC"/>
            </a:solidFill>
            <a:prstDash val="solid"/>
          </a:ln>
        </p:spPr>
      </p:sp>
      <p:sp>
        <p:nvSpPr>
          <p:cNvPr id="5" name="Shape 3"/>
          <p:cNvSpPr/>
          <p:nvPr/>
        </p:nvSpPr>
        <p:spPr>
          <a:xfrm>
            <a:off x="685800" y="1600200"/>
            <a:ext cx="438912" cy="438912"/>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99917" y="1714317"/>
            <a:ext cx="210678" cy="210678"/>
          </a:xfrm>
          <a:prstGeom prst="rect">
            <a:avLst/>
          </a:prstGeom>
        </p:spPr>
      </p:pic>
      <p:sp>
        <p:nvSpPr>
          <p:cNvPr id="7" name="Text 4"/>
          <p:cNvSpPr txBox="1"/>
          <p:nvPr/>
        </p:nvSpPr>
        <p:spPr>
          <a:xfrm>
            <a:off x="126187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Running locally</a:t>
            </a:r>
            <a:endParaRPr lang="en-US" sz="1700" dirty="0"/>
          </a:p>
        </p:txBody>
      </p:sp>
      <p:sp>
        <p:nvSpPr>
          <p:cNvPr id="8" name="Text 5"/>
          <p:cNvSpPr txBox="1"/>
          <p:nvPr/>
        </p:nvSpPr>
        <p:spPr>
          <a:xfrm>
            <a:off x="685800" y="2194560"/>
            <a:ext cx="3474720" cy="64008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JSON files under</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%USERPROFILE%\.agentserver</a:t>
            </a:r>
            <a:endParaRPr lang="en-US" sz="1300" dirty="0"/>
          </a:p>
        </p:txBody>
      </p:sp>
      <p:sp>
        <p:nvSpPr>
          <p:cNvPr id="9" name="Shape 6"/>
          <p:cNvSpPr/>
          <p:nvPr/>
        </p:nvSpPr>
        <p:spPr>
          <a:xfrm>
            <a:off x="685800" y="2907792"/>
            <a:ext cx="3474720" cy="868680"/>
          </a:xfrm>
          <a:prstGeom prst="roundRect">
            <a:avLst>
              <a:gd name="adj" fmla="val 8421"/>
            </a:avLst>
          </a:prstGeom>
          <a:solidFill>
            <a:srgbClr val="0F1420"/>
          </a:solidFill>
          <a:ln w="12700">
            <a:solidFill>
              <a:srgbClr val="0F1420"/>
            </a:solidFill>
            <a:prstDash val="solid"/>
          </a:ln>
        </p:spPr>
      </p:sp>
      <p:sp>
        <p:nvSpPr>
          <p:cNvPr id="10" name="Text 7"/>
          <p:cNvSpPr txBox="1"/>
          <p:nvPr/>
        </p:nvSpPr>
        <p:spPr>
          <a:xfrm>
            <a:off x="868680" y="3044952"/>
            <a:ext cx="3108960" cy="594360"/>
          </a:xfrm>
          <a:prstGeom prst="rect">
            <a:avLst/>
          </a:prstGeom>
          <a:noFill/>
          <a:ln/>
        </p:spPr>
        <p:txBody>
          <a:bodyPr wrap="square" lIns="0" tIns="0" rIns="0" bIns="0" rtlCol="0" anchor="t"/>
          <a:lstStyle/>
          <a:p>
            <a:pPr indent="0" marL="0">
              <a:buNone/>
            </a:pPr>
            <a:r>
              <a:rPr lang="en-US" sz="1100" dirty="0">
                <a:solidFill>
                  <a:srgbClr val="D7E3F4"/>
                </a:solidFill>
                <a:latin typeface="Courier New" pitchFamily="34" charset="0"/>
                <a:ea typeface="Courier New" pitchFamily="34" charset="-122"/>
                <a:cs typeface="Courier New" pitchFamily="34" charset="-120"/>
              </a:rPr>
              <a:t>hosted=False</a:t>
            </a:r>
            <a:endParaRPr lang="en-US" sz="1100" dirty="0"/>
          </a:p>
          <a:p>
            <a:pPr indent="0" marL="0">
              <a:buNone/>
            </a:pPr>
            <a:r>
              <a:rPr lang="en-US" sz="1100" dirty="0">
                <a:solidFill>
                  <a:srgbClr val="D7E3F4"/>
                </a:solidFill>
                <a:latin typeface="Courier New" pitchFamily="34" charset="0"/>
                <a:ea typeface="Courier New" pitchFamily="34" charset="-122"/>
                <a:cs typeface="Courier New" pitchFamily="34" charset="-120"/>
              </a:rPr>
              <a:t>StorageProvider=</a:t>
            </a:r>
            <a:endParaRPr lang="en-US" sz="1100" dirty="0"/>
          </a:p>
          <a:p>
            <a:pPr indent="0" marL="0">
              <a:buNone/>
            </a:pPr>
            <a:r>
              <a:rPr lang="en-US" sz="1100" dirty="0">
                <a:solidFill>
                  <a:srgbClr val="9FE6B8"/>
                </a:solidFill>
                <a:latin typeface="Courier New" pitchFamily="34" charset="0"/>
                <a:ea typeface="Courier New" pitchFamily="34" charset="-122"/>
                <a:cs typeface="Courier New" pitchFamily="34" charset="-120"/>
              </a:rPr>
              <a:t>  FileResponsesProvider</a:t>
            </a:r>
            <a:endParaRPr lang="en-US" sz="1100" dirty="0"/>
          </a:p>
        </p:txBody>
      </p:sp>
      <p:sp>
        <p:nvSpPr>
          <p:cNvPr id="11" name="Shape 8"/>
          <p:cNvSpPr/>
          <p:nvPr/>
        </p:nvSpPr>
        <p:spPr>
          <a:xfrm>
            <a:off x="4754880" y="1371600"/>
            <a:ext cx="3931920" cy="2606040"/>
          </a:xfrm>
          <a:prstGeom prst="roundRect">
            <a:avLst>
              <a:gd name="adj" fmla="val 2807"/>
            </a:avLst>
          </a:prstGeom>
          <a:solidFill>
            <a:srgbClr val="F6F4FE"/>
          </a:solidFill>
          <a:ln w="12700">
            <a:solidFill>
              <a:srgbClr val="F6F4FE"/>
            </a:solidFill>
            <a:prstDash val="solid"/>
          </a:ln>
        </p:spPr>
      </p:sp>
      <p:sp>
        <p:nvSpPr>
          <p:cNvPr id="12" name="Shape 9"/>
          <p:cNvSpPr/>
          <p:nvPr/>
        </p:nvSpPr>
        <p:spPr>
          <a:xfrm>
            <a:off x="4983480" y="1600200"/>
            <a:ext cx="438912" cy="438912"/>
          </a:xfrm>
          <a:prstGeom prst="ellipse">
            <a:avLst/>
          </a:prstGeom>
          <a:solidFill>
            <a:srgbClr val="512BD4"/>
          </a:solidFill>
          <a:ln w="12700">
            <a:solidFill>
              <a:srgbClr val="512BD4"/>
            </a:solidFill>
            <a:prstDash val="solid"/>
          </a:ln>
        </p:spPr>
      </p:sp>
      <p:pic>
        <p:nvPicPr>
          <p:cNvPr id="13" name="Image 1" descr="preencoded.png">    </p:cNvPr>
          <p:cNvPicPr>
            <a:picLocks noChangeAspect="1"/>
          </p:cNvPicPr>
          <p:nvPr/>
        </p:nvPicPr>
        <p:blipFill>
          <a:blip r:embed="rId2"/>
          <a:stretch>
            <a:fillRect/>
          </a:stretch>
        </p:blipFill>
        <p:spPr>
          <a:xfrm>
            <a:off x="5097597" y="1714317"/>
            <a:ext cx="210678" cy="210678"/>
          </a:xfrm>
          <a:prstGeom prst="rect">
            <a:avLst/>
          </a:prstGeom>
        </p:spPr>
      </p:pic>
      <p:sp>
        <p:nvSpPr>
          <p:cNvPr id="14" name="Text 10"/>
          <p:cNvSpPr txBox="1"/>
          <p:nvPr/>
        </p:nvSpPr>
        <p:spPr>
          <a:xfrm>
            <a:off x="555955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Deployed to Foundry</a:t>
            </a:r>
            <a:endParaRPr lang="en-US" sz="1700" dirty="0"/>
          </a:p>
        </p:txBody>
      </p:sp>
      <p:sp>
        <p:nvSpPr>
          <p:cNvPr id="15" name="Text 11"/>
          <p:cNvSpPr txBox="1"/>
          <p:nvPr/>
        </p:nvSpPr>
        <p:spPr>
          <a:xfrm>
            <a:off x="498348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Foundry's durable state store</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Kept across turns, idle periods</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and restarts</a:t>
            </a:r>
            <a:endParaRPr lang="en-US" sz="1300" dirty="0"/>
          </a:p>
        </p:txBody>
      </p:sp>
      <p:sp>
        <p:nvSpPr>
          <p:cNvPr id="16" name="Text 12"/>
          <p:cNvSpPr txBox="1"/>
          <p:nvPr/>
        </p:nvSpPr>
        <p:spPr>
          <a:xfrm>
            <a:off x="457200" y="425196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Checkpointed automatically: no Lesson 18 CheckpointManager setup needed.</a:t>
            </a:r>
            <a:endParaRPr lang="en-US" sz="1400" dirty="0"/>
          </a:p>
        </p:txBody>
      </p:sp>
      <p:sp>
        <p:nvSpPr>
          <p:cNvPr id="17" name="Text 13"/>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  Lesson 21 — Hosting and Deployment</a:t>
            </a:r>
            <a:endParaRPr lang="en-US" sz="900" dirty="0"/>
          </a:p>
        </p:txBody>
      </p:sp>
      <p:sp>
        <p:nvSpPr>
          <p:cNvPr id="18" name="Text 14"/>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Same code, two hosting models</a:t>
            </a:r>
            <a:endParaRPr lang="en-US" sz="2800" dirty="0"/>
          </a:p>
        </p:txBody>
      </p:sp>
      <p:sp>
        <p:nvSpPr>
          <p:cNvPr id="4" name="Shape 2"/>
          <p:cNvSpPr/>
          <p:nvPr/>
        </p:nvSpPr>
        <p:spPr>
          <a:xfrm>
            <a:off x="457200" y="1371600"/>
            <a:ext cx="2560320" cy="1394460"/>
          </a:xfrm>
          <a:prstGeom prst="roundRect">
            <a:avLst>
              <a:gd name="adj" fmla="val 5246"/>
            </a:avLst>
          </a:prstGeom>
          <a:solidFill>
            <a:srgbClr val="EFEBFC"/>
          </a:solidFill>
          <a:ln w="12700">
            <a:solidFill>
              <a:srgbClr val="EFEBFC"/>
            </a:solidFill>
            <a:prstDash val="solid"/>
          </a:ln>
        </p:spPr>
      </p:sp>
      <p:sp>
        <p:nvSpPr>
          <p:cNvPr id="5" name="Shape 3"/>
          <p:cNvSpPr/>
          <p:nvPr/>
        </p:nvSpPr>
        <p:spPr>
          <a:xfrm>
            <a:off x="640080" y="1554480"/>
            <a:ext cx="384048" cy="384048"/>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39932" y="1654332"/>
            <a:ext cx="184343" cy="184343"/>
          </a:xfrm>
          <a:prstGeom prst="rect">
            <a:avLst/>
          </a:prstGeom>
        </p:spPr>
      </p:pic>
      <p:sp>
        <p:nvSpPr>
          <p:cNvPr id="7" name="Text 4"/>
          <p:cNvSpPr txBox="1"/>
          <p:nvPr/>
        </p:nvSpPr>
        <p:spPr>
          <a:xfrm>
            <a:off x="1143000" y="1554480"/>
            <a:ext cx="173736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Where it runs</a:t>
            </a:r>
            <a:endParaRPr lang="en-US" sz="1400" dirty="0"/>
          </a:p>
        </p:txBody>
      </p:sp>
      <p:sp>
        <p:nvSpPr>
          <p:cNvPr id="8" name="Text 5"/>
          <p:cNvSpPr txBox="1"/>
          <p:nvPr/>
        </p:nvSpPr>
        <p:spPr>
          <a:xfrm>
            <a:off x="640080" y="2057400"/>
            <a:ext cx="219456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Self: anywhere you like</a:t>
            </a:r>
            <a:endParaRPr lang="en-US" sz="1200" dirty="0"/>
          </a:p>
          <a:p>
            <a:pPr indent="0" marL="0">
              <a:buNone/>
            </a:pPr>
            <a:r>
              <a:rPr lang="en-US" sz="1200" dirty="0">
                <a:solidFill>
                  <a:srgbClr val="6B7280"/>
                </a:solidFill>
                <a:latin typeface="Calibri" pitchFamily="34" charset="0"/>
                <a:ea typeface="Calibri" pitchFamily="34" charset="-122"/>
                <a:cs typeface="Calibri" pitchFamily="34" charset="-120"/>
              </a:rPr>
              <a:t>Foundry: a managed container</a:t>
            </a:r>
            <a:endParaRPr lang="en-US" sz="1200" dirty="0"/>
          </a:p>
        </p:txBody>
      </p:sp>
      <p:sp>
        <p:nvSpPr>
          <p:cNvPr id="9" name="Shape 6"/>
          <p:cNvSpPr/>
          <p:nvPr/>
        </p:nvSpPr>
        <p:spPr>
          <a:xfrm>
            <a:off x="3291840" y="1371600"/>
            <a:ext cx="2560320" cy="1394460"/>
          </a:xfrm>
          <a:prstGeom prst="roundRect">
            <a:avLst>
              <a:gd name="adj" fmla="val 5246"/>
            </a:avLst>
          </a:prstGeom>
          <a:solidFill>
            <a:srgbClr val="EFEBFC"/>
          </a:solidFill>
          <a:ln w="12700">
            <a:solidFill>
              <a:srgbClr val="EFEBFC"/>
            </a:solidFill>
            <a:prstDash val="solid"/>
          </a:ln>
        </p:spPr>
      </p:sp>
      <p:sp>
        <p:nvSpPr>
          <p:cNvPr id="10" name="Shape 7"/>
          <p:cNvSpPr/>
          <p:nvPr/>
        </p:nvSpPr>
        <p:spPr>
          <a:xfrm>
            <a:off x="3474720" y="155448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3574572" y="1654332"/>
            <a:ext cx="184343" cy="184343"/>
          </a:xfrm>
          <a:prstGeom prst="rect">
            <a:avLst/>
          </a:prstGeom>
        </p:spPr>
      </p:pic>
      <p:sp>
        <p:nvSpPr>
          <p:cNvPr id="12" name="Text 8"/>
          <p:cNvSpPr txBox="1"/>
          <p:nvPr/>
        </p:nvSpPr>
        <p:spPr>
          <a:xfrm>
            <a:off x="3977640" y="1554480"/>
            <a:ext cx="1737360" cy="384048"/>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Protocol</a:t>
            </a:r>
            <a:endParaRPr lang="en-US" sz="1500" dirty="0"/>
          </a:p>
        </p:txBody>
      </p:sp>
      <p:sp>
        <p:nvSpPr>
          <p:cNvPr id="13" name="Text 9"/>
          <p:cNvSpPr txBox="1"/>
          <p:nvPr/>
        </p:nvSpPr>
        <p:spPr>
          <a:xfrm>
            <a:off x="3474720" y="2057400"/>
            <a:ext cx="219456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Self: Responses, A2A or both</a:t>
            </a:r>
            <a:endParaRPr lang="en-US" sz="1200" dirty="0"/>
          </a:p>
          <a:p>
            <a:pPr indent="0" marL="0">
              <a:buNone/>
            </a:pPr>
            <a:r>
              <a:rPr lang="en-US" sz="1200" dirty="0">
                <a:solidFill>
                  <a:srgbClr val="6B7280"/>
                </a:solidFill>
                <a:latin typeface="Calibri" pitchFamily="34" charset="0"/>
                <a:ea typeface="Calibri" pitchFamily="34" charset="-122"/>
                <a:cs typeface="Calibri" pitchFamily="34" charset="-120"/>
              </a:rPr>
              <a:t>Foundry: Responses or Invocations</a:t>
            </a:r>
            <a:endParaRPr lang="en-US" sz="1200" dirty="0"/>
          </a:p>
        </p:txBody>
      </p:sp>
      <p:sp>
        <p:nvSpPr>
          <p:cNvPr id="14" name="Shape 10"/>
          <p:cNvSpPr/>
          <p:nvPr/>
        </p:nvSpPr>
        <p:spPr>
          <a:xfrm>
            <a:off x="6126480" y="1371600"/>
            <a:ext cx="2560320" cy="1394460"/>
          </a:xfrm>
          <a:prstGeom prst="roundRect">
            <a:avLst>
              <a:gd name="adj" fmla="val 5246"/>
            </a:avLst>
          </a:prstGeom>
          <a:solidFill>
            <a:srgbClr val="EFEBFC"/>
          </a:solidFill>
          <a:ln w="12700">
            <a:solidFill>
              <a:srgbClr val="EFEBFC"/>
            </a:solidFill>
            <a:prstDash val="solid"/>
          </a:ln>
        </p:spPr>
      </p:sp>
      <p:sp>
        <p:nvSpPr>
          <p:cNvPr id="15" name="Shape 11"/>
          <p:cNvSpPr/>
          <p:nvPr/>
        </p:nvSpPr>
        <p:spPr>
          <a:xfrm>
            <a:off x="6309360" y="1554480"/>
            <a:ext cx="384048" cy="384048"/>
          </a:xfrm>
          <a:prstGeom prst="ellipse">
            <a:avLst/>
          </a:prstGeom>
          <a:solidFill>
            <a:srgbClr val="512BD4"/>
          </a:solidFill>
          <a:ln w="12700">
            <a:solidFill>
              <a:srgbClr val="512BD4"/>
            </a:solidFill>
            <a:prstDash val="solid"/>
          </a:ln>
        </p:spPr>
      </p:sp>
      <p:pic>
        <p:nvPicPr>
          <p:cNvPr id="16" name="Image 2" descr="preencoded.png">    </p:cNvPr>
          <p:cNvPicPr>
            <a:picLocks noChangeAspect="1"/>
          </p:cNvPicPr>
          <p:nvPr/>
        </p:nvPicPr>
        <p:blipFill>
          <a:blip r:embed="rId3"/>
          <a:stretch>
            <a:fillRect/>
          </a:stretch>
        </p:blipFill>
        <p:spPr>
          <a:xfrm>
            <a:off x="6409212" y="1654332"/>
            <a:ext cx="184343" cy="184343"/>
          </a:xfrm>
          <a:prstGeom prst="rect">
            <a:avLst/>
          </a:prstGeom>
        </p:spPr>
      </p:pic>
      <p:sp>
        <p:nvSpPr>
          <p:cNvPr id="17" name="Text 12"/>
          <p:cNvSpPr txBox="1"/>
          <p:nvPr/>
        </p:nvSpPr>
        <p:spPr>
          <a:xfrm>
            <a:off x="6812280" y="1554480"/>
            <a:ext cx="1737360" cy="384048"/>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State</a:t>
            </a:r>
            <a:endParaRPr lang="en-US" sz="1500" dirty="0"/>
          </a:p>
        </p:txBody>
      </p:sp>
      <p:sp>
        <p:nvSpPr>
          <p:cNvPr id="18" name="Text 13"/>
          <p:cNvSpPr txBox="1"/>
          <p:nvPr/>
        </p:nvSpPr>
        <p:spPr>
          <a:xfrm>
            <a:off x="6309360" y="2057400"/>
            <a:ext cx="219456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Self: local files or your store</a:t>
            </a:r>
            <a:endParaRPr lang="en-US" sz="1200" dirty="0"/>
          </a:p>
          <a:p>
            <a:pPr indent="0" marL="0">
              <a:buNone/>
            </a:pPr>
            <a:r>
              <a:rPr lang="en-US" sz="1200" dirty="0">
                <a:solidFill>
                  <a:srgbClr val="6B7280"/>
                </a:solidFill>
                <a:latin typeface="Calibri" pitchFamily="34" charset="0"/>
                <a:ea typeface="Calibri" pitchFamily="34" charset="-122"/>
                <a:cs typeface="Calibri" pitchFamily="34" charset="-120"/>
              </a:rPr>
              <a:t>Foundry: durable state store</a:t>
            </a:r>
            <a:endParaRPr lang="en-US" sz="1200" dirty="0"/>
          </a:p>
        </p:txBody>
      </p:sp>
      <p:sp>
        <p:nvSpPr>
          <p:cNvPr id="19" name="Shape 14"/>
          <p:cNvSpPr/>
          <p:nvPr/>
        </p:nvSpPr>
        <p:spPr>
          <a:xfrm>
            <a:off x="457200" y="2994660"/>
            <a:ext cx="2560320" cy="1394460"/>
          </a:xfrm>
          <a:prstGeom prst="roundRect">
            <a:avLst>
              <a:gd name="adj" fmla="val 5246"/>
            </a:avLst>
          </a:prstGeom>
          <a:solidFill>
            <a:srgbClr val="EFEBFC"/>
          </a:solidFill>
          <a:ln w="12700">
            <a:solidFill>
              <a:srgbClr val="EFEBFC"/>
            </a:solidFill>
            <a:prstDash val="solid"/>
          </a:ln>
        </p:spPr>
      </p:sp>
      <p:sp>
        <p:nvSpPr>
          <p:cNvPr id="20" name="Shape 15"/>
          <p:cNvSpPr/>
          <p:nvPr/>
        </p:nvSpPr>
        <p:spPr>
          <a:xfrm>
            <a:off x="640080" y="3177540"/>
            <a:ext cx="384048" cy="384048"/>
          </a:xfrm>
          <a:prstGeom prst="ellipse">
            <a:avLst/>
          </a:prstGeom>
          <a:solidFill>
            <a:srgbClr val="512BD4"/>
          </a:solidFill>
          <a:ln w="12700">
            <a:solidFill>
              <a:srgbClr val="512BD4"/>
            </a:solidFill>
            <a:prstDash val="solid"/>
          </a:ln>
        </p:spPr>
      </p:sp>
      <p:pic>
        <p:nvPicPr>
          <p:cNvPr id="21" name="Image 3" descr="preencoded.png">    </p:cNvPr>
          <p:cNvPicPr>
            <a:picLocks noChangeAspect="1"/>
          </p:cNvPicPr>
          <p:nvPr/>
        </p:nvPicPr>
        <p:blipFill>
          <a:blip r:embed="rId4"/>
          <a:stretch>
            <a:fillRect/>
          </a:stretch>
        </p:blipFill>
        <p:spPr>
          <a:xfrm>
            <a:off x="739932" y="3277392"/>
            <a:ext cx="184343" cy="184343"/>
          </a:xfrm>
          <a:prstGeom prst="rect">
            <a:avLst/>
          </a:prstGeom>
        </p:spPr>
      </p:pic>
      <p:sp>
        <p:nvSpPr>
          <p:cNvPr id="22" name="Text 16"/>
          <p:cNvSpPr txBox="1"/>
          <p:nvPr/>
        </p:nvSpPr>
        <p:spPr>
          <a:xfrm>
            <a:off x="1143000" y="3177540"/>
            <a:ext cx="1737360" cy="384048"/>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Identity</a:t>
            </a:r>
            <a:endParaRPr lang="en-US" sz="1500" dirty="0"/>
          </a:p>
        </p:txBody>
      </p:sp>
      <p:sp>
        <p:nvSpPr>
          <p:cNvPr id="23" name="Text 17"/>
          <p:cNvSpPr txBox="1"/>
          <p:nvPr/>
        </p:nvSpPr>
        <p:spPr>
          <a:xfrm>
            <a:off x="640080" y="3680460"/>
            <a:ext cx="219456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Self: whatever you wire up</a:t>
            </a:r>
            <a:endParaRPr lang="en-US" sz="1200" dirty="0"/>
          </a:p>
          <a:p>
            <a:pPr indent="0" marL="0">
              <a:buNone/>
            </a:pPr>
            <a:r>
              <a:rPr lang="en-US" sz="1200" dirty="0">
                <a:solidFill>
                  <a:srgbClr val="6B7280"/>
                </a:solidFill>
                <a:latin typeface="Calibri" pitchFamily="34" charset="0"/>
                <a:ea typeface="Calibri" pitchFamily="34" charset="-122"/>
                <a:cs typeface="Calibri" pitchFamily="34" charset="-120"/>
              </a:rPr>
              <a:t>Foundry: its own Entra identity</a:t>
            </a:r>
            <a:endParaRPr lang="en-US" sz="1200" dirty="0"/>
          </a:p>
        </p:txBody>
      </p:sp>
      <p:sp>
        <p:nvSpPr>
          <p:cNvPr id="24" name="Shape 18"/>
          <p:cNvSpPr/>
          <p:nvPr/>
        </p:nvSpPr>
        <p:spPr>
          <a:xfrm>
            <a:off x="3291840" y="2994660"/>
            <a:ext cx="2560320" cy="1394460"/>
          </a:xfrm>
          <a:prstGeom prst="roundRect">
            <a:avLst>
              <a:gd name="adj" fmla="val 5246"/>
            </a:avLst>
          </a:prstGeom>
          <a:solidFill>
            <a:srgbClr val="EFEBFC"/>
          </a:solidFill>
          <a:ln w="12700">
            <a:solidFill>
              <a:srgbClr val="EFEBFC"/>
            </a:solidFill>
            <a:prstDash val="solid"/>
          </a:ln>
        </p:spPr>
      </p:sp>
      <p:sp>
        <p:nvSpPr>
          <p:cNvPr id="25" name="Shape 19"/>
          <p:cNvSpPr/>
          <p:nvPr/>
        </p:nvSpPr>
        <p:spPr>
          <a:xfrm>
            <a:off x="3474720" y="3177540"/>
            <a:ext cx="384048" cy="384048"/>
          </a:xfrm>
          <a:prstGeom prst="ellipse">
            <a:avLst/>
          </a:prstGeom>
          <a:solidFill>
            <a:srgbClr val="512BD4"/>
          </a:solidFill>
          <a:ln w="12700">
            <a:solidFill>
              <a:srgbClr val="512BD4"/>
            </a:solidFill>
            <a:prstDash val="solid"/>
          </a:ln>
        </p:spPr>
      </p:sp>
      <p:pic>
        <p:nvPicPr>
          <p:cNvPr id="26" name="Image 4" descr="preencoded.png">    </p:cNvPr>
          <p:cNvPicPr>
            <a:picLocks noChangeAspect="1"/>
          </p:cNvPicPr>
          <p:nvPr/>
        </p:nvPicPr>
        <p:blipFill>
          <a:blip r:embed="rId5"/>
          <a:stretch>
            <a:fillRect/>
          </a:stretch>
        </p:blipFill>
        <p:spPr>
          <a:xfrm>
            <a:off x="3574572" y="3277392"/>
            <a:ext cx="184343" cy="184343"/>
          </a:xfrm>
          <a:prstGeom prst="rect">
            <a:avLst/>
          </a:prstGeom>
        </p:spPr>
      </p:pic>
      <p:sp>
        <p:nvSpPr>
          <p:cNvPr id="27" name="Text 20"/>
          <p:cNvSpPr txBox="1"/>
          <p:nvPr/>
        </p:nvSpPr>
        <p:spPr>
          <a:xfrm>
            <a:off x="3977640" y="3177540"/>
            <a:ext cx="1737360" cy="384048"/>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Versioning</a:t>
            </a:r>
            <a:endParaRPr lang="en-US" sz="1500" dirty="0"/>
          </a:p>
        </p:txBody>
      </p:sp>
      <p:sp>
        <p:nvSpPr>
          <p:cNvPr id="28" name="Text 21"/>
          <p:cNvSpPr txBox="1"/>
          <p:nvPr/>
        </p:nvSpPr>
        <p:spPr>
          <a:xfrm>
            <a:off x="3474720" y="3680460"/>
            <a:ext cx="219456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Self: your job</a:t>
            </a:r>
            <a:endParaRPr lang="en-US" sz="1200" dirty="0"/>
          </a:p>
          <a:p>
            <a:pPr indent="0" marL="0">
              <a:buNone/>
            </a:pPr>
            <a:r>
              <a:rPr lang="en-US" sz="1200" dirty="0">
                <a:solidFill>
                  <a:srgbClr val="6B7280"/>
                </a:solidFill>
                <a:latin typeface="Calibri" pitchFamily="34" charset="0"/>
                <a:ea typeface="Calibri" pitchFamily="34" charset="-122"/>
                <a:cs typeface="Calibri" pitchFamily="34" charset="-120"/>
              </a:rPr>
              <a:t>Foundry: immutable versions, traffic split</a:t>
            </a:r>
            <a:endParaRPr lang="en-US" sz="1200" dirty="0"/>
          </a:p>
        </p:txBody>
      </p:sp>
      <p:sp>
        <p:nvSpPr>
          <p:cNvPr id="29" name="Shape 22"/>
          <p:cNvSpPr/>
          <p:nvPr/>
        </p:nvSpPr>
        <p:spPr>
          <a:xfrm>
            <a:off x="6126480" y="2994660"/>
            <a:ext cx="2560320" cy="1394460"/>
          </a:xfrm>
          <a:prstGeom prst="roundRect">
            <a:avLst>
              <a:gd name="adj" fmla="val 5246"/>
            </a:avLst>
          </a:prstGeom>
          <a:solidFill>
            <a:srgbClr val="EFEBFC"/>
          </a:solidFill>
          <a:ln w="12700">
            <a:solidFill>
              <a:srgbClr val="EFEBFC"/>
            </a:solidFill>
            <a:prstDash val="solid"/>
          </a:ln>
        </p:spPr>
      </p:sp>
      <p:sp>
        <p:nvSpPr>
          <p:cNvPr id="30" name="Shape 23"/>
          <p:cNvSpPr/>
          <p:nvPr/>
        </p:nvSpPr>
        <p:spPr>
          <a:xfrm>
            <a:off x="6309360" y="3177540"/>
            <a:ext cx="384048" cy="384048"/>
          </a:xfrm>
          <a:prstGeom prst="ellipse">
            <a:avLst/>
          </a:prstGeom>
          <a:solidFill>
            <a:srgbClr val="512BD4"/>
          </a:solidFill>
          <a:ln w="12700">
            <a:solidFill>
              <a:srgbClr val="512BD4"/>
            </a:solidFill>
            <a:prstDash val="solid"/>
          </a:ln>
        </p:spPr>
      </p:sp>
      <p:pic>
        <p:nvPicPr>
          <p:cNvPr id="31" name="Image 5" descr="preencoded.png">    </p:cNvPr>
          <p:cNvPicPr>
            <a:picLocks noChangeAspect="1"/>
          </p:cNvPicPr>
          <p:nvPr/>
        </p:nvPicPr>
        <p:blipFill>
          <a:blip r:embed="rId6"/>
          <a:stretch>
            <a:fillRect/>
          </a:stretch>
        </p:blipFill>
        <p:spPr>
          <a:xfrm>
            <a:off x="6409212" y="3277392"/>
            <a:ext cx="184343" cy="184343"/>
          </a:xfrm>
          <a:prstGeom prst="rect">
            <a:avLst/>
          </a:prstGeom>
        </p:spPr>
      </p:pic>
      <p:sp>
        <p:nvSpPr>
          <p:cNvPr id="32" name="Text 24"/>
          <p:cNvSpPr txBox="1"/>
          <p:nvPr/>
        </p:nvSpPr>
        <p:spPr>
          <a:xfrm>
            <a:off x="6812280" y="3177540"/>
            <a:ext cx="1737360" cy="384048"/>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Telemetry</a:t>
            </a:r>
            <a:endParaRPr lang="en-US" sz="1500" dirty="0"/>
          </a:p>
        </p:txBody>
      </p:sp>
      <p:sp>
        <p:nvSpPr>
          <p:cNvPr id="33" name="Text 25"/>
          <p:cNvSpPr txBox="1"/>
          <p:nvPr/>
        </p:nvSpPr>
        <p:spPr>
          <a:xfrm>
            <a:off x="6309360" y="3680460"/>
            <a:ext cx="219456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Self: your exporter</a:t>
            </a:r>
            <a:endParaRPr lang="en-US" sz="1200" dirty="0"/>
          </a:p>
          <a:p>
            <a:pPr indent="0" marL="0">
              <a:buNone/>
            </a:pPr>
            <a:r>
              <a:rPr lang="en-US" sz="1200" dirty="0">
                <a:solidFill>
                  <a:srgbClr val="6B7280"/>
                </a:solidFill>
                <a:latin typeface="Calibri" pitchFamily="34" charset="0"/>
                <a:ea typeface="Calibri" pitchFamily="34" charset="-122"/>
                <a:cs typeface="Calibri" pitchFamily="34" charset="-120"/>
              </a:rPr>
              <a:t>Foundry: Application Insights</a:t>
            </a:r>
            <a:endParaRPr lang="en-US" sz="1200" dirty="0"/>
          </a:p>
        </p:txBody>
      </p:sp>
      <p:sp>
        <p:nvSpPr>
          <p:cNvPr id="34" name="Text 26"/>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  Lesson 21 — Hosting and Deployment</a:t>
            </a:r>
            <a:endParaRPr lang="en-US" sz="900" dirty="0"/>
          </a:p>
        </p:txBody>
      </p:sp>
      <p:sp>
        <p:nvSpPr>
          <p:cNvPr id="35" name="Text 27"/>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Deploying to Foundry (described, not run)</a:t>
            </a:r>
            <a:endParaRPr lang="en-US" sz="2800" dirty="0"/>
          </a:p>
        </p:txBody>
      </p:sp>
      <p:sp>
        <p:nvSpPr>
          <p:cNvPr id="4" name="Shape 2"/>
          <p:cNvSpPr/>
          <p:nvPr/>
        </p:nvSpPr>
        <p:spPr>
          <a:xfrm>
            <a:off x="457200" y="1417320"/>
            <a:ext cx="1796796" cy="2414016"/>
          </a:xfrm>
          <a:prstGeom prst="roundRect">
            <a:avLst>
              <a:gd name="adj" fmla="val 4071"/>
            </a:avLst>
          </a:prstGeom>
          <a:solidFill>
            <a:srgbClr val="EFEBFC"/>
          </a:solidFill>
          <a:ln w="12700">
            <a:solidFill>
              <a:srgbClr val="EFEBFC"/>
            </a:solidFill>
            <a:prstDash val="solid"/>
          </a:ln>
        </p:spPr>
      </p:sp>
      <p:sp>
        <p:nvSpPr>
          <p:cNvPr id="5" name="Shape 3"/>
          <p:cNvSpPr/>
          <p:nvPr/>
        </p:nvSpPr>
        <p:spPr>
          <a:xfrm>
            <a:off x="640080" y="1618488"/>
            <a:ext cx="457200" cy="457200"/>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58952" y="1737360"/>
            <a:ext cx="219456" cy="219456"/>
          </a:xfrm>
          <a:prstGeom prst="rect">
            <a:avLst/>
          </a:prstGeom>
        </p:spPr>
      </p:pic>
      <p:sp>
        <p:nvSpPr>
          <p:cNvPr id="7" name="Text 4"/>
          <p:cNvSpPr txBox="1"/>
          <p:nvPr/>
        </p:nvSpPr>
        <p:spPr>
          <a:xfrm>
            <a:off x="640080" y="2194560"/>
            <a:ext cx="1476756" cy="640080"/>
          </a:xfrm>
          <a:prstGeom prst="rect">
            <a:avLst/>
          </a:prstGeom>
          <a:noFill/>
          <a:ln/>
        </p:spPr>
        <p:txBody>
          <a:bodyPr wrap="square" lIns="0" tIns="0" rIns="0" bIns="0" rtlCol="0" anchor="t"/>
          <a:lstStyle/>
          <a:p>
            <a:pPr indent="0" marL="0">
              <a:buNone/>
            </a:pPr>
            <a:r>
              <a:rPr lang="en-US" sz="1400" b="1" dirty="0">
                <a:solidFill>
                  <a:srgbClr val="1F2937"/>
                </a:solidFill>
                <a:latin typeface="Calibri" pitchFamily="34" charset="0"/>
                <a:ea typeface="Calibri" pitchFamily="34" charset="-122"/>
                <a:cs typeface="Calibri" pitchFamily="34" charset="-120"/>
              </a:rPr>
              <a:t>azd provision</a:t>
            </a:r>
            <a:endParaRPr lang="en-US" sz="1400" dirty="0"/>
          </a:p>
        </p:txBody>
      </p:sp>
      <p:sp>
        <p:nvSpPr>
          <p:cNvPr id="8" name="Text 5"/>
          <p:cNvSpPr txBox="1"/>
          <p:nvPr/>
        </p:nvSpPr>
        <p:spPr>
          <a:xfrm>
            <a:off x="640080" y="2834640"/>
            <a:ext cx="1476756" cy="905256"/>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Foundry project, model deployment, App Insights, registry</a:t>
            </a:r>
            <a:endParaRPr lang="en-US" sz="1200" dirty="0"/>
          </a:p>
        </p:txBody>
      </p:sp>
      <p:sp>
        <p:nvSpPr>
          <p:cNvPr id="9" name="Shape 6"/>
          <p:cNvSpPr/>
          <p:nvPr/>
        </p:nvSpPr>
        <p:spPr>
          <a:xfrm>
            <a:off x="2318004" y="2514600"/>
            <a:ext cx="219456" cy="219456"/>
          </a:xfrm>
          <a:prstGeom prst="rightArrow">
            <a:avLst/>
          </a:prstGeom>
          <a:solidFill>
            <a:srgbClr val="F5A623"/>
          </a:solidFill>
          <a:ln w="12700">
            <a:solidFill>
              <a:srgbClr val="F5A623"/>
            </a:solidFill>
            <a:prstDash val="solid"/>
          </a:ln>
        </p:spPr>
      </p:sp>
      <p:sp>
        <p:nvSpPr>
          <p:cNvPr id="10" name="Shape 7"/>
          <p:cNvSpPr/>
          <p:nvPr/>
        </p:nvSpPr>
        <p:spPr>
          <a:xfrm>
            <a:off x="2601468" y="1417320"/>
            <a:ext cx="1796796" cy="2414016"/>
          </a:xfrm>
          <a:prstGeom prst="roundRect">
            <a:avLst>
              <a:gd name="adj" fmla="val 4071"/>
            </a:avLst>
          </a:prstGeom>
          <a:solidFill>
            <a:srgbClr val="EFEBFC"/>
          </a:solidFill>
          <a:ln w="12700">
            <a:solidFill>
              <a:srgbClr val="EFEBFC"/>
            </a:solidFill>
            <a:prstDash val="solid"/>
          </a:ln>
        </p:spPr>
      </p:sp>
      <p:sp>
        <p:nvSpPr>
          <p:cNvPr id="11" name="Shape 8"/>
          <p:cNvSpPr/>
          <p:nvPr/>
        </p:nvSpPr>
        <p:spPr>
          <a:xfrm>
            <a:off x="2784348" y="1618488"/>
            <a:ext cx="457200" cy="457200"/>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2903220" y="1737360"/>
            <a:ext cx="219456" cy="219456"/>
          </a:xfrm>
          <a:prstGeom prst="rect">
            <a:avLst/>
          </a:prstGeom>
        </p:spPr>
      </p:pic>
      <p:sp>
        <p:nvSpPr>
          <p:cNvPr id="13" name="Text 9"/>
          <p:cNvSpPr txBox="1"/>
          <p:nvPr/>
        </p:nvSpPr>
        <p:spPr>
          <a:xfrm>
            <a:off x="2784348" y="2194560"/>
            <a:ext cx="1476756" cy="640080"/>
          </a:xfrm>
          <a:prstGeom prst="rect">
            <a:avLst/>
          </a:prstGeom>
          <a:noFill/>
          <a:ln/>
        </p:spPr>
        <p:txBody>
          <a:bodyPr wrap="square" lIns="0" tIns="0" rIns="0" bIns="0" rtlCol="0" anchor="t"/>
          <a:lstStyle/>
          <a:p>
            <a:pPr indent="0" marL="0">
              <a:buNone/>
            </a:pPr>
            <a:r>
              <a:rPr lang="en-US" sz="1400" b="1" dirty="0">
                <a:solidFill>
                  <a:srgbClr val="1F2937"/>
                </a:solidFill>
                <a:latin typeface="Calibri" pitchFamily="34" charset="0"/>
                <a:ea typeface="Calibri" pitchFamily="34" charset="-122"/>
                <a:cs typeface="Calibri" pitchFamily="34" charset="-120"/>
              </a:rPr>
              <a:t>azd deploy</a:t>
            </a:r>
            <a:endParaRPr lang="en-US" sz="1400" dirty="0"/>
          </a:p>
        </p:txBody>
      </p:sp>
      <p:sp>
        <p:nvSpPr>
          <p:cNvPr id="14" name="Text 10"/>
          <p:cNvSpPr txBox="1"/>
          <p:nvPr/>
        </p:nvSpPr>
        <p:spPr>
          <a:xfrm>
            <a:off x="2784348" y="2834640"/>
            <a:ext cx="1476756" cy="905256"/>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Builds this project as a container and pushes it</a:t>
            </a:r>
            <a:endParaRPr lang="en-US" sz="1200" dirty="0"/>
          </a:p>
        </p:txBody>
      </p:sp>
      <p:sp>
        <p:nvSpPr>
          <p:cNvPr id="15" name="Shape 11"/>
          <p:cNvSpPr/>
          <p:nvPr/>
        </p:nvSpPr>
        <p:spPr>
          <a:xfrm>
            <a:off x="4462272" y="2514600"/>
            <a:ext cx="219456" cy="219456"/>
          </a:xfrm>
          <a:prstGeom prst="rightArrow">
            <a:avLst/>
          </a:prstGeom>
          <a:solidFill>
            <a:srgbClr val="F5A623"/>
          </a:solidFill>
          <a:ln w="12700">
            <a:solidFill>
              <a:srgbClr val="F5A623"/>
            </a:solidFill>
            <a:prstDash val="solid"/>
          </a:ln>
        </p:spPr>
      </p:sp>
      <p:sp>
        <p:nvSpPr>
          <p:cNvPr id="16" name="Shape 12"/>
          <p:cNvSpPr/>
          <p:nvPr/>
        </p:nvSpPr>
        <p:spPr>
          <a:xfrm>
            <a:off x="4745736" y="1417320"/>
            <a:ext cx="1796796" cy="2414016"/>
          </a:xfrm>
          <a:prstGeom prst="roundRect">
            <a:avLst>
              <a:gd name="adj" fmla="val 4071"/>
            </a:avLst>
          </a:prstGeom>
          <a:solidFill>
            <a:srgbClr val="EFEBFC"/>
          </a:solidFill>
          <a:ln w="12700">
            <a:solidFill>
              <a:srgbClr val="EFEBFC"/>
            </a:solidFill>
            <a:prstDash val="solid"/>
          </a:ln>
        </p:spPr>
      </p:sp>
      <p:sp>
        <p:nvSpPr>
          <p:cNvPr id="17" name="Shape 13"/>
          <p:cNvSpPr/>
          <p:nvPr/>
        </p:nvSpPr>
        <p:spPr>
          <a:xfrm>
            <a:off x="4928616" y="1618488"/>
            <a:ext cx="457200" cy="457200"/>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5047488" y="1737360"/>
            <a:ext cx="219456" cy="219456"/>
          </a:xfrm>
          <a:prstGeom prst="rect">
            <a:avLst/>
          </a:prstGeom>
        </p:spPr>
      </p:pic>
      <p:sp>
        <p:nvSpPr>
          <p:cNvPr id="19" name="Text 14"/>
          <p:cNvSpPr txBox="1"/>
          <p:nvPr/>
        </p:nvSpPr>
        <p:spPr>
          <a:xfrm>
            <a:off x="4928616" y="2194560"/>
            <a:ext cx="1476756" cy="6400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Agent Service</a:t>
            </a:r>
            <a:endParaRPr lang="en-US" sz="1500" dirty="0"/>
          </a:p>
        </p:txBody>
      </p:sp>
      <p:sp>
        <p:nvSpPr>
          <p:cNvPr id="20" name="Text 15"/>
          <p:cNvSpPr txBox="1"/>
          <p:nvPr/>
        </p:nvSpPr>
        <p:spPr>
          <a:xfrm>
            <a:off x="4928616" y="2834640"/>
            <a:ext cx="1476756" cy="905256"/>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Runs it as a Foundry Hosted Agent</a:t>
            </a:r>
            <a:endParaRPr lang="en-US" sz="1200" dirty="0"/>
          </a:p>
        </p:txBody>
      </p:sp>
      <p:sp>
        <p:nvSpPr>
          <p:cNvPr id="21" name="Shape 16"/>
          <p:cNvSpPr/>
          <p:nvPr/>
        </p:nvSpPr>
        <p:spPr>
          <a:xfrm>
            <a:off x="6606540" y="2514600"/>
            <a:ext cx="219456" cy="219456"/>
          </a:xfrm>
          <a:prstGeom prst="rightArrow">
            <a:avLst/>
          </a:prstGeom>
          <a:solidFill>
            <a:srgbClr val="F5A623"/>
          </a:solidFill>
          <a:ln w="12700">
            <a:solidFill>
              <a:srgbClr val="F5A623"/>
            </a:solidFill>
            <a:prstDash val="solid"/>
          </a:ln>
        </p:spPr>
      </p:sp>
      <p:sp>
        <p:nvSpPr>
          <p:cNvPr id="22" name="Shape 17"/>
          <p:cNvSpPr/>
          <p:nvPr/>
        </p:nvSpPr>
        <p:spPr>
          <a:xfrm>
            <a:off x="6890004" y="1417320"/>
            <a:ext cx="1796796" cy="2414016"/>
          </a:xfrm>
          <a:prstGeom prst="roundRect">
            <a:avLst>
              <a:gd name="adj" fmla="val 4071"/>
            </a:avLst>
          </a:prstGeom>
          <a:solidFill>
            <a:srgbClr val="512BD4"/>
          </a:solidFill>
          <a:ln w="12700">
            <a:solidFill>
              <a:srgbClr val="512BD4"/>
            </a:solidFill>
            <a:prstDash val="solid"/>
          </a:ln>
        </p:spPr>
      </p:sp>
      <p:sp>
        <p:nvSpPr>
          <p:cNvPr id="23" name="Shape 18"/>
          <p:cNvSpPr/>
          <p:nvPr/>
        </p:nvSpPr>
        <p:spPr>
          <a:xfrm>
            <a:off x="7072884" y="1618488"/>
            <a:ext cx="457200" cy="457200"/>
          </a:xfrm>
          <a:prstGeom prst="ellipse">
            <a:avLst/>
          </a:prstGeom>
          <a:solidFill>
            <a:srgbClr val="FFFFFF"/>
          </a:solidFill>
          <a:ln w="12700">
            <a:solidFill>
              <a:srgbClr val="FFFFFF"/>
            </a:solidFill>
            <a:prstDash val="solid"/>
          </a:ln>
        </p:spPr>
      </p:sp>
      <p:pic>
        <p:nvPicPr>
          <p:cNvPr id="24" name="Image 3" descr="preencoded.png">    </p:cNvPr>
          <p:cNvPicPr>
            <a:picLocks noChangeAspect="1"/>
          </p:cNvPicPr>
          <p:nvPr/>
        </p:nvPicPr>
        <p:blipFill>
          <a:blip r:embed="rId4"/>
          <a:stretch>
            <a:fillRect/>
          </a:stretch>
        </p:blipFill>
        <p:spPr>
          <a:xfrm>
            <a:off x="7191756" y="1737360"/>
            <a:ext cx="219456" cy="219456"/>
          </a:xfrm>
          <a:prstGeom prst="rect">
            <a:avLst/>
          </a:prstGeom>
        </p:spPr>
      </p:pic>
      <p:sp>
        <p:nvSpPr>
          <p:cNvPr id="25" name="Text 19"/>
          <p:cNvSpPr txBox="1"/>
          <p:nvPr/>
        </p:nvSpPr>
        <p:spPr>
          <a:xfrm>
            <a:off x="7072884" y="2194560"/>
            <a:ext cx="1476756" cy="64008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Injected settings</a:t>
            </a:r>
            <a:endParaRPr lang="en-US" sz="1400" dirty="0"/>
          </a:p>
        </p:txBody>
      </p:sp>
      <p:sp>
        <p:nvSpPr>
          <p:cNvPr id="26" name="Text 20"/>
          <p:cNvSpPr txBox="1"/>
          <p:nvPr/>
        </p:nvSpPr>
        <p:spPr>
          <a:xfrm>
            <a:off x="7072884" y="2834640"/>
            <a:ext cx="1476756" cy="905256"/>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Project endpoint, model deployment, App Insights</a:t>
            </a:r>
            <a:endParaRPr lang="en-US" sz="1200" dirty="0"/>
          </a:p>
        </p:txBody>
      </p:sp>
      <p:sp>
        <p:nvSpPr>
          <p:cNvPr id="27" name="Text 21"/>
          <p:cNvSpPr txBox="1"/>
          <p:nvPr/>
        </p:nvSpPr>
        <p:spPr>
          <a:xfrm>
            <a:off x="457200" y="4151376"/>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azd ai agent run tests the same container locally, on port 8088.</a:t>
            </a:r>
            <a:endParaRPr lang="en-US" sz="1400" dirty="0"/>
          </a:p>
        </p:txBody>
      </p:sp>
      <p:sp>
        <p:nvSpPr>
          <p:cNvPr id="28" name="Text 22"/>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  Lesson 21 — Hosting and Deployment</a:t>
            </a:r>
            <a:endParaRPr lang="en-US" sz="900" dirty="0"/>
          </a:p>
        </p:txBody>
      </p:sp>
      <p:sp>
        <p:nvSpPr>
          <p:cNvPr id="29" name="Text 23"/>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EXPECTED OUTPUT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A self-hosted Responses endpoint</a:t>
            </a:r>
            <a:endParaRPr lang="en-US" sz="2800" dirty="0"/>
          </a:p>
        </p:txBody>
      </p:sp>
      <p:sp>
        <p:nvSpPr>
          <p:cNvPr id="4" name="Shape 2"/>
          <p:cNvSpPr/>
          <p:nvPr/>
        </p:nvSpPr>
        <p:spPr>
          <a:xfrm>
            <a:off x="457200" y="1325880"/>
            <a:ext cx="5257800" cy="2087880"/>
          </a:xfrm>
          <a:prstGeom prst="roundRect">
            <a:avLst>
              <a:gd name="adj" fmla="val 3504"/>
            </a:avLst>
          </a:prstGeom>
          <a:solidFill>
            <a:srgbClr val="0F1420"/>
          </a:solidFill>
          <a:ln w="12700">
            <a:solidFill>
              <a:srgbClr val="0F1420"/>
            </a:solidFill>
            <a:prstDash val="solid"/>
          </a:ln>
        </p:spPr>
      </p:sp>
      <p:sp>
        <p:nvSpPr>
          <p:cNvPr id="5" name="Text 3"/>
          <p:cNvSpPr txBox="1"/>
          <p:nvPr/>
        </p:nvSpPr>
        <p:spPr>
          <a:xfrm>
            <a:off x="640080" y="1463040"/>
            <a:ext cx="4892040" cy="1813560"/>
          </a:xfrm>
          <a:prstGeom prst="rect">
            <a:avLst/>
          </a:prstGeom>
          <a:noFill/>
          <a:ln/>
        </p:spPr>
        <p:txBody>
          <a:bodyPr wrap="square" lIns="0" tIns="0" rIns="0" bIns="0" rtlCol="0" anchor="t"/>
          <a:lstStyle/>
          <a:p>
            <a:pPr indent="0" marL="0">
              <a:buNone/>
            </a:pPr>
            <a:r>
              <a:rPr lang="en-US" sz="1000" dirty="0">
                <a:solidFill>
                  <a:srgbClr val="D7E3F4"/>
                </a:solidFill>
                <a:latin typeface="Courier New" pitchFamily="34" charset="0"/>
                <a:ea typeface="Courier New" pitchFamily="34" charset="-122"/>
                <a:cs typeface="Courier New" pitchFamily="34" charset="-120"/>
              </a:rPr>
              <a:t>info: Azure.AI.AgentServer.Tasks[11]</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TaskManager starting (owner=unknown-agent|session:local,</a:t>
            </a:r>
            <a:endParaRPr lang="en-US" sz="1000" dirty="0"/>
          </a:p>
          <a:p>
            <a:pPr indent="0" marL="0">
              <a:buNone/>
            </a:pPr>
            <a:r>
              <a:rPr lang="en-US" sz="1000" b="1" dirty="0">
                <a:solidFill>
                  <a:srgbClr val="F5A623"/>
                </a:solidFill>
                <a:latin typeface="Courier New" pitchFamily="34" charset="0"/>
                <a:ea typeface="Courier New" pitchFamily="34" charset="-122"/>
                <a:cs typeface="Courier New" pitchFamily="34" charset="-120"/>
              </a:rPr>
              <a:t>  instance=..., hosted=False).</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info: ...ResponsesStartupLogger[0]</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Responses protocol configuration:</a:t>
            </a:r>
            <a:endParaRPr lang="en-US" sz="1000" dirty="0"/>
          </a:p>
          <a:p>
            <a:pPr indent="0" marL="0">
              <a:buNone/>
            </a:pPr>
            <a:r>
              <a:rPr lang="en-US" sz="1000" b="1" dirty="0">
                <a:solidFill>
                  <a:srgbClr val="F5A623"/>
                </a:solidFill>
                <a:latin typeface="Courier New" pitchFamily="34" charset="0"/>
                <a:ea typeface="Courier New" pitchFamily="34" charset="-122"/>
                <a:cs typeface="Courier New" pitchFamily="34" charset="-120"/>
              </a:rPr>
              <a:t>  StorageProvider=FileResponsesProvider ...</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info: Microsoft.Hosting.Lifetime[14]</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  Now listening on: http://localhost:8088</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Re-capture pending: run with OPENAI_API_KEY set</a:t>
            </a:r>
            <a:endParaRPr lang="en-US" sz="1000" dirty="0"/>
          </a:p>
        </p:txBody>
      </p:sp>
      <p:sp>
        <p:nvSpPr>
          <p:cNvPr id="6" name="Shape 4"/>
          <p:cNvSpPr/>
          <p:nvPr/>
        </p:nvSpPr>
        <p:spPr>
          <a:xfrm>
            <a:off x="6035040" y="1325880"/>
            <a:ext cx="384048" cy="384048"/>
          </a:xfrm>
          <a:prstGeom prst="ellipse">
            <a:avLst/>
          </a:prstGeom>
          <a:solidFill>
            <a:srgbClr val="512BD4"/>
          </a:solidFill>
          <a:ln w="12700">
            <a:solidFill>
              <a:srgbClr val="512BD4"/>
            </a:solidFill>
            <a:prstDash val="solid"/>
          </a:ln>
        </p:spPr>
      </p:sp>
      <p:pic>
        <p:nvPicPr>
          <p:cNvPr id="7" name="Image 0" descr="preencoded.png">    </p:cNvPr>
          <p:cNvPicPr>
            <a:picLocks noChangeAspect="1"/>
          </p:cNvPicPr>
          <p:nvPr/>
        </p:nvPicPr>
        <p:blipFill>
          <a:blip r:embed="rId1"/>
          <a:stretch>
            <a:fillRect/>
          </a:stretch>
        </p:blipFill>
        <p:spPr>
          <a:xfrm>
            <a:off x="6134892" y="1425732"/>
            <a:ext cx="184343" cy="184343"/>
          </a:xfrm>
          <a:prstGeom prst="rect">
            <a:avLst/>
          </a:prstGeom>
        </p:spPr>
      </p:pic>
      <p:sp>
        <p:nvSpPr>
          <p:cNvPr id="8" name="Text 5"/>
          <p:cNvSpPr txBox="1"/>
          <p:nvPr/>
        </p:nvSpPr>
        <p:spPr>
          <a:xfrm>
            <a:off x="6537960" y="132588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hosted=False</a:t>
            </a:r>
            <a:endParaRPr lang="en-US" sz="1400" dirty="0"/>
          </a:p>
        </p:txBody>
      </p:sp>
      <p:sp>
        <p:nvSpPr>
          <p:cNvPr id="9" name="Text 6"/>
          <p:cNvSpPr txBox="1"/>
          <p:nvPr/>
        </p:nvSpPr>
        <p:spPr>
          <a:xfrm>
            <a:off x="6537960" y="170992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A self-hosted process, not a Foundry container</a:t>
            </a:r>
            <a:endParaRPr lang="en-US" sz="1200" dirty="0"/>
          </a:p>
        </p:txBody>
      </p:sp>
      <p:sp>
        <p:nvSpPr>
          <p:cNvPr id="10" name="Shape 7"/>
          <p:cNvSpPr/>
          <p:nvPr/>
        </p:nvSpPr>
        <p:spPr>
          <a:xfrm>
            <a:off x="6035040" y="242316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6134892" y="2523012"/>
            <a:ext cx="184343" cy="184343"/>
          </a:xfrm>
          <a:prstGeom prst="rect">
            <a:avLst/>
          </a:prstGeom>
        </p:spPr>
      </p:pic>
      <p:sp>
        <p:nvSpPr>
          <p:cNvPr id="12" name="Text 8"/>
          <p:cNvSpPr txBox="1"/>
          <p:nvPr/>
        </p:nvSpPr>
        <p:spPr>
          <a:xfrm>
            <a:off x="6537960" y="242316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File provider</a:t>
            </a:r>
            <a:endParaRPr lang="en-US" sz="1400" dirty="0"/>
          </a:p>
        </p:txBody>
      </p:sp>
      <p:sp>
        <p:nvSpPr>
          <p:cNvPr id="13" name="Text 9"/>
          <p:cNvSpPr txBox="1"/>
          <p:nvPr/>
        </p:nvSpPr>
        <p:spPr>
          <a:xfrm>
            <a:off x="6537960" y="280720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State in the local .agentserver folder</a:t>
            </a:r>
            <a:endParaRPr lang="en-US" sz="1200" dirty="0"/>
          </a:p>
        </p:txBody>
      </p:sp>
      <p:sp>
        <p:nvSpPr>
          <p:cNvPr id="14" name="Shape 10"/>
          <p:cNvSpPr/>
          <p:nvPr/>
        </p:nvSpPr>
        <p:spPr>
          <a:xfrm>
            <a:off x="6035040" y="3520440"/>
            <a:ext cx="384048" cy="384048"/>
          </a:xfrm>
          <a:prstGeom prst="ellipse">
            <a:avLst/>
          </a:prstGeom>
          <a:solidFill>
            <a:srgbClr val="512BD4"/>
          </a:solidFill>
          <a:ln w="12700">
            <a:solidFill>
              <a:srgbClr val="512BD4"/>
            </a:solidFill>
            <a:prstDash val="solid"/>
          </a:ln>
        </p:spPr>
      </p:sp>
      <p:pic>
        <p:nvPicPr>
          <p:cNvPr id="15" name="Image 2" descr="preencoded.png">    </p:cNvPr>
          <p:cNvPicPr>
            <a:picLocks noChangeAspect="1"/>
          </p:cNvPicPr>
          <p:nvPr/>
        </p:nvPicPr>
        <p:blipFill>
          <a:blip r:embed="rId3"/>
          <a:stretch>
            <a:fillRect/>
          </a:stretch>
        </p:blipFill>
        <p:spPr>
          <a:xfrm>
            <a:off x="6134892" y="3620292"/>
            <a:ext cx="184343" cy="184343"/>
          </a:xfrm>
          <a:prstGeom prst="rect">
            <a:avLst/>
          </a:prstGeom>
        </p:spPr>
      </p:pic>
      <p:sp>
        <p:nvSpPr>
          <p:cNvPr id="16" name="Text 11"/>
          <p:cNvSpPr txBox="1"/>
          <p:nvPr/>
        </p:nvSpPr>
        <p:spPr>
          <a:xfrm>
            <a:off x="6537960" y="352044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Calls (pending)</a:t>
            </a:r>
            <a:endParaRPr lang="en-US" sz="1400" dirty="0"/>
          </a:p>
        </p:txBody>
      </p:sp>
      <p:sp>
        <p:nvSpPr>
          <p:cNvPr id="17" name="Text 12"/>
          <p:cNvSpPr txBox="1"/>
          <p:nvPr/>
        </p:nvSpPr>
        <p:spPr>
          <a:xfrm>
            <a:off x="6537960" y="390448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workflow_action items, then two messages</a:t>
            </a:r>
            <a:endParaRPr lang="en-US" sz="1200" dirty="0"/>
          </a:p>
        </p:txBody>
      </p:sp>
      <p:sp>
        <p:nvSpPr>
          <p:cNvPr id="18" name="Text 13"/>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  Lesson 21 — Hosting and Deployment</a:t>
            </a:r>
            <a:endParaRPr lang="en-US" sz="900" dirty="0"/>
          </a:p>
        </p:txBody>
      </p:sp>
      <p:sp>
        <p:nvSpPr>
          <p:cNvPr id="19" name="Text 14"/>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41B2D"/>
        </a:solidFill>
      </p:bgPr>
    </p:bg>
    <p:spTree>
      <p:nvGrpSpPr>
        <p:cNvPr id="1" name=""/>
        <p:cNvGrpSpPr/>
        <p:nvPr/>
      </p:nvGrpSpPr>
      <p:grpSpPr>
        <a:xfrm>
          <a:off x="0" y="0"/>
          <a:ext cx="0" cy="0"/>
          <a:chOff x="0" y="0"/>
          <a:chExt cx="0" cy="0"/>
        </a:xfrm>
      </p:grpSpPr>
      <p:sp>
        <p:nvSpPr>
          <p:cNvPr id="2" name="Text 0"/>
          <p:cNvSpPr txBox="1"/>
          <p:nvPr/>
        </p:nvSpPr>
        <p:spPr>
          <a:xfrm>
            <a:off x="457200" y="347472"/>
            <a:ext cx="4572000" cy="228600"/>
          </a:xfrm>
          <a:prstGeom prst="rect">
            <a:avLst/>
          </a:prstGeom>
          <a:noFill/>
          <a:ln/>
        </p:spPr>
        <p:txBody>
          <a:bodyPr wrap="square" lIns="0" tIns="0" rIns="0" bIns="0" rtlCol="0" anchor="t"/>
          <a:lstStyle/>
          <a:p>
            <a:pPr indent="0" marL="0">
              <a:buNone/>
            </a:pPr>
            <a:r>
              <a:rPr lang="en-US" sz="1100" b="1" spc="200" kern="0" dirty="0">
                <a:solidFill>
                  <a:srgbClr val="F5A623"/>
                </a:solidFill>
                <a:latin typeface="Calibri" pitchFamily="34" charset="0"/>
                <a:ea typeface="Calibri" pitchFamily="34" charset="-122"/>
                <a:cs typeface="Calibri" pitchFamily="34" charset="-120"/>
              </a:rPr>
              <a:t>SUMMARY</a:t>
            </a:r>
            <a:endParaRPr lang="en-US" sz="1100" dirty="0"/>
          </a:p>
        </p:txBody>
      </p:sp>
      <p:sp>
        <p:nvSpPr>
          <p:cNvPr id="3" name="Text 1"/>
          <p:cNvSpPr txBox="1"/>
          <p:nvPr/>
        </p:nvSpPr>
        <p:spPr>
          <a:xfrm>
            <a:off x="457200" y="566928"/>
            <a:ext cx="8229600" cy="502920"/>
          </a:xfrm>
          <a:prstGeom prst="rect">
            <a:avLst/>
          </a:prstGeom>
          <a:noFill/>
          <a:ln/>
        </p:spPr>
        <p:txBody>
          <a:bodyPr wrap="square" lIns="0" tIns="0" rIns="0" bIns="0" rtlCol="0" anchor="t"/>
          <a:lstStyle/>
          <a:p>
            <a:pPr indent="0" marL="0">
              <a:buNone/>
            </a:pPr>
            <a:r>
              <a:rPr lang="en-US" sz="2600" b="1" dirty="0">
                <a:solidFill>
                  <a:srgbClr val="FFFFFF"/>
                </a:solidFill>
                <a:latin typeface="Cambria" pitchFamily="34" charset="0"/>
                <a:ea typeface="Cambria" pitchFamily="34" charset="-122"/>
                <a:cs typeface="Cambria" pitchFamily="34" charset="-120"/>
              </a:rPr>
              <a:t>What we learned, and where it goes</a:t>
            </a:r>
            <a:endParaRPr lang="en-US" sz="2600" dirty="0"/>
          </a:p>
        </p:txBody>
      </p:sp>
      <p:sp>
        <p:nvSpPr>
          <p:cNvPr id="4" name="Shape 2"/>
          <p:cNvSpPr/>
          <p:nvPr/>
        </p:nvSpPr>
        <p:spPr>
          <a:xfrm>
            <a:off x="457200" y="1234440"/>
            <a:ext cx="2926080" cy="355092"/>
          </a:xfrm>
          <a:prstGeom prst="roundRect">
            <a:avLst>
              <a:gd name="adj" fmla="val 20601"/>
            </a:avLst>
          </a:prstGeom>
          <a:solidFill>
            <a:srgbClr val="1F2943"/>
          </a:solidFill>
          <a:ln w="12700">
            <a:solidFill>
              <a:srgbClr val="1F2943"/>
            </a:solidFill>
            <a:prstDash val="solid"/>
          </a:ln>
        </p:spPr>
      </p:sp>
      <p:sp>
        <p:nvSpPr>
          <p:cNvPr id="5" name="Text 3"/>
          <p:cNvSpPr txBox="1"/>
          <p:nvPr/>
        </p:nvSpPr>
        <p:spPr>
          <a:xfrm>
            <a:off x="621792" y="1234440"/>
            <a:ext cx="2651760" cy="35509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workflow.AsAIAgent</a:t>
            </a:r>
            <a:endParaRPr lang="en-US" sz="1300" dirty="0"/>
          </a:p>
        </p:txBody>
      </p:sp>
      <p:sp>
        <p:nvSpPr>
          <p:cNvPr id="6" name="Shape 4"/>
          <p:cNvSpPr/>
          <p:nvPr/>
        </p:nvSpPr>
        <p:spPr>
          <a:xfrm>
            <a:off x="3493008" y="1320546"/>
            <a:ext cx="329184" cy="182880"/>
          </a:xfrm>
          <a:prstGeom prst="rightArrow">
            <a:avLst/>
          </a:prstGeom>
          <a:solidFill>
            <a:srgbClr val="F5A623"/>
          </a:solidFill>
          <a:ln w="12700">
            <a:solidFill>
              <a:srgbClr val="F5A623"/>
            </a:solidFill>
            <a:prstDash val="solid"/>
          </a:ln>
        </p:spPr>
      </p:sp>
      <p:sp>
        <p:nvSpPr>
          <p:cNvPr id="7" name="Text 5"/>
          <p:cNvSpPr txBox="1"/>
          <p:nvPr/>
        </p:nvSpPr>
        <p:spPr>
          <a:xfrm>
            <a:off x="3977640" y="1234440"/>
            <a:ext cx="4709160" cy="355092"/>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22  </a:t>
            </a:r>
            <a:pPr indent="0" marL="0">
              <a:buNone/>
            </a:pPr>
            <a:r>
              <a:rPr lang="en-US" sz="1250" dirty="0">
                <a:solidFill>
                  <a:srgbClr val="FFFFFF"/>
                </a:solidFill>
                <a:latin typeface="Calibri" pitchFamily="34" charset="0"/>
                <a:ea typeface="Calibri" pitchFamily="34" charset="-122"/>
                <a:cs typeface="Calibri" pitchFamily="34" charset="-120"/>
              </a:rPr>
              <a:t>The capstone's start node is designed as a ChatProtocolExecutor</a:t>
            </a:r>
            <a:endParaRPr lang="en-US" sz="1250" dirty="0"/>
          </a:p>
        </p:txBody>
      </p:sp>
      <p:sp>
        <p:nvSpPr>
          <p:cNvPr id="8" name="Shape 6"/>
          <p:cNvSpPr/>
          <p:nvPr/>
        </p:nvSpPr>
        <p:spPr>
          <a:xfrm>
            <a:off x="457200" y="1699260"/>
            <a:ext cx="2926080" cy="355092"/>
          </a:xfrm>
          <a:prstGeom prst="roundRect">
            <a:avLst>
              <a:gd name="adj" fmla="val 20601"/>
            </a:avLst>
          </a:prstGeom>
          <a:solidFill>
            <a:srgbClr val="1F2943"/>
          </a:solidFill>
          <a:ln w="12700">
            <a:solidFill>
              <a:srgbClr val="1F2943"/>
            </a:solidFill>
            <a:prstDash val="solid"/>
          </a:ln>
        </p:spPr>
      </p:sp>
      <p:sp>
        <p:nvSpPr>
          <p:cNvPr id="9" name="Text 7"/>
          <p:cNvSpPr txBox="1"/>
          <p:nvPr/>
        </p:nvSpPr>
        <p:spPr>
          <a:xfrm>
            <a:off x="621792" y="1699260"/>
            <a:ext cx="2651760" cy="35509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Hosting a workflow agent</a:t>
            </a:r>
            <a:endParaRPr lang="en-US" sz="1300" dirty="0"/>
          </a:p>
        </p:txBody>
      </p:sp>
      <p:sp>
        <p:nvSpPr>
          <p:cNvPr id="10" name="Shape 8"/>
          <p:cNvSpPr/>
          <p:nvPr/>
        </p:nvSpPr>
        <p:spPr>
          <a:xfrm>
            <a:off x="3493008" y="1785366"/>
            <a:ext cx="329184" cy="182880"/>
          </a:xfrm>
          <a:prstGeom prst="rightArrow">
            <a:avLst/>
          </a:prstGeom>
          <a:solidFill>
            <a:srgbClr val="F5A623"/>
          </a:solidFill>
          <a:ln w="12700">
            <a:solidFill>
              <a:srgbClr val="F5A623"/>
            </a:solidFill>
            <a:prstDash val="solid"/>
          </a:ln>
        </p:spPr>
      </p:sp>
      <p:sp>
        <p:nvSpPr>
          <p:cNvPr id="11" name="Text 9"/>
          <p:cNvSpPr txBox="1"/>
          <p:nvPr/>
        </p:nvSpPr>
        <p:spPr>
          <a:xfrm>
            <a:off x="3977640" y="1699260"/>
            <a:ext cx="4709160" cy="355092"/>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24  </a:t>
            </a:r>
            <a:pPr indent="0" marL="0">
              <a:buNone/>
            </a:pPr>
            <a:r>
              <a:rPr lang="en-US" sz="1250" dirty="0">
                <a:solidFill>
                  <a:srgbClr val="FFFFFF"/>
                </a:solidFill>
                <a:latin typeface="Calibri" pitchFamily="34" charset="0"/>
                <a:ea typeface="Calibri" pitchFamily="34" charset="-122"/>
                <a:cs typeface="Calibri" pitchFamily="34" charset="-120"/>
              </a:rPr>
              <a:t>Serves the capstone graph at POST /responses, locally</a:t>
            </a:r>
            <a:endParaRPr lang="en-US" sz="1250" dirty="0"/>
          </a:p>
        </p:txBody>
      </p:sp>
      <p:sp>
        <p:nvSpPr>
          <p:cNvPr id="12" name="Shape 10"/>
          <p:cNvSpPr/>
          <p:nvPr/>
        </p:nvSpPr>
        <p:spPr>
          <a:xfrm>
            <a:off x="457200" y="2164080"/>
            <a:ext cx="2926080" cy="355092"/>
          </a:xfrm>
          <a:prstGeom prst="roundRect">
            <a:avLst>
              <a:gd name="adj" fmla="val 20601"/>
            </a:avLst>
          </a:prstGeom>
          <a:solidFill>
            <a:srgbClr val="1F2943"/>
          </a:solidFill>
          <a:ln w="12700">
            <a:solidFill>
              <a:srgbClr val="1F2943"/>
            </a:solidFill>
            <a:prstDash val="solid"/>
          </a:ln>
        </p:spPr>
      </p:sp>
      <p:sp>
        <p:nvSpPr>
          <p:cNvPr id="13" name="Text 11"/>
          <p:cNvSpPr txBox="1"/>
          <p:nvPr/>
        </p:nvSpPr>
        <p:spPr>
          <a:xfrm>
            <a:off x="621792" y="2164080"/>
            <a:ext cx="2651760" cy="35509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previous_response_id</a:t>
            </a:r>
            <a:endParaRPr lang="en-US" sz="1300" dirty="0"/>
          </a:p>
        </p:txBody>
      </p:sp>
      <p:sp>
        <p:nvSpPr>
          <p:cNvPr id="14" name="Shape 12"/>
          <p:cNvSpPr/>
          <p:nvPr/>
        </p:nvSpPr>
        <p:spPr>
          <a:xfrm>
            <a:off x="3493008" y="2250186"/>
            <a:ext cx="329184" cy="182880"/>
          </a:xfrm>
          <a:prstGeom prst="rightArrow">
            <a:avLst/>
          </a:prstGeom>
          <a:solidFill>
            <a:srgbClr val="F5A623"/>
          </a:solidFill>
          <a:ln w="12700">
            <a:solidFill>
              <a:srgbClr val="F5A623"/>
            </a:solidFill>
            <a:prstDash val="solid"/>
          </a:ln>
        </p:spPr>
      </p:sp>
      <p:sp>
        <p:nvSpPr>
          <p:cNvPr id="15" name="Text 13"/>
          <p:cNvSpPr txBox="1"/>
          <p:nvPr/>
        </p:nvSpPr>
        <p:spPr>
          <a:xfrm>
            <a:off x="3977640" y="2164080"/>
            <a:ext cx="4709160" cy="355092"/>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24  </a:t>
            </a:r>
            <a:pPr indent="0" marL="0">
              <a:buNone/>
            </a:pPr>
            <a:r>
              <a:rPr lang="en-US" sz="1250" dirty="0">
                <a:solidFill>
                  <a:srgbClr val="FFFFFF"/>
                </a:solidFill>
                <a:latin typeface="Calibri" pitchFamily="34" charset="0"/>
                <a:ea typeface="Calibri" pitchFamily="34" charset="-122"/>
                <a:cs typeface="Calibri" pitchFamily="34" charset="-120"/>
              </a:rPr>
              <a:t>The client's second POST answers the pending approval</a:t>
            </a:r>
            <a:endParaRPr lang="en-US" sz="1250" dirty="0"/>
          </a:p>
        </p:txBody>
      </p:sp>
      <p:sp>
        <p:nvSpPr>
          <p:cNvPr id="16" name="Shape 14"/>
          <p:cNvSpPr/>
          <p:nvPr/>
        </p:nvSpPr>
        <p:spPr>
          <a:xfrm>
            <a:off x="457200" y="2628900"/>
            <a:ext cx="2926080" cy="355092"/>
          </a:xfrm>
          <a:prstGeom prst="roundRect">
            <a:avLst>
              <a:gd name="adj" fmla="val 20601"/>
            </a:avLst>
          </a:prstGeom>
          <a:solidFill>
            <a:srgbClr val="1F2943"/>
          </a:solidFill>
          <a:ln w="12700">
            <a:solidFill>
              <a:srgbClr val="1F2943"/>
            </a:solidFill>
            <a:prstDash val="solid"/>
          </a:ln>
        </p:spPr>
      </p:sp>
      <p:sp>
        <p:nvSpPr>
          <p:cNvPr id="17" name="Text 15"/>
          <p:cNvSpPr txBox="1"/>
          <p:nvPr/>
        </p:nvSpPr>
        <p:spPr>
          <a:xfrm>
            <a:off x="621792" y="2628900"/>
            <a:ext cx="2651760" cy="35509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workflow_action items</a:t>
            </a:r>
            <a:endParaRPr lang="en-US" sz="1300" dirty="0"/>
          </a:p>
        </p:txBody>
      </p:sp>
      <p:sp>
        <p:nvSpPr>
          <p:cNvPr id="18" name="Shape 16"/>
          <p:cNvSpPr/>
          <p:nvPr/>
        </p:nvSpPr>
        <p:spPr>
          <a:xfrm>
            <a:off x="3493008" y="2715006"/>
            <a:ext cx="329184" cy="182880"/>
          </a:xfrm>
          <a:prstGeom prst="rightArrow">
            <a:avLst/>
          </a:prstGeom>
          <a:solidFill>
            <a:srgbClr val="F5A623"/>
          </a:solidFill>
          <a:ln w="12700">
            <a:solidFill>
              <a:srgbClr val="F5A623"/>
            </a:solidFill>
            <a:prstDash val="solid"/>
          </a:ln>
        </p:spPr>
      </p:sp>
      <p:sp>
        <p:nvSpPr>
          <p:cNvPr id="19" name="Text 17"/>
          <p:cNvSpPr txBox="1"/>
          <p:nvPr/>
        </p:nvSpPr>
        <p:spPr>
          <a:xfrm>
            <a:off x="3977640" y="2628900"/>
            <a:ext cx="4709160" cy="355092"/>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24  </a:t>
            </a:r>
            <a:pPr indent="0" marL="0">
              <a:buNone/>
            </a:pPr>
            <a:r>
              <a:rPr lang="en-US" sz="1250" dirty="0">
                <a:solidFill>
                  <a:srgbClr val="FFFFFF"/>
                </a:solidFill>
                <a:latin typeface="Calibri" pitchFamily="34" charset="0"/>
                <a:ea typeface="Calibri" pitchFamily="34" charset="-122"/>
                <a:cs typeface="Calibri" pitchFamily="34" charset="-120"/>
              </a:rPr>
              <a:t>The reply shows each capstone node running</a:t>
            </a:r>
            <a:endParaRPr lang="en-US" sz="1250" dirty="0"/>
          </a:p>
        </p:txBody>
      </p:sp>
      <p:sp>
        <p:nvSpPr>
          <p:cNvPr id="20" name="Shape 18"/>
          <p:cNvSpPr/>
          <p:nvPr/>
        </p:nvSpPr>
        <p:spPr>
          <a:xfrm>
            <a:off x="457200" y="3093720"/>
            <a:ext cx="2926080" cy="355092"/>
          </a:xfrm>
          <a:prstGeom prst="roundRect">
            <a:avLst>
              <a:gd name="adj" fmla="val 20601"/>
            </a:avLst>
          </a:prstGeom>
          <a:solidFill>
            <a:srgbClr val="1F2943"/>
          </a:solidFill>
          <a:ln w="12700">
            <a:solidFill>
              <a:srgbClr val="1F2943"/>
            </a:solidFill>
            <a:prstDash val="solid"/>
          </a:ln>
        </p:spPr>
      </p:sp>
      <p:sp>
        <p:nvSpPr>
          <p:cNvPr id="21" name="Text 19"/>
          <p:cNvSpPr txBox="1"/>
          <p:nvPr/>
        </p:nvSpPr>
        <p:spPr>
          <a:xfrm>
            <a:off x="621792" y="3093720"/>
            <a:ext cx="2651760" cy="35509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Automatic checkpoints</a:t>
            </a:r>
            <a:endParaRPr lang="en-US" sz="1300" dirty="0"/>
          </a:p>
        </p:txBody>
      </p:sp>
      <p:sp>
        <p:nvSpPr>
          <p:cNvPr id="22" name="Shape 20"/>
          <p:cNvSpPr/>
          <p:nvPr/>
        </p:nvSpPr>
        <p:spPr>
          <a:xfrm>
            <a:off x="3493008" y="3179826"/>
            <a:ext cx="329184" cy="182880"/>
          </a:xfrm>
          <a:prstGeom prst="rightArrow">
            <a:avLst/>
          </a:prstGeom>
          <a:solidFill>
            <a:srgbClr val="F5A623"/>
          </a:solidFill>
          <a:ln w="12700">
            <a:solidFill>
              <a:srgbClr val="F5A623"/>
            </a:solidFill>
            <a:prstDash val="solid"/>
          </a:ln>
        </p:spPr>
      </p:sp>
      <p:sp>
        <p:nvSpPr>
          <p:cNvPr id="23" name="Text 21"/>
          <p:cNvSpPr txBox="1"/>
          <p:nvPr/>
        </p:nvSpPr>
        <p:spPr>
          <a:xfrm>
            <a:off x="3977640" y="3093720"/>
            <a:ext cx="4709160" cy="355092"/>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24  </a:t>
            </a:r>
            <a:pPr indent="0" marL="0">
              <a:buNone/>
            </a:pPr>
            <a:r>
              <a:rPr lang="en-US" sz="1250" dirty="0">
                <a:solidFill>
                  <a:srgbClr val="FFFFFF"/>
                </a:solidFill>
                <a:latin typeface="Calibri" pitchFamily="34" charset="0"/>
                <a:ea typeface="Calibri" pitchFamily="34" charset="-122"/>
                <a:cs typeface="Calibri" pitchFamily="34" charset="-120"/>
              </a:rPr>
              <a:t>A pending approval survives a host restart</a:t>
            </a:r>
            <a:endParaRPr lang="en-US" sz="1250" dirty="0"/>
          </a:p>
        </p:txBody>
      </p:sp>
      <p:sp>
        <p:nvSpPr>
          <p:cNvPr id="24" name="Shape 22"/>
          <p:cNvSpPr/>
          <p:nvPr/>
        </p:nvSpPr>
        <p:spPr>
          <a:xfrm>
            <a:off x="457200" y="3558540"/>
            <a:ext cx="2926080" cy="355092"/>
          </a:xfrm>
          <a:prstGeom prst="roundRect">
            <a:avLst>
              <a:gd name="adj" fmla="val 20601"/>
            </a:avLst>
          </a:prstGeom>
          <a:solidFill>
            <a:srgbClr val="1F2943"/>
          </a:solidFill>
          <a:ln w="12700">
            <a:solidFill>
              <a:srgbClr val="1F2943"/>
            </a:solidFill>
            <a:prstDash val="solid"/>
          </a:ln>
        </p:spPr>
      </p:sp>
      <p:sp>
        <p:nvSpPr>
          <p:cNvPr id="25" name="Text 23"/>
          <p:cNvSpPr txBox="1"/>
          <p:nvPr/>
        </p:nvSpPr>
        <p:spPr>
          <a:xfrm>
            <a:off x="621792" y="3558540"/>
            <a:ext cx="2651760" cy="35509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Self-hosted vs Foundry</a:t>
            </a:r>
            <a:endParaRPr lang="en-US" sz="1300" dirty="0"/>
          </a:p>
        </p:txBody>
      </p:sp>
      <p:sp>
        <p:nvSpPr>
          <p:cNvPr id="26" name="Shape 24"/>
          <p:cNvSpPr/>
          <p:nvPr/>
        </p:nvSpPr>
        <p:spPr>
          <a:xfrm>
            <a:off x="3493008" y="3644646"/>
            <a:ext cx="329184" cy="182880"/>
          </a:xfrm>
          <a:prstGeom prst="rightArrow">
            <a:avLst/>
          </a:prstGeom>
          <a:solidFill>
            <a:srgbClr val="F5A623"/>
          </a:solidFill>
          <a:ln w="12700">
            <a:solidFill>
              <a:srgbClr val="F5A623"/>
            </a:solidFill>
            <a:prstDash val="solid"/>
          </a:ln>
        </p:spPr>
      </p:sp>
      <p:sp>
        <p:nvSpPr>
          <p:cNvPr id="27" name="Text 25"/>
          <p:cNvSpPr txBox="1"/>
          <p:nvPr/>
        </p:nvSpPr>
        <p:spPr>
          <a:xfrm>
            <a:off x="3977640" y="3558540"/>
            <a:ext cx="4709160" cy="355092"/>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24  </a:t>
            </a:r>
            <a:pPr indent="0" marL="0">
              <a:buNone/>
            </a:pPr>
            <a:r>
              <a:rPr lang="en-US" sz="1250" dirty="0">
                <a:solidFill>
                  <a:srgbClr val="FFFFFF"/>
                </a:solidFill>
                <a:latin typeface="Calibri" pitchFamily="34" charset="0"/>
                <a:ea typeface="Calibri" pitchFamily="34" charset="-122"/>
                <a:cs typeface="Calibri" pitchFamily="34" charset="-120"/>
              </a:rPr>
              <a:t>A container keeps local state; Foundry's store is durable</a:t>
            </a:r>
            <a:endParaRPr lang="en-US" sz="1250" dirty="0"/>
          </a:p>
        </p:txBody>
      </p:sp>
      <p:sp>
        <p:nvSpPr>
          <p:cNvPr id="28" name="Text 26"/>
          <p:cNvSpPr txBox="1"/>
          <p:nvPr/>
        </p:nvSpPr>
        <p:spPr>
          <a:xfrm>
            <a:off x="457200" y="4206240"/>
            <a:ext cx="8229600" cy="320040"/>
          </a:xfrm>
          <a:prstGeom prst="rect">
            <a:avLst/>
          </a:prstGeom>
          <a:noFill/>
          <a:ln/>
        </p:spPr>
        <p:txBody>
          <a:bodyPr wrap="square" lIns="0" tIns="0" rIns="0" bIns="0" rtlCol="0" anchor="t"/>
          <a:lstStyle/>
          <a:p>
            <a:pPr indent="0" marL="0">
              <a:buNone/>
            </a:pPr>
            <a:r>
              <a:rPr lang="en-US" sz="1300" dirty="0">
                <a:solidFill>
                  <a:srgbClr val="B8B2E6"/>
                </a:solidFill>
                <a:latin typeface="Calibri" pitchFamily="34" charset="0"/>
                <a:ea typeface="Calibri" pitchFamily="34" charset="-122"/>
                <a:cs typeface="Calibri" pitchFamily="34" charset="-120"/>
              </a:rPr>
              <a:t>Ships in  </a:t>
            </a:r>
            <a:pPr indent="0" marL="0">
              <a:buNone/>
            </a:pPr>
            <a:r>
              <a:rPr lang="en-US" sz="1300" b="1" dirty="0">
                <a:solidFill>
                  <a:srgbClr val="FFFFFF"/>
                </a:solidFill>
                <a:latin typeface="Calibri" pitchFamily="34" charset="0"/>
                <a:ea typeface="Calibri" pitchFamily="34" charset="-122"/>
                <a:cs typeface="Calibri" pitchFamily="34" charset="-120"/>
              </a:rPr>
              <a:t>Lessons 22–24 Capstone — Research-and-Report Pipeline, served over Responses</a:t>
            </a:r>
            <a:endParaRPr lang="en-US" sz="1300" dirty="0"/>
          </a:p>
        </p:txBody>
      </p:sp>
      <p:sp>
        <p:nvSpPr>
          <p:cNvPr id="29" name="Text 27"/>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B8B2E6"/>
                </a:solidFill>
                <a:latin typeface="Calibri" pitchFamily="34" charset="0"/>
                <a:ea typeface="Calibri" pitchFamily="34" charset="-122"/>
                <a:cs typeface="Calibri" pitchFamily="34" charset="-120"/>
              </a:rPr>
              <a:t>Applied Agentic Orchestration  ·  Lesson 21 — Hosting and Deployment</a:t>
            </a:r>
            <a:endParaRPr lang="en-US" sz="900" dirty="0"/>
          </a:p>
        </p:txBody>
      </p:sp>
      <p:sp>
        <p:nvSpPr>
          <p:cNvPr id="30" name="Text 28"/>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B8B2E6"/>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21 — Hosting and Deployment</dc:title>
  <dc:subject>PptxGenJS Presentation</dc:subject>
  <dc:creator>Applied Agentic Orchestration with Microsoft Agent Framework</dc:creator>
  <cp:lastModifiedBy>Applied Agentic Orchestration with Microsoft Agent Framework</cp:lastModifiedBy>
  <cp:revision>1</cp:revision>
  <dcterms:created xsi:type="dcterms:W3CDTF">2026-10-07T23:53:47Z</dcterms:created>
  <dcterms:modified xsi:type="dcterms:W3CDTF">2026-10-07T23:53:47Z</dcterms:modified>
</cp:coreProperties>
</file>