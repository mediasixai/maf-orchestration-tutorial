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give an agent local C# functions it can call on its own initiative: a TravelAssistant agent equipped with two function tools, one that looks up the current time in a city and one that converts currency, and a single prompt that requires both. The point isn't the tools themselves; it's watching ChatClientAgent run the entire loop for us: the model asks for a call, we run local code, the result goes back to the model, and the model keeps going, with zero dispatch code of our own. This lesson assumes Lesson 1: IChatClient, ChatClientAgent, instructions, and RunAsync with AgentResponse. It is otherwise standalone and does not reference Lesson 1's project. Setup is unchanged from Lesson 1: the same three packages, Microsoft.Agents.AI 1.24.0, Microsoft.Extensions.AI.OpenAI 10.10.1 and OpenAI 2.14.0, and OPENAI_API_KEY in the environment, with MAF_LLM selecting another provider if you want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AITool, from Microsoft.Extensions.AI, is the base abstraction for anything a model can be offered as a callable capability. AIFunction is the concrete subtype that wraps a .NET delegate. Every tool you hand an agent ends up as an AITool in a list. Our TravelTools class defines two plain static methods with no MAF-specific base class or interface: GetCurrentTimeInCity, which computes the time from a small fixed table of UTC offsets, and ConvertCurrency, which uses a small fixed table of exchange rates against USD. Unknown cities or currencies produce a clear error string instead of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AIFunctionFactory.Create is a reflection-based factory that turns any C# method, static or instance, via a delegate or method group, into an AIFunction. It inspects the method's parameters and return type and generates a JSON Schema describing the tool for the model. The Description attribute is not decoration. The System.ComponentModel.DescriptionAttribute on a tool method and on each of its parameters is serialized into the schema sent to the model. This is how the model decides which tool to call and what arguments to pass. Vague or missing descriptions directly hurt tool-selection accuracy. Program.Main calls AIFunctionFactory.Create once per method, passing the method group directly; there is nothing to instantiate because both methods are static.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live on the agent, not the connection. The ChatClientAgent constructor takes an optional tools parameter, an IList of AITool, after instructions and name. AgentFactory.CreateAgent passes our tools list straight through. Tools passed here are available on every RunAsync call for that agent instance. You can also pass a run-specific ChatOptions with its own Tools list via ChatClientAgentRunOptions to add or override tools for a single call. That isn't used in this lesson, but it's worth knowing it exists. The instructions tell the TravelAssistant to use its tools whenever a question depends on the current time or a currency conversion, and never to guess a time or an exchange rate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give ChatClientAgent tools and the underlying IChatClient doesn't already wrap one, the agent transparently inserts a FunctionInvokingChatClient into the pipeline. That component detects a model's request to call a tool, executes the matching local AIFunction, sends the result back as a new turn, and repeats until the model produces a final answer, all inside a single RunAsync call. The prompt is deliberately compound: it needs a time lookup for two cities and a currency conversion, forcing the model to make multiple tool calls, in whatever order it decides, before it can answer. Internally the model responds with one or more FunctionCallContent items, the FunctionInvokingChatClient matches each to its AIFunction, invokes it with the model-chosen arguments, and sends a FunctionResultContent back. We only see the final AgentResponse.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every tool you attach is invoked without asking for approval, and the model chooses the arguments. Treat those arguments as untrusted input from the model, not from your own code. That's why our tools validate their inputs against known tables and return a clear error string for anything they don't recognise. Lesson 9, Approvals, adds a gate in front of this: the same kind of AIFunction, wrapped so a call needs approval before it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wording will vary by run. The prompt: I'm in New York and need to call a colleague in Tokyo, and I also want to know how much 250 USD is in EUR for my trip. What's the local time in both cities, and what is that converted amount? The model never received the current time or an exchange rate in its instructions. Both numbers came from TravelTools.GetCurrentTimeInCity and TravelTools.ConvertCurrency actually executing as local C# code, mid-conversation, without any dispatch logic we wrote ourselves. On the slide, two phrases from the lesson's sample output are cut, marked with '...': the remark that it is 'already tomorrow evening' in Tokyo, which doesn't match the times shown, and 'at current rates', since the tool uses a fixed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piece goes. Tool calls run through the agent's pipeline, and Lesson 6 adds function-calling middleware that fires once per tool invocation. A tool is just an AIFunction, and on Lesson 7 an MCP server's tools arrive as McpClientTool, which already is an AIFunction, so the agent uses them the same way. Lesson 8 contrasts these local, in-process tools with hosted tools the provider runs itself. Lesson 9 wraps an ordinary AIFunction in ApprovalRequiredAIFunction so a call needs approval first. And in Lesson 23, tools are given per agent: the Researcher alone gets genuine MCP tool access. All of this ships in the Lessons 22 to 24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Function Tools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Foundations: giving the agent local C# functions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1's ChatClientAgent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Lesson02-FunctionTools/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AITool and AIFunction, the tool abstraction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Turning a C# method into a tool</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[Description] decides tool choice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function-calling loop MAF runs for you</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Treating tool arguments as untrusted</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 — Function Tools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AITool and AIFunction</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AITool</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Anything a model can call as a capability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tool ends up in an IList&lt;AITool&gt;</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AIFunction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concrete AITool subtype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Wraps a .NET delegate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Both come from Microsoft.Extensions.AI</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tool is plain C#: no MAF base class, no interface.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 — Function Tools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AIFunctionFactory.Create: method to schema</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 method</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TravelTools.</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ConvertCurrency, static, no base class</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450" b="1" dirty="0">
                <a:solidFill>
                  <a:srgbClr val="1F2937"/>
                </a:solidFill>
                <a:latin typeface="Calibri" pitchFamily="34" charset="0"/>
                <a:ea typeface="Calibri" pitchFamily="34" charset="-122"/>
                <a:cs typeface="Calibri" pitchFamily="34" charset="-120"/>
              </a:rPr>
              <a:t>[Description]</a:t>
            </a:r>
            <a:endParaRPr lang="en-US" sz="145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 the method and on every parameter</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100" b="1" dirty="0">
                <a:solidFill>
                  <a:srgbClr val="1F2937"/>
                </a:solidFill>
                <a:latin typeface="Calibri" pitchFamily="34" charset="0"/>
                <a:ea typeface="Calibri" pitchFamily="34" charset="-122"/>
                <a:cs typeface="Calibri" pitchFamily="34" charset="-120"/>
              </a:rPr>
              <a:t>AIFunctionFactory</a:t>
            </a:r>
            <a:endParaRPr lang="en-US" sz="11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Reflects over it and builds a JSON Schema</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AIFunction</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Sent to the model as a tool it may call</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Vague or missing descriptions directly hurt tool selection.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 — Function Tools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Tools live on the agent, not the connection</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TravelAssistant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ChatClientAgent with a tools list. Both tools are available on every RunAsync.</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Time tool</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GetCurrentTimeInCity(city)</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Currency tool</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ConvertCurrency(amount, from, to)</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Instructions</a:t>
            </a:r>
            <a:endParaRPr lang="en-US" sz="145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Use the tools; never guess a time or a rate</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Per-call tools can be added through ChatClientAgentRunOptions.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 — Function Tools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function-calling loop is automatic</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Model asks</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Replies with FunctionCallContent</a:t>
            </a:r>
            <a:endParaRPr lang="en-US" sz="11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Agent runs it</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FunctionInvoking</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ChatClient calls the AIFunction</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Result returns</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FunctionResultContent goes back to the model</a:t>
            </a:r>
            <a:endParaRPr lang="en-US" sz="10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Final answer</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Repeats until the model answers in text</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All of this happens inside one RunAsync call. We write no dispatch code.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 — Function Tools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trust boundary</a:t>
            </a:r>
            <a:endParaRPr lang="en-US" sz="2800" dirty="0"/>
          </a:p>
        </p:txBody>
      </p:sp>
      <p:sp>
        <p:nvSpPr>
          <p:cNvPr id="4" name="Shape 2"/>
          <p:cNvSpPr/>
          <p:nvPr/>
        </p:nvSpPr>
        <p:spPr>
          <a:xfrm>
            <a:off x="457200" y="1371600"/>
            <a:ext cx="39319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Today: no gate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attached tool runs without approval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chooses the arguments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Treat them as untrusted input</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9: approvals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gate in front of the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human or a rule approves first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same AIFunction, wrapped</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Tool arguments come from the model, not from your code.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 — Function Tools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tools, one answer</a:t>
            </a:r>
            <a:endParaRPr lang="en-US" sz="2800" dirty="0"/>
          </a:p>
        </p:txBody>
      </p:sp>
      <p:sp>
        <p:nvSpPr>
          <p:cNvPr id="4" name="Shape 2"/>
          <p:cNvSpPr/>
          <p:nvPr/>
        </p:nvSpPr>
        <p:spPr>
          <a:xfrm>
            <a:off x="457200" y="1325880"/>
            <a:ext cx="5257800" cy="1082040"/>
          </a:xfrm>
          <a:prstGeom prst="roundRect">
            <a:avLst>
              <a:gd name="adj" fmla="val 6761"/>
            </a:avLst>
          </a:prstGeom>
          <a:solidFill>
            <a:srgbClr val="0F1420"/>
          </a:solidFill>
          <a:ln w="12700">
            <a:solidFill>
              <a:srgbClr val="0F1420"/>
            </a:solidFill>
            <a:prstDash val="solid"/>
          </a:ln>
        </p:spPr>
      </p:sp>
      <p:sp>
        <p:nvSpPr>
          <p:cNvPr id="5" name="Text 3"/>
          <p:cNvSpPr txBox="1"/>
          <p:nvPr/>
        </p:nvSpPr>
        <p:spPr>
          <a:xfrm>
            <a:off x="640080" y="1463040"/>
            <a:ext cx="4892040" cy="807720"/>
          </a:xfrm>
          <a:prstGeom prst="rect">
            <a:avLst/>
          </a:prstGeom>
          <a:noFill/>
          <a:ln/>
        </p:spPr>
        <p:txBody>
          <a:bodyPr wrap="square" lIns="0" tIns="0" rIns="0" bIns="0" rtlCol="0" anchor="t"/>
          <a:lstStyle/>
          <a:p>
            <a:pPr indent="0" marL="0">
              <a:buNone/>
            </a:pPr>
            <a:r>
              <a:rPr lang="en-US" sz="1100" dirty="0">
                <a:solidFill>
                  <a:srgbClr val="9FE6B8"/>
                </a:solidFill>
                <a:latin typeface="Courier New" pitchFamily="34" charset="0"/>
                <a:ea typeface="Courier New" pitchFamily="34" charset="-122"/>
                <a:cs typeface="Courier New" pitchFamily="34" charset="-120"/>
              </a:rPr>
              <a:t>It's currently 09:14 in New York (UTC-4) and</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22:14 in Tokyo (UTC+9) ... As for your trip</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budget, 250 USD converts to approximately</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230 EUR ...</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Time tool ran</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Called once per city</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Currency tool ran</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250 × 0.92 from the fixed table</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 — Function Tools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 pass through IChatClient</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6  </a:t>
            </a:r>
            <a:pPr indent="0" marL="0">
              <a:buNone/>
            </a:pPr>
            <a:r>
              <a:rPr lang="en-US" sz="1250" dirty="0">
                <a:solidFill>
                  <a:srgbClr val="FFFFFF"/>
                </a:solidFill>
                <a:latin typeface="Calibri" pitchFamily="34" charset="0"/>
                <a:ea typeface="Calibri" pitchFamily="34" charset="-122"/>
                <a:cs typeface="Calibri" pitchFamily="34" charset="-120"/>
              </a:rPr>
              <a:t>Function-calling middleware fires once per tool call</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 are just AIFunctions</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7  </a:t>
            </a:r>
            <a:pPr indent="0" marL="0">
              <a:buNone/>
            </a:pPr>
            <a:r>
              <a:rPr lang="en-US" sz="1250" dirty="0">
                <a:solidFill>
                  <a:srgbClr val="FFFFFF"/>
                </a:solidFill>
                <a:latin typeface="Calibri" pitchFamily="34" charset="0"/>
                <a:ea typeface="Calibri" pitchFamily="34" charset="-122"/>
                <a:cs typeface="Calibri" pitchFamily="34" charset="-120"/>
              </a:rPr>
              <a:t>MCP server tools arrive as AIFunctions too</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Local tools run in-process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8  </a:t>
            </a:r>
            <a:pPr indent="0" marL="0">
              <a:buNone/>
            </a:pPr>
            <a:r>
              <a:rPr lang="en-US" sz="1250" dirty="0">
                <a:solidFill>
                  <a:srgbClr val="FFFFFF"/>
                </a:solidFill>
                <a:latin typeface="Calibri" pitchFamily="34" charset="0"/>
                <a:ea typeface="Calibri" pitchFamily="34" charset="-122"/>
                <a:cs typeface="Calibri" pitchFamily="34" charset="-120"/>
              </a:rPr>
              <a:t>Hosted tools run on the provider instead</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approval by default</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9  </a:t>
            </a:r>
            <a:pPr indent="0" marL="0">
              <a:buNone/>
            </a:pPr>
            <a:r>
              <a:rPr lang="en-US" sz="1250" dirty="0">
                <a:solidFill>
                  <a:srgbClr val="FFFFFF"/>
                </a:solidFill>
                <a:latin typeface="Calibri" pitchFamily="34" charset="0"/>
                <a:ea typeface="Calibri" pitchFamily="34" charset="-122"/>
                <a:cs typeface="Calibri" pitchFamily="34" charset="-120"/>
              </a:rPr>
              <a:t>ApprovalRequiredAIFunction gates a tool call</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 per agent</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The Researcher alone gets MCP research tools</a:t>
            </a:r>
            <a:endParaRPr lang="en-US" sz="1250" dirty="0"/>
          </a:p>
        </p:txBody>
      </p:sp>
      <p:sp>
        <p:nvSpPr>
          <p:cNvPr id="24"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 — Function Tools</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 — Function Tools</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2026-10-07T20:11:50Z</dcterms:created>
  <dcterms:modified xsi:type="dcterms:W3CDTF">2026-10-07T20:11:50Z</dcterms:modified>
</cp:coreProperties>
</file>