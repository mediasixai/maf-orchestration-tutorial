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designs the Lessons 22 to 24 capstone: a Researcher, Analyst, Writer pipeline built as one graph workflow, with a human-approval request port between the Analyst and the Writer, checkpointed so a paused run survives a restart, and hosted as a single agent over the Responses protocol. It defines the shared pieces the graph is assembled from: the personas, the AnalysisResult data contract, the Analyst's parser, the approval request, and a config loader. Then it tests the riskiest seam against a live model: the Analyst's free-text reply becoming a typed AnalysisResult, and then the approval request a human will review. Settling these contracts now is what makes Lesson 23 composition rather than new problem-solving. Prerequisites: this lesson composes patterns from across the series. Lesson 1's agent factory and personas, Lesson 3's structured output, Lesson 7's MCP tools, Lesson 9's ToolApprovalRequestContent and ToolApprovalResponseContent, Lessons 10 and 11's graphs, custom executors and MessageHandler, Lesson 17's RequestPort, Lesson 18's checkpointing, and Lesson 21's AddFoundryResponses hosting. The code stands alone and needs only an API key. Packages are Microsoft.Agents.AI 1.24.0, Microsoft.Extensions.AI.OpenAI 10.10.1 and OpenAI 2.14.0.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anything, here is what the series has already built and where each piece lands in the capstone. Lesson 1's agent factory and persona instructions give us all three roles. Lesson 3's structured output is the goal for the Analyst's AnalysisResult. Lesson 7's MCP pattern is the Researcher's tool source, wired up in Lesson 23. Lessons 10 and 11, graphs and custom executors with MessageHandler, give the shape: a graph built by hand with WorkflowBuilder. Lesson 9's approval contents, ToolApprovalRequestContent and ToolApprovalResponseContent, are what Lesson 17's RequestPort will carry. Lesson 18's checkpointing makes the pause durable, and Lesson 21's AddFoundryResponses hosting is how Lesson 24 serves the finished graph. Today adds no new API. It decides how these pieces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of the capstone, research, analysis, the human decision and the write-up, is a node in a single WorkflowBuilder graph. One run carries a topic all the way to a report, and the pause for approval happens inside that run. The user message is the research topic. The research node is ResearchExecutor, a ChatProtocolExecutor, running the Researcher agent with the MCP tool SearchResearchNotes from Lesson 7; it sends ResearchNotes, the topic and the raw notes. The analysis node is AnalysisExecutor: the Analyst agent's reply goes through AnalysisParser into an AnalysisResult, which is also saved in workflow state. It sends a ToolApprovalRequestContent named publish_report, with the analysis as its arguments. The report-approval node is a RequestPort of ToolApprovalRequestContent and ToolApprovalResponseContent, and the run pauses there until a person answers, Lesson 17's pattern. The answer, approved or rejected, goes to WriterExecutor, which reads the AnalysisResult from state and yields the report. The run is checkpointed after every step, Lesson 18, and in Lesson 24 the whole graph is hosted as one agent with Workflow.AsAIAgent and AddFoundryResponses, Lesson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framework net10.0. Packages: Microsoft.Agents.AI 1.24.0 for ChatClientAgent and AgentResponse, Microsoft.Extensions.AI.OpenAI 10.10.1, which also brings ToolApprovalRequestContent from Microsoft.Extensions.AI, and OpenAI 2.14.0. This lesson runs two agents directly, so it does not reference Microsoft.Agents.AI.Workflows yet. Lesson 23 adds it, along with Microsoft.Agents.AI.Workflows.Generators for the MessageHandler executors. Set OPENAI_API_KEY. MAF_LLM and MAF_MODEL are both required, with no built-in defaults: set MAF_LLM to OPENAI and MAF_MODEL to gpt-4.1-mini, the values the demos use, or pick AZURE, GEMINI, OLLAMA or LMSTUDIO with a model that provider serves; on Gemini use gemini-2.5-flash, because the factory refuses Gemini 3 models. No agent code changes. One lesson-specific setting: CAPSTONE_RESEARCH_TOPIC is optional and defaults to the deep sea anglerfish.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has one job, one input and one output. The Researcher gathers sourced facts: its input is the topic, its output raw notes citing sources, and its tool is SearchResearchNotes over MCP. The Analyst turns notes into structure: its input is the topic and the notes, its output JSON in the AnalysisResult shape, and it has no tools. The Writer turns approved structure into prose: its input is the approved AnalysisResult as JSON, its output a short report, and it has no tools. Tool access per agent is least privilege. Only the Researcher reaches outside the process, through the companion ResearchMcpServer, Lesson 7's pattern, added in Lesson 23. The Analyst and Writer are pure reasoning passes over text an earlier step already gathered. In this lesson's seam test the Researcher has no tools yet either, and answers from the model's own knowledge so the test stays fast and dependency-free.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agent runs inside its own executor, calling agent.RunAsync in a handler, so the edges carry typed contracts: ResearchNotes, then ToolApprovalRequestContent, then ToolApprovalResponseContent, rather than a chat transcript. AgentWorkflowBuilder.BuildSequential from Lesson 12 is the right tool for a pure agent chain. This pipeline needs a request port in the middle and typed hand-offs, so the graph is built by hand with WorkflowBuilder, Lessons 10 and 11. The ids research, analysis, report-approval and writer are fixed, so a checkpoint written by one process restores onto the graph another process builds. The roles are fixed and known in advance, so a planner-led Magentic orchestration from Lesson 16 is not needed. One more design choice: the start node speaks the chat protocol. Workflow.AsAIAgent drives a workflow by sending it chat messages and then a TurnToken. Designing the start node as a ChatProtocolExecutor from the beginning means Lesson 23's console graph is hosted in Lesson 24 without changing a line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 sits between the Analyst and the Writer. That is the cheapest point to stop bad facts: after they have been structured, and before any prose is generated from them. The reviewer sees the structured analysis, not a finished draft. The request is the standard ToolApprovalRequestContent from Microsoft.Extensions.AI, Lesson 9's type. It names the action awaiting sign-off, publish_report, and carries the topic, summary and findings as that action's arguments. ReportApprovalRequest.Create builds it with fresh request and call ids, and every argument is a plain string, so it reads the same after a checkpoint round trip and on any wire format. The answer is the matching ToolApprovalResponseContent. Because these are the standard approval contents, every surface that hosts the workflow knows how to carry them: at the console in Lesson 23 they are read and answered directly, and over the Responses protocol in Lesson 24 they travel as an mcp_approval_request item and an mcp_approval_response input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output here is a prompt contract plus a parser, and that is a design choice. The Analyst's instructions spell out the exact JSON shape to emit: Topic, Summary, and KeyFindings, a list of Fact and Source, with exactly two findings, no code fences and no commentary. AnalysisParser is the receiving side. It runs JsonFenceStripper first, then deserializes with case-insensitive property names, and throws with the offending text if the reply does not match. Keeping the contract in the instructions makes the shape visible in one place and parses the same way on every provider MAF_LLM can select. The fence stripper is defensive parsing: the instructions forbid code fences, and the parser accepts a reply either way. In the seam test, Main builds two agents through AgentFactory.CreateAgent. The Researcher runs on the topic, and the Analyst runs on its notes with the same prompt shape AnalysisExecutor uses in Lesson 23: Topic, then Research notes and the notes. AnalysisParser.Parse is the seam under test; a failure here surfaces now, not in the middle of Lesson 23's graph. Finally ReportApprovalRequest.Create builds the request the approval port will carry, and Describe formats it the way a reviewer will read it. The Writer is not needed here: it sits after the port, and this test stops before the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between nodes follows one rule: messages for the hand-off, state for what must survive the pause. Each node passes its result to the next as a message, either a handler's return value or SendMessageAsync. The AnalysisResult is also written to workflow state with QueueStateUpdateAsync, because the Writer needs it after the pause, and workflow state is part of every checkpoint. Durability: in Lesson 23 the run is checkpointed to disk with CheckpointManager.CreateJson over a FileSystemJsonCheckpointStore. When the graph pauses at the approval port, the process can exit. A fresh process restores the latest checkpoint, sees the same pending request, and resumes the run once the decision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Workflow.AsAIAgent turns the whole graph into one AIAgent, and AddFoundryResponses with MapFoundryResponses, Lesson 21's hosting, serve it at POST /responses, locally, with no Azure resources. Two properties make it the right surface for this capstone. First, the approval request travels natively as an approval item a client answers in a follow-up request. Second, the hosting layer checkpoints the workflow agent's session automatically, so a pending approval survives a host restart. The lesson plan: Lesson 22, this one, fixes the contracts and tests the Researcher to Analyst seam. Lesson 23 builds the graph as a console app, answers the approval at the console, and resumes a paused run in a fresh process. Lesson 24 hosts that same graph over the Responses protocol, drives it from an HTTP client, and reviews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reusable pieces this lesson introduces. AgentInstructions holds the personas for all three roles. ResearchFinding and AnalysisResult are the contract between steps: a topic, a summary, and a list of facts with sources. AnalysisParser with JsonFenceStripper is the receiving side of the Analyst's contract. ReportApprovalRequest builds and describes the approval request. And PipelineConfig loads the settings beyond the model provider: CAPSTONE_RESEARCH_TOPIC, plus CAPSTONE_MCP_SERVER_PATH, which this lesson declares but does not read, so Lesson 23 adds MCP wiring without new config plumbing. ChatClientFactory and AgentFactory are the series' shared helpers; Lesson 23 adds a tools-accepting overload to AgentFactory for the Researcher's MCP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output for this lesson is pending re-capture: it has not yet been run with an API key, so the panel's first line says so, and only the five fixed lines from Program.cs are shown. Three of them are rewrapped to fit; the words are unchanged. No model text appears on the slide, because none has been captured. What the lesson describes for the rest: under the Seam test header, Researcher, Analyst, AnalysisResult, the run prints Researcher notes followed by two or three short notes on the topic, each attributed to a source, then Parsed AnalysisResult with 2 key findings. Under the header What the approval port will carry, it prints Action: publish_report, then the reviewer's view of the request: Topic, Summary, and Key findings with one fact and source line per finding. The wording varies between runs; the shape does not. The Analyst's reply parses into AnalysisResult, its instructions asking for exactly two findings, or the run stops with the reply quoted in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design decision goes. The personas and contracts, AgentInstructions, AnalysisResult, AnalysisParser, ReportApprovalRequest and PipelineConfig, are reused unchanged by Lesson 23's graph. The AnalysisParser seam proven today is exactly what AnalysisExecutor runs on the Analyst's reply. The report-approval port pauses Lesson 23's run, and the decision is typed at the console. The checkpointed graph lets dotnet run exit at the port and dotnet run -- resume finish the run in a fresh process. The chat-protocol start node is why Lesson 24 hosts the same graph unchanged through Workflow.AsAIAgent. And the standard approval contents travel over the Responses protocol as an mcp_approval_request item and an mcp_approval_response input item. CAPSTONE_MCP_SERVER_PATH, declared today, is read in Lesson 23 and set by Lesson 24's Dockerfile. All of it ships in the Lessons 22 to 24 capstone, the research-and-report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22  ·  PHASE 3 CAPSTONE</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Capstone Design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One checkpointed graph, with a human decision in the middle</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patterns from Lessons 1–21</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Lesson22-CapstoneDesign/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Researcher → Analyst → Writer graph</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Each agent's job and tool access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Where the approval port sits, and what it carries</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the graph is hosted over Responses</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seam test: notes to a typed AnalysisResult</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WHERE WE ARE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series so far, mapped onto the capstone</a:t>
            </a:r>
            <a:endParaRPr lang="en-US" sz="2800" dirty="0"/>
          </a:p>
        </p:txBody>
      </p:sp>
      <p:sp>
        <p:nvSpPr>
          <p:cNvPr id="4" name="Shape 2"/>
          <p:cNvSpPr/>
          <p:nvPr/>
        </p:nvSpPr>
        <p:spPr>
          <a:xfrm>
            <a:off x="457200" y="1371600"/>
            <a:ext cx="2560320" cy="1188720"/>
          </a:xfrm>
          <a:prstGeom prst="roundRect">
            <a:avLst>
              <a:gd name="adj" fmla="val 6154"/>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Lesson 1 · Personas</a:t>
            </a:r>
            <a:endParaRPr lang="en-US" sz="1400" dirty="0"/>
          </a:p>
        </p:txBody>
      </p:sp>
      <p:sp>
        <p:nvSpPr>
          <p:cNvPr id="8" name="Text 5"/>
          <p:cNvSpPr txBox="1"/>
          <p:nvPr/>
        </p:nvSpPr>
        <p:spPr>
          <a:xfrm>
            <a:off x="64008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One factory, three roles: Researcher, Analyst, Writer</a:t>
            </a:r>
            <a:endParaRPr lang="en-US" sz="1200" dirty="0"/>
          </a:p>
        </p:txBody>
      </p:sp>
      <p:sp>
        <p:nvSpPr>
          <p:cNvPr id="9" name="Shape 6"/>
          <p:cNvSpPr/>
          <p:nvPr/>
        </p:nvSpPr>
        <p:spPr>
          <a:xfrm>
            <a:off x="3291840" y="1371600"/>
            <a:ext cx="2560320" cy="1188720"/>
          </a:xfrm>
          <a:prstGeom prst="roundRect">
            <a:avLst>
              <a:gd name="adj" fmla="val 6154"/>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Lesson 3 · Structure</a:t>
            </a:r>
            <a:endParaRPr lang="en-US" sz="1400" dirty="0"/>
          </a:p>
        </p:txBody>
      </p:sp>
      <p:sp>
        <p:nvSpPr>
          <p:cNvPr id="13" name="Text 9"/>
          <p:cNvSpPr txBox="1"/>
          <p:nvPr/>
        </p:nvSpPr>
        <p:spPr>
          <a:xfrm>
            <a:off x="347472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Analyst's typed AnalysisResult</a:t>
            </a:r>
            <a:endParaRPr lang="en-US" sz="1200" dirty="0"/>
          </a:p>
        </p:txBody>
      </p:sp>
      <p:sp>
        <p:nvSpPr>
          <p:cNvPr id="14" name="Shape 10"/>
          <p:cNvSpPr/>
          <p:nvPr/>
        </p:nvSpPr>
        <p:spPr>
          <a:xfrm>
            <a:off x="6126480" y="1371600"/>
            <a:ext cx="2560320" cy="1188720"/>
          </a:xfrm>
          <a:prstGeom prst="roundRect">
            <a:avLst>
              <a:gd name="adj" fmla="val 6154"/>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Lesson 7 · MCP</a:t>
            </a:r>
            <a:endParaRPr lang="en-US" sz="1500" dirty="0"/>
          </a:p>
        </p:txBody>
      </p:sp>
      <p:sp>
        <p:nvSpPr>
          <p:cNvPr id="18" name="Text 13"/>
          <p:cNvSpPr txBox="1"/>
          <p:nvPr/>
        </p:nvSpPr>
        <p:spPr>
          <a:xfrm>
            <a:off x="6309360" y="205740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Researcher's tool source, wired in Lesson 23</a:t>
            </a:r>
            <a:endParaRPr lang="en-US" sz="1200" dirty="0"/>
          </a:p>
        </p:txBody>
      </p:sp>
      <p:sp>
        <p:nvSpPr>
          <p:cNvPr id="19" name="Shape 14"/>
          <p:cNvSpPr/>
          <p:nvPr/>
        </p:nvSpPr>
        <p:spPr>
          <a:xfrm>
            <a:off x="457200" y="2788920"/>
            <a:ext cx="2560320" cy="1188720"/>
          </a:xfrm>
          <a:prstGeom prst="roundRect">
            <a:avLst>
              <a:gd name="adj" fmla="val 6154"/>
            </a:avLst>
          </a:prstGeom>
          <a:solidFill>
            <a:srgbClr val="512BD4"/>
          </a:solidFill>
          <a:ln w="12700">
            <a:solidFill>
              <a:srgbClr val="512BD4"/>
            </a:solidFill>
            <a:prstDash val="solid"/>
          </a:ln>
        </p:spPr>
      </p:sp>
      <p:sp>
        <p:nvSpPr>
          <p:cNvPr id="20" name="Shape 15"/>
          <p:cNvSpPr/>
          <p:nvPr/>
        </p:nvSpPr>
        <p:spPr>
          <a:xfrm>
            <a:off x="640080" y="2971800"/>
            <a:ext cx="384048" cy="384048"/>
          </a:xfrm>
          <a:prstGeom prst="ellipse">
            <a:avLst/>
          </a:prstGeom>
          <a:solidFill>
            <a:srgbClr val="FFFFFF"/>
          </a:solidFill>
          <a:ln w="12700">
            <a:solidFill>
              <a:srgbClr val="FFFFFF"/>
            </a:solidFill>
            <a:prstDash val="solid"/>
          </a:ln>
        </p:spPr>
      </p:sp>
      <p:pic>
        <p:nvPicPr>
          <p:cNvPr id="21" name="Image 3" descr="preencoded.png">    </p:cNvPr>
          <p:cNvPicPr>
            <a:picLocks noChangeAspect="1"/>
          </p:cNvPicPr>
          <p:nvPr/>
        </p:nvPicPr>
        <p:blipFill>
          <a:blip r:embed="rId4"/>
          <a:stretch>
            <a:fillRect/>
          </a:stretch>
        </p:blipFill>
        <p:spPr>
          <a:xfrm>
            <a:off x="739932" y="3071652"/>
            <a:ext cx="184343" cy="184343"/>
          </a:xfrm>
          <a:prstGeom prst="rect">
            <a:avLst/>
          </a:prstGeom>
        </p:spPr>
      </p:pic>
      <p:sp>
        <p:nvSpPr>
          <p:cNvPr id="22" name="Text 16"/>
          <p:cNvSpPr txBox="1"/>
          <p:nvPr/>
        </p:nvSpPr>
        <p:spPr>
          <a:xfrm>
            <a:off x="1143000" y="297180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Lessons 10–11 · Graphs</a:t>
            </a:r>
            <a:endParaRPr lang="en-US" sz="1300" dirty="0"/>
          </a:p>
        </p:txBody>
      </p:sp>
      <p:sp>
        <p:nvSpPr>
          <p:cNvPr id="23" name="Text 17"/>
          <p:cNvSpPr txBox="1"/>
          <p:nvPr/>
        </p:nvSpPr>
        <p:spPr>
          <a:xfrm>
            <a:off x="640080" y="3474720"/>
            <a:ext cx="2194560" cy="41148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hand-built graph of custom executors</a:t>
            </a:r>
            <a:endParaRPr lang="en-US" sz="1200" dirty="0"/>
          </a:p>
        </p:txBody>
      </p:sp>
      <p:sp>
        <p:nvSpPr>
          <p:cNvPr id="24" name="Shape 18"/>
          <p:cNvSpPr/>
          <p:nvPr/>
        </p:nvSpPr>
        <p:spPr>
          <a:xfrm>
            <a:off x="3291840" y="2788920"/>
            <a:ext cx="2560320" cy="1188720"/>
          </a:xfrm>
          <a:prstGeom prst="roundRect">
            <a:avLst>
              <a:gd name="adj" fmla="val 6154"/>
            </a:avLst>
          </a:prstGeom>
          <a:solidFill>
            <a:srgbClr val="EFEBFC"/>
          </a:solidFill>
          <a:ln w="12700">
            <a:solidFill>
              <a:srgbClr val="EFEBFC"/>
            </a:solidFill>
            <a:prstDash val="solid"/>
          </a:ln>
        </p:spPr>
      </p:sp>
      <p:sp>
        <p:nvSpPr>
          <p:cNvPr id="25" name="Shape 19"/>
          <p:cNvSpPr/>
          <p:nvPr/>
        </p:nvSpPr>
        <p:spPr>
          <a:xfrm>
            <a:off x="3474720" y="2971800"/>
            <a:ext cx="384048" cy="384048"/>
          </a:xfrm>
          <a:prstGeom prst="ellipse">
            <a:avLst/>
          </a:prstGeom>
          <a:solidFill>
            <a:srgbClr val="512BD4"/>
          </a:solidFill>
          <a:ln w="12700">
            <a:solidFill>
              <a:srgbClr val="512BD4"/>
            </a:solidFill>
            <a:prstDash val="solid"/>
          </a:ln>
        </p:spPr>
      </p:sp>
      <p:pic>
        <p:nvPicPr>
          <p:cNvPr id="26" name="Image 4" descr="preencoded.png">    </p:cNvPr>
          <p:cNvPicPr>
            <a:picLocks noChangeAspect="1"/>
          </p:cNvPicPr>
          <p:nvPr/>
        </p:nvPicPr>
        <p:blipFill>
          <a:blip r:embed="rId5"/>
          <a:stretch>
            <a:fillRect/>
          </a:stretch>
        </p:blipFill>
        <p:spPr>
          <a:xfrm>
            <a:off x="3574572" y="3071652"/>
            <a:ext cx="184343" cy="184343"/>
          </a:xfrm>
          <a:prstGeom prst="rect">
            <a:avLst/>
          </a:prstGeom>
        </p:spPr>
      </p:pic>
      <p:sp>
        <p:nvSpPr>
          <p:cNvPr id="27" name="Text 20"/>
          <p:cNvSpPr txBox="1"/>
          <p:nvPr/>
        </p:nvSpPr>
        <p:spPr>
          <a:xfrm>
            <a:off x="3977640" y="297180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Lessons 9, 17 · Approval</a:t>
            </a:r>
            <a:endParaRPr lang="en-US" sz="1200" dirty="0"/>
          </a:p>
        </p:txBody>
      </p:sp>
      <p:sp>
        <p:nvSpPr>
          <p:cNvPr id="28" name="Text 21"/>
          <p:cNvSpPr txBox="1"/>
          <p:nvPr/>
        </p:nvSpPr>
        <p:spPr>
          <a:xfrm>
            <a:off x="347472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Standard approval contents on a RequestPort</a:t>
            </a:r>
            <a:endParaRPr lang="en-US" sz="1200" dirty="0"/>
          </a:p>
        </p:txBody>
      </p:sp>
      <p:sp>
        <p:nvSpPr>
          <p:cNvPr id="29" name="Shape 22"/>
          <p:cNvSpPr/>
          <p:nvPr/>
        </p:nvSpPr>
        <p:spPr>
          <a:xfrm>
            <a:off x="6126480" y="2788920"/>
            <a:ext cx="2560320" cy="1188720"/>
          </a:xfrm>
          <a:prstGeom prst="roundRect">
            <a:avLst>
              <a:gd name="adj" fmla="val 6154"/>
            </a:avLst>
          </a:prstGeom>
          <a:solidFill>
            <a:srgbClr val="EFEBFC"/>
          </a:solidFill>
          <a:ln w="12700">
            <a:solidFill>
              <a:srgbClr val="EFEBFC"/>
            </a:solidFill>
            <a:prstDash val="solid"/>
          </a:ln>
        </p:spPr>
      </p:sp>
      <p:sp>
        <p:nvSpPr>
          <p:cNvPr id="30" name="Shape 23"/>
          <p:cNvSpPr/>
          <p:nvPr/>
        </p:nvSpPr>
        <p:spPr>
          <a:xfrm>
            <a:off x="6309360" y="2971800"/>
            <a:ext cx="384048" cy="384048"/>
          </a:xfrm>
          <a:prstGeom prst="ellipse">
            <a:avLst/>
          </a:prstGeom>
          <a:solidFill>
            <a:srgbClr val="512BD4"/>
          </a:solidFill>
          <a:ln w="12700">
            <a:solidFill>
              <a:srgbClr val="512BD4"/>
            </a:solidFill>
            <a:prstDash val="solid"/>
          </a:ln>
        </p:spPr>
      </p:sp>
      <p:pic>
        <p:nvPicPr>
          <p:cNvPr id="31" name="Image 5" descr="preencoded.png">    </p:cNvPr>
          <p:cNvPicPr>
            <a:picLocks noChangeAspect="1"/>
          </p:cNvPicPr>
          <p:nvPr/>
        </p:nvPicPr>
        <p:blipFill>
          <a:blip r:embed="rId6"/>
          <a:stretch>
            <a:fillRect/>
          </a:stretch>
        </p:blipFill>
        <p:spPr>
          <a:xfrm>
            <a:off x="6409212" y="3071652"/>
            <a:ext cx="184343" cy="184343"/>
          </a:xfrm>
          <a:prstGeom prst="rect">
            <a:avLst/>
          </a:prstGeom>
        </p:spPr>
      </p:pic>
      <p:sp>
        <p:nvSpPr>
          <p:cNvPr id="32" name="Text 24"/>
          <p:cNvSpPr txBox="1"/>
          <p:nvPr/>
        </p:nvSpPr>
        <p:spPr>
          <a:xfrm>
            <a:off x="6812280" y="2971800"/>
            <a:ext cx="1737360" cy="384048"/>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Lessons 18, 21 · Durable</a:t>
            </a:r>
            <a:endParaRPr lang="en-US" sz="1200" dirty="0"/>
          </a:p>
        </p:txBody>
      </p:sp>
      <p:sp>
        <p:nvSpPr>
          <p:cNvPr id="33" name="Text 25"/>
          <p:cNvSpPr txBox="1"/>
          <p:nvPr/>
        </p:nvSpPr>
        <p:spPr>
          <a:xfrm>
            <a:off x="6309360" y="3474720"/>
            <a:ext cx="2194560" cy="4114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Checkpoints, then hosting over Responses</a:t>
            </a:r>
            <a:endParaRPr lang="en-US" sz="1200" dirty="0"/>
          </a:p>
        </p:txBody>
      </p:sp>
      <p:sp>
        <p:nvSpPr>
          <p:cNvPr id="34" name="Text 26"/>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Today adds no new API. It decides how these pieces fit together.</a:t>
            </a:r>
            <a:endParaRPr lang="en-US" sz="1400" dirty="0"/>
          </a:p>
        </p:txBody>
      </p:sp>
      <p:sp>
        <p:nvSpPr>
          <p:cNvPr id="35"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36"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architecture is one graph</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research</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Researcher + MCP tool. Sends ResearchNotes</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analysis</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Analyst, parsed into an AnalysisResult</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report-approval</a:t>
            </a:r>
            <a:endParaRPr lang="en-US" sz="125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Request port. The run pauses for a person</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writer</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Writer turns the approved analysis into a report</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Checkpointed after every step. Hosted as one agent in Lesson 24.</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agents, one key, one optional topic</a:t>
            </a:r>
            <a:endParaRPr lang="en-US" sz="2800" dirty="0"/>
          </a:p>
        </p:txBody>
      </p:sp>
      <p:sp>
        <p:nvSpPr>
          <p:cNvPr id="4" name="Shape 2"/>
          <p:cNvSpPr/>
          <p:nvPr/>
        </p:nvSpPr>
        <p:spPr>
          <a:xfrm>
            <a:off x="457200" y="1371600"/>
            <a:ext cx="2560320" cy="1920240"/>
          </a:xfrm>
          <a:prstGeom prst="roundRect">
            <a:avLst>
              <a:gd name="adj" fmla="val 3810"/>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No Workflows yet</a:t>
            </a:r>
            <a:endParaRPr lang="en-US" sz="1500" dirty="0"/>
          </a:p>
        </p:txBody>
      </p:sp>
      <p:sp>
        <p:nvSpPr>
          <p:cNvPr id="8" name="Text 5"/>
          <p:cNvSpPr txBox="1"/>
          <p:nvPr/>
        </p:nvSpPr>
        <p:spPr>
          <a:xfrm>
            <a:off x="64008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Microsoft.Agents.AI 1.24.0 runs two agents directly</a:t>
            </a:r>
            <a:endParaRPr lang="en-US" sz="1200" dirty="0"/>
          </a:p>
        </p:txBody>
      </p:sp>
      <p:sp>
        <p:nvSpPr>
          <p:cNvPr id="9" name="Shape 6"/>
          <p:cNvSpPr/>
          <p:nvPr/>
        </p:nvSpPr>
        <p:spPr>
          <a:xfrm>
            <a:off x="3291840" y="1371600"/>
            <a:ext cx="2560320" cy="1920240"/>
          </a:xfrm>
          <a:prstGeom prst="roundRect">
            <a:avLst>
              <a:gd name="adj" fmla="val 3810"/>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OPENAI_API_KEY</a:t>
            </a:r>
            <a:endParaRPr lang="en-US" sz="1300" dirty="0"/>
          </a:p>
        </p:txBody>
      </p:sp>
      <p:sp>
        <p:nvSpPr>
          <p:cNvPr id="13" name="Text 9"/>
          <p:cNvSpPr txBox="1"/>
          <p:nvPr/>
        </p:nvSpPr>
        <p:spPr>
          <a:xfrm>
            <a:off x="3474720" y="2057400"/>
            <a:ext cx="2194560" cy="11430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Plus the required MAF_LLM and MAF_MODEL</a:t>
            </a:r>
            <a:endParaRPr lang="en-US" sz="1200" dirty="0"/>
          </a:p>
        </p:txBody>
      </p:sp>
      <p:sp>
        <p:nvSpPr>
          <p:cNvPr id="14" name="Shape 10"/>
          <p:cNvSpPr/>
          <p:nvPr/>
        </p:nvSpPr>
        <p:spPr>
          <a:xfrm>
            <a:off x="6126480" y="1371600"/>
            <a:ext cx="2560320" cy="1920240"/>
          </a:xfrm>
          <a:prstGeom prst="roundRect">
            <a:avLst>
              <a:gd name="adj" fmla="val 3810"/>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100" b="1" dirty="0">
                <a:solidFill>
                  <a:srgbClr val="FFFFFF"/>
                </a:solidFill>
                <a:latin typeface="Courier New" pitchFamily="34" charset="0"/>
                <a:ea typeface="Courier New" pitchFamily="34" charset="-122"/>
                <a:cs typeface="Courier New" pitchFamily="34" charset="-120"/>
              </a:rPr>
              <a:t>CAPSTONE_RESEARCH_</a:t>
            </a:r>
            <a:endParaRPr lang="en-US" sz="1100" dirty="0"/>
          </a:p>
          <a:p>
            <a:pPr indent="0" marL="0">
              <a:buNone/>
            </a:pPr>
            <a:r>
              <a:rPr lang="en-US" sz="1100" b="1" dirty="0">
                <a:solidFill>
                  <a:srgbClr val="FFFFFF"/>
                </a:solidFill>
                <a:latin typeface="Courier New" pitchFamily="34" charset="0"/>
                <a:ea typeface="Courier New" pitchFamily="34" charset="-122"/>
                <a:cs typeface="Courier New" pitchFamily="34" charset="-120"/>
              </a:rPr>
              <a:t>TOPIC</a:t>
            </a:r>
            <a:endParaRPr lang="en-US" sz="1100" dirty="0"/>
          </a:p>
        </p:txBody>
      </p:sp>
      <p:sp>
        <p:nvSpPr>
          <p:cNvPr id="18" name="Text 13"/>
          <p:cNvSpPr txBox="1"/>
          <p:nvPr/>
        </p:nvSpPr>
        <p:spPr>
          <a:xfrm>
            <a:off x="6309360" y="2057400"/>
            <a:ext cx="2194560" cy="11430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Optional. Defaults to "the deep sea anglerfish"</a:t>
            </a:r>
            <a:endParaRPr lang="en-US" sz="1200" dirty="0"/>
          </a:p>
        </p:txBody>
      </p:sp>
      <p:sp>
        <p:nvSpPr>
          <p:cNvPr id="19" name="Text 14"/>
          <p:cNvSpPr txBox="1"/>
          <p:nvPr/>
        </p:nvSpPr>
        <p:spPr>
          <a:xfrm>
            <a:off x="457200" y="35204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Lesson 23 adds the Workflows package and its source generator.</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job per agent, least-privilege tools</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Tools only where needed</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Only the Researcher reaches outside the process.</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Researcher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Topic → sourced notes. SearchResearchNotes over MCP</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Analyst</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Notes → AnalysisResult JSON. No tools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Writer</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Approved analysis → short report. No tools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Today's seam test gives the Researcher no tools, so it stays fast.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Graph shape: custom executors that call agents</a:t>
            </a:r>
            <a:endParaRPr lang="en-US" sz="27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BuildSequential</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Right for a pure agent chain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Edges carry a chat transcript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request port in the middle</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WorkflowBuilder, by hand</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Each agent runs inside an executor</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Edges carry typed contracts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Fixed ids, so checkpoints restore</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start node is a ChatProtocolExecutor, ready for hosting.</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500" b="1" dirty="0">
                <a:solidFill>
                  <a:srgbClr val="1F2937"/>
                </a:solidFill>
                <a:latin typeface="Cambria" pitchFamily="34" charset="0"/>
                <a:ea typeface="Cambria" pitchFamily="34" charset="-122"/>
                <a:cs typeface="Cambria" pitchFamily="34" charset="-120"/>
              </a:rPr>
              <a:t>Where the approval port sits, and what it carries</a:t>
            </a:r>
            <a:endParaRPr lang="en-US" sz="2500" dirty="0"/>
          </a:p>
        </p:txBody>
      </p:sp>
      <p:sp>
        <p:nvSpPr>
          <p:cNvPr id="4" name="Shape 2"/>
          <p:cNvSpPr/>
          <p:nvPr/>
        </p:nvSpPr>
        <p:spPr>
          <a:xfrm>
            <a:off x="457200" y="1371600"/>
            <a:ext cx="2560320" cy="2606040"/>
          </a:xfrm>
          <a:prstGeom prst="roundRect">
            <a:avLst>
              <a:gd name="adj" fmla="val 2857"/>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After the Analyst</a:t>
            </a:r>
            <a:endParaRPr lang="en-US" sz="1400" dirty="0"/>
          </a:p>
        </p:txBody>
      </p:sp>
      <p:sp>
        <p:nvSpPr>
          <p:cNvPr id="8" name="Text 5"/>
          <p:cNvSpPr txBox="1"/>
          <p:nvPr/>
        </p:nvSpPr>
        <p:spPr>
          <a:xfrm>
            <a:off x="640080" y="2057400"/>
            <a:ext cx="2194560" cy="18288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cheapest point to stop bad facts: structured, but not yet prose</a:t>
            </a:r>
            <a:endParaRPr lang="en-US" sz="1200" dirty="0"/>
          </a:p>
        </p:txBody>
      </p:sp>
      <p:sp>
        <p:nvSpPr>
          <p:cNvPr id="9" name="Shape 6"/>
          <p:cNvSpPr/>
          <p:nvPr/>
        </p:nvSpPr>
        <p:spPr>
          <a:xfrm>
            <a:off x="3291840" y="1371600"/>
            <a:ext cx="2560320" cy="2606040"/>
          </a:xfrm>
          <a:prstGeom prst="roundRect">
            <a:avLst>
              <a:gd name="adj" fmla="val 2857"/>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publish_report</a:t>
            </a:r>
            <a:endParaRPr lang="en-US" sz="1300" dirty="0"/>
          </a:p>
        </p:txBody>
      </p:sp>
      <p:sp>
        <p:nvSpPr>
          <p:cNvPr id="13" name="Text 9"/>
          <p:cNvSpPr txBox="1"/>
          <p:nvPr/>
        </p:nvSpPr>
        <p:spPr>
          <a:xfrm>
            <a:off x="3474720" y="2057400"/>
            <a:ext cx="2194560" cy="1828800"/>
          </a:xfrm>
          <a:prstGeom prst="rect">
            <a:avLst/>
          </a:prstGeom>
          <a:noFill/>
          <a:ln/>
        </p:spPr>
        <p:txBody>
          <a:bodyPr wrap="square" lIns="0" tIns="0" rIns="0" bIns="0" rtlCol="0" anchor="t"/>
          <a:lstStyle/>
          <a:p>
            <a:pPr indent="0" marL="0">
              <a:buNone/>
            </a:pPr>
            <a:r>
              <a:rPr lang="en-US" sz="1150" dirty="0">
                <a:solidFill>
                  <a:srgbClr val="6B7280"/>
                </a:solidFill>
                <a:latin typeface="Calibri" pitchFamily="34" charset="0"/>
                <a:ea typeface="Calibri" pitchFamily="34" charset="-122"/>
                <a:cs typeface="Calibri" pitchFamily="34" charset="-120"/>
              </a:rPr>
              <a:t>A ToolApprovalRequestContent. Topic, summary, findings as arguments</a:t>
            </a:r>
            <a:endParaRPr lang="en-US" sz="1150" dirty="0"/>
          </a:p>
        </p:txBody>
      </p:sp>
      <p:sp>
        <p:nvSpPr>
          <p:cNvPr id="14" name="Shape 10"/>
          <p:cNvSpPr/>
          <p:nvPr/>
        </p:nvSpPr>
        <p:spPr>
          <a:xfrm>
            <a:off x="6126480" y="1371600"/>
            <a:ext cx="2560320" cy="2606040"/>
          </a:xfrm>
          <a:prstGeom prst="roundRect">
            <a:avLst>
              <a:gd name="adj" fmla="val 2857"/>
            </a:avLst>
          </a:prstGeom>
          <a:solidFill>
            <a:srgbClr val="EFEBFC"/>
          </a:solidFill>
          <a:ln w="12700">
            <a:solidFill>
              <a:srgbClr val="EFEBFC"/>
            </a:solidFill>
            <a:prstDash val="solid"/>
          </a:ln>
        </p:spPr>
      </p:sp>
      <p:sp>
        <p:nvSpPr>
          <p:cNvPr id="15" name="Shape 11"/>
          <p:cNvSpPr/>
          <p:nvPr/>
        </p:nvSpPr>
        <p:spPr>
          <a:xfrm>
            <a:off x="630936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The answer</a:t>
            </a:r>
            <a:endParaRPr lang="en-US" sz="1500" dirty="0"/>
          </a:p>
        </p:txBody>
      </p:sp>
      <p:sp>
        <p:nvSpPr>
          <p:cNvPr id="18" name="Text 13"/>
          <p:cNvSpPr txBox="1"/>
          <p:nvPr/>
        </p:nvSpPr>
        <p:spPr>
          <a:xfrm>
            <a:off x="6309360" y="2057400"/>
            <a:ext cx="2194560" cy="182880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The matching ToolApprovalResponseContent, approved or rejected</a:t>
            </a:r>
            <a:endParaRPr lang="en-US" sz="1100" dirty="0"/>
          </a:p>
        </p:txBody>
      </p:sp>
      <p:sp>
        <p:nvSpPr>
          <p:cNvPr id="19" name="Text 14"/>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Standard approval contents, so every host knows how to carry them.</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SEAM TEST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prompt contract plus a parser</a:t>
            </a:r>
            <a:endParaRPr lang="en-US" sz="2800" dirty="0"/>
          </a:p>
        </p:txBody>
      </p:sp>
      <p:sp>
        <p:nvSpPr>
          <p:cNvPr id="4" name="Shape 2"/>
          <p:cNvSpPr/>
          <p:nvPr/>
        </p:nvSpPr>
        <p:spPr>
          <a:xfrm>
            <a:off x="457200" y="1417320"/>
            <a:ext cx="1367942" cy="2414016"/>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64008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Researcher</a:t>
            </a:r>
            <a:endParaRPr lang="en-US" sz="1350" dirty="0"/>
          </a:p>
        </p:txBody>
      </p:sp>
      <p:sp>
        <p:nvSpPr>
          <p:cNvPr id="8" name="Text 5"/>
          <p:cNvSpPr txBox="1"/>
          <p:nvPr/>
        </p:nvSpPr>
        <p:spPr>
          <a:xfrm>
            <a:off x="640080" y="28346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Two or three sourced notes on the topic</a:t>
            </a:r>
            <a:endParaRPr lang="en-US" sz="1200" dirty="0"/>
          </a:p>
        </p:txBody>
      </p:sp>
      <p:sp>
        <p:nvSpPr>
          <p:cNvPr id="9" name="Shape 6"/>
          <p:cNvSpPr/>
          <p:nvPr/>
        </p:nvSpPr>
        <p:spPr>
          <a:xfrm>
            <a:off x="1889150"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2414016"/>
          </a:xfrm>
          <a:prstGeom prst="roundRect">
            <a:avLst>
              <a:gd name="adj" fmla="val 5348"/>
            </a:avLst>
          </a:prstGeom>
          <a:solidFill>
            <a:srgbClr val="EFEBFC"/>
          </a:solidFill>
          <a:ln w="12700">
            <a:solidFill>
              <a:srgbClr val="EFEBFC"/>
            </a:solidFill>
            <a:prstDash val="solid"/>
          </a:ln>
        </p:spPr>
      </p:sp>
      <p:sp>
        <p:nvSpPr>
          <p:cNvPr id="11" name="Shape 8"/>
          <p:cNvSpPr/>
          <p:nvPr/>
        </p:nvSpPr>
        <p:spPr>
          <a:xfrm>
            <a:off x="2355494"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Analyst reply</a:t>
            </a:r>
            <a:endParaRPr lang="en-US" sz="1500" dirty="0"/>
          </a:p>
        </p:txBody>
      </p:sp>
      <p:sp>
        <p:nvSpPr>
          <p:cNvPr id="14" name="Text 10"/>
          <p:cNvSpPr txBox="1"/>
          <p:nvPr/>
        </p:nvSpPr>
        <p:spPr>
          <a:xfrm>
            <a:off x="2355494" y="28346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Strict JSON, as its instructions spell out</a:t>
            </a:r>
            <a:endParaRPr lang="en-US" sz="1200" dirty="0"/>
          </a:p>
        </p:txBody>
      </p:sp>
      <p:sp>
        <p:nvSpPr>
          <p:cNvPr id="15" name="Shape 11"/>
          <p:cNvSpPr/>
          <p:nvPr/>
        </p:nvSpPr>
        <p:spPr>
          <a:xfrm>
            <a:off x="3604565"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2414016"/>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Analysis</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Parser</a:t>
            </a:r>
            <a:endParaRPr lang="en-US" sz="1400" dirty="0"/>
          </a:p>
        </p:txBody>
      </p:sp>
      <p:sp>
        <p:nvSpPr>
          <p:cNvPr id="20" name="Text 15"/>
          <p:cNvSpPr txBox="1"/>
          <p:nvPr/>
        </p:nvSpPr>
        <p:spPr>
          <a:xfrm>
            <a:off x="4070909" y="2834640"/>
            <a:ext cx="1047902"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Strips a fence, then reads names in any case</a:t>
            </a:r>
            <a:endParaRPr lang="en-US" sz="1200" dirty="0"/>
          </a:p>
        </p:txBody>
      </p:sp>
      <p:sp>
        <p:nvSpPr>
          <p:cNvPr id="21" name="Shape 16"/>
          <p:cNvSpPr/>
          <p:nvPr/>
        </p:nvSpPr>
        <p:spPr>
          <a:xfrm>
            <a:off x="5319979"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2414016"/>
          </a:xfrm>
          <a:prstGeom prst="roundRect">
            <a:avLst>
              <a:gd name="adj" fmla="val 5348"/>
            </a:avLst>
          </a:prstGeom>
          <a:solidFill>
            <a:srgbClr val="512BD4"/>
          </a:solidFill>
          <a:ln w="12700">
            <a:solidFill>
              <a:srgbClr val="512BD4"/>
            </a:solidFill>
            <a:prstDash val="solid"/>
          </a:ln>
        </p:spPr>
      </p:sp>
      <p:sp>
        <p:nvSpPr>
          <p:cNvPr id="23" name="Shape 18"/>
          <p:cNvSpPr/>
          <p:nvPr/>
        </p:nvSpPr>
        <p:spPr>
          <a:xfrm>
            <a:off x="5786323"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Analysis</a:t>
            </a:r>
            <a:endParaRPr lang="en-US" sz="1400" dirty="0"/>
          </a:p>
          <a:p>
            <a:pPr indent="0" marL="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p>
        </p:txBody>
      </p:sp>
      <p:sp>
        <p:nvSpPr>
          <p:cNvPr id="26" name="Text 20"/>
          <p:cNvSpPr txBox="1"/>
          <p:nvPr/>
        </p:nvSpPr>
        <p:spPr>
          <a:xfrm>
            <a:off x="5786323" y="2834640"/>
            <a:ext cx="1047902"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Typed, or the run stops quoting the reply</a:t>
            </a:r>
            <a:endParaRPr lang="en-US" sz="1200" dirty="0"/>
          </a:p>
        </p:txBody>
      </p:sp>
      <p:sp>
        <p:nvSpPr>
          <p:cNvPr id="27" name="Shape 21"/>
          <p:cNvSpPr/>
          <p:nvPr/>
        </p:nvSpPr>
        <p:spPr>
          <a:xfrm>
            <a:off x="7035394" y="2514600"/>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2414016"/>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6400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Approval request</a:t>
            </a:r>
            <a:endParaRPr lang="en-US" sz="1300" dirty="0"/>
          </a:p>
        </p:txBody>
      </p:sp>
      <p:sp>
        <p:nvSpPr>
          <p:cNvPr id="32" name="Text 25"/>
          <p:cNvSpPr txBox="1"/>
          <p:nvPr/>
        </p:nvSpPr>
        <p:spPr>
          <a:xfrm>
            <a:off x="7501738" y="2834640"/>
            <a:ext cx="1047902" cy="905256"/>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Built by ReportApproval</a:t>
            </a:r>
            <a:endParaRPr lang="en-US" sz="1050" dirty="0"/>
          </a:p>
          <a:p>
            <a:pPr indent="0" marL="0">
              <a:buNone/>
            </a:pPr>
            <a:r>
              <a:rPr lang="en-US" sz="1050" dirty="0">
                <a:solidFill>
                  <a:srgbClr val="6B7280"/>
                </a:solidFill>
                <a:latin typeface="Calibri" pitchFamily="34" charset="0"/>
                <a:ea typeface="Calibri" pitchFamily="34" charset="-122"/>
                <a:cs typeface="Calibri" pitchFamily="34" charset="-120"/>
              </a:rPr>
              <a:t>Request</a:t>
            </a:r>
            <a:endParaRPr lang="en-US" sz="1050" dirty="0"/>
          </a:p>
        </p:txBody>
      </p:sp>
      <p:sp>
        <p:nvSpPr>
          <p:cNvPr id="33" name="Text 26"/>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riskiest seam, proven against a live model before Lesson 23.</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Messages hand off, state survives the pause</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Messages on edges</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 handler's return value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Or context.SendMessageAsync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Carry each step's result onward</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Workflow state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QueueStateUpdateAsync stores 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Saved in every checkpoint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Writer reads it after the pause</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fresh process restores the checkpoint and sees the same request.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Why the finished graph is hosted over Responses</a:t>
            </a:r>
            <a:endParaRPr lang="en-US" sz="265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Workflow.AsAIAgent()</a:t>
            </a:r>
            <a:endParaRPr lang="en-US" sz="13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Turns the whole graph into one AIAgent</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300" b="1" dirty="0">
                <a:solidFill>
                  <a:srgbClr val="1F2937"/>
                </a:solidFill>
                <a:latin typeface="Courier New" pitchFamily="34" charset="0"/>
                <a:ea typeface="Courier New" pitchFamily="34" charset="-122"/>
                <a:cs typeface="Courier New" pitchFamily="34" charset="-120"/>
              </a:rPr>
              <a:t>AddFoundryResponses</a:t>
            </a:r>
            <a:endParaRPr lang="en-US" sz="13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Serves it at POST /responses, locally, no Azure</a:t>
            </a:r>
            <a:endParaRPr lang="en-US" sz="1200" dirty="0"/>
          </a:p>
        </p:txBody>
      </p:sp>
      <p:sp>
        <p:nvSpPr>
          <p:cNvPr id="14" name="Shape 10"/>
          <p:cNvSpPr/>
          <p:nvPr/>
        </p:nvSpPr>
        <p:spPr>
          <a:xfrm>
            <a:off x="457200" y="2994660"/>
            <a:ext cx="3977640" cy="1394460"/>
          </a:xfrm>
          <a:prstGeom prst="roundRect">
            <a:avLst>
              <a:gd name="adj" fmla="val 5246"/>
            </a:avLst>
          </a:prstGeom>
          <a:solidFill>
            <a:srgbClr val="512BD4"/>
          </a:solidFill>
          <a:ln w="12700">
            <a:solidFill>
              <a:srgbClr val="512BD4"/>
            </a:solidFill>
            <a:prstDash val="solid"/>
          </a:ln>
        </p:spPr>
      </p:sp>
      <p:sp>
        <p:nvSpPr>
          <p:cNvPr id="15" name="Shape 11"/>
          <p:cNvSpPr/>
          <p:nvPr/>
        </p:nvSpPr>
        <p:spPr>
          <a:xfrm>
            <a:off x="640080" y="317754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Approval travels natively</a:t>
            </a:r>
            <a:endParaRPr lang="en-US" sz="14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An approval item a client answers in a follow-up request</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Durable by default</a:t>
            </a:r>
            <a:endParaRPr lang="en-US" sz="14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Hosting checkpoints the session, so a pending approval survives a restart</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REUSABLE PIECES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shared contracts Lessons 23 and 24 reuse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Defined once, today</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Plus PipelineConfig, which already declares CAPSTONE_MCP_SERVER_PATH.</a:t>
            </a:r>
            <a:endParaRPr lang="en-US" sz="115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000" b="1" dirty="0">
                <a:solidFill>
                  <a:srgbClr val="1F2937"/>
                </a:solidFill>
                <a:latin typeface="Calibri" pitchFamily="34" charset="0"/>
                <a:ea typeface="Calibri" pitchFamily="34" charset="-122"/>
                <a:cs typeface="Calibri" pitchFamily="34" charset="-120"/>
              </a:rPr>
              <a:t>AgentInstructions</a:t>
            </a:r>
            <a:endParaRPr lang="en-US" sz="10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Personas for all three roles</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AnalysisResult</a:t>
            </a:r>
            <a:endParaRPr lang="en-US" sz="12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Topic, Summary, ResearchFinding list</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AnalysisParser</a:t>
            </a:r>
            <a:endParaRPr lang="en-US" sz="12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With JsonFenceStripper: the receiving side</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200" b="1" dirty="0">
                <a:solidFill>
                  <a:srgbClr val="1F2937"/>
                </a:solidFill>
                <a:latin typeface="Calibri" pitchFamily="34" charset="0"/>
                <a:ea typeface="Calibri" pitchFamily="34" charset="-122"/>
                <a:cs typeface="Calibri" pitchFamily="34" charset="-120"/>
              </a:rPr>
              <a:t>ReportApproval</a:t>
            </a:r>
            <a:endParaRPr lang="en-US" sz="1200" dirty="0"/>
          </a:p>
          <a:p>
            <a:pPr indent="0" marL="0">
              <a:buNone/>
            </a:pPr>
            <a:r>
              <a:rPr lang="en-US" sz="1200" b="1" dirty="0">
                <a:solidFill>
                  <a:srgbClr val="1F2937"/>
                </a:solidFill>
                <a:latin typeface="Calibri" pitchFamily="34" charset="0"/>
                <a:ea typeface="Calibri" pitchFamily="34" charset="-122"/>
                <a:cs typeface="Calibri" pitchFamily="34" charset="-120"/>
              </a:rPr>
              <a:t>Request</a:t>
            </a:r>
            <a:endParaRPr lang="en-US" sz="12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Builds and describes the approval request</a:t>
            </a:r>
            <a:endParaRPr lang="en-US" sz="1200" dirty="0"/>
          </a:p>
        </p:txBody>
      </p:sp>
      <p:sp>
        <p:nvSpPr>
          <p:cNvPr id="33" name="Text 26"/>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34" name="Text 27"/>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fixed lines, before the seam test runs</a:t>
            </a:r>
            <a:endParaRPr lang="en-US" sz="2800" dirty="0"/>
          </a:p>
        </p:txBody>
      </p:sp>
      <p:sp>
        <p:nvSpPr>
          <p:cNvPr id="4" name="Shape 2"/>
          <p:cNvSpPr/>
          <p:nvPr/>
        </p:nvSpPr>
        <p:spPr>
          <a:xfrm>
            <a:off x="457200" y="1325880"/>
            <a:ext cx="5257800" cy="1783080"/>
          </a:xfrm>
          <a:prstGeom prst="roundRect">
            <a:avLst>
              <a:gd name="adj" fmla="val 4103"/>
            </a:avLst>
          </a:prstGeom>
          <a:solidFill>
            <a:srgbClr val="0F1420"/>
          </a:solidFill>
          <a:ln w="12700">
            <a:solidFill>
              <a:srgbClr val="0F1420"/>
            </a:solidFill>
            <a:prstDash val="solid"/>
          </a:ln>
        </p:spPr>
      </p:sp>
      <p:sp>
        <p:nvSpPr>
          <p:cNvPr id="5" name="Text 3"/>
          <p:cNvSpPr txBox="1"/>
          <p:nvPr/>
        </p:nvSpPr>
        <p:spPr>
          <a:xfrm>
            <a:off x="640080" y="1463040"/>
            <a:ext cx="4892040" cy="15087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 Re-capture pending: run with OPENAI_API_KEY set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Capstone graph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research (Researcher + MCP tools) -&gt; analysis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(Analyst -&gt; AnalysisResult)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-&gt; report-approval (request port: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ToolApprovalRequestContent / ToolApprovalResponseContent)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-&gt; writer (Writer -&gt; final report)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checkpointed at every step</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Research topic: the deep sea anglerfish</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Fixed text</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Printed by Program.cs before any model call</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Seam test</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Notes, then a parsed AnalysisResult, or an error quoting the reply</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Approval request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Action: publish_report, then topic, summary, findings</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355092"/>
          </a:xfrm>
          <a:prstGeom prst="roundRect">
            <a:avLst>
              <a:gd name="adj" fmla="val 20601"/>
            </a:avLst>
          </a:prstGeom>
          <a:solidFill>
            <a:srgbClr val="1F2943"/>
          </a:solidFill>
          <a:ln w="12700">
            <a:solidFill>
              <a:srgbClr val="1F2943"/>
            </a:solidFill>
            <a:prstDash val="solid"/>
          </a:ln>
        </p:spPr>
      </p:sp>
      <p:sp>
        <p:nvSpPr>
          <p:cNvPr id="5" name="Text 3"/>
          <p:cNvSpPr txBox="1"/>
          <p:nvPr/>
        </p:nvSpPr>
        <p:spPr>
          <a:xfrm>
            <a:off x="621792" y="12344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Personas and contracts</a:t>
            </a:r>
            <a:endParaRPr lang="en-US" sz="1300" dirty="0"/>
          </a:p>
        </p:txBody>
      </p:sp>
      <p:sp>
        <p:nvSpPr>
          <p:cNvPr id="6" name="Shape 4"/>
          <p:cNvSpPr/>
          <p:nvPr/>
        </p:nvSpPr>
        <p:spPr>
          <a:xfrm>
            <a:off x="3493008" y="1320546"/>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Reused unchanged by the graph's executors</a:t>
            </a:r>
            <a:endParaRPr lang="en-US" sz="1250" dirty="0"/>
          </a:p>
        </p:txBody>
      </p:sp>
      <p:sp>
        <p:nvSpPr>
          <p:cNvPr id="8" name="Shape 6"/>
          <p:cNvSpPr/>
          <p:nvPr/>
        </p:nvSpPr>
        <p:spPr>
          <a:xfrm>
            <a:off x="457200" y="1699260"/>
            <a:ext cx="2926080" cy="355092"/>
          </a:xfrm>
          <a:prstGeom prst="roundRect">
            <a:avLst>
              <a:gd name="adj" fmla="val 20601"/>
            </a:avLst>
          </a:prstGeom>
          <a:solidFill>
            <a:srgbClr val="1F2943"/>
          </a:solidFill>
          <a:ln w="12700">
            <a:solidFill>
              <a:srgbClr val="1F2943"/>
            </a:solidFill>
            <a:prstDash val="solid"/>
          </a:ln>
        </p:spPr>
      </p:sp>
      <p:sp>
        <p:nvSpPr>
          <p:cNvPr id="9" name="Text 7"/>
          <p:cNvSpPr txBox="1"/>
          <p:nvPr/>
        </p:nvSpPr>
        <p:spPr>
          <a:xfrm>
            <a:off x="621792" y="169926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AnalysisParser seam</a:t>
            </a:r>
            <a:endParaRPr lang="en-US" sz="1300" dirty="0"/>
          </a:p>
        </p:txBody>
      </p:sp>
      <p:sp>
        <p:nvSpPr>
          <p:cNvPr id="10" name="Shape 8"/>
          <p:cNvSpPr/>
          <p:nvPr/>
        </p:nvSpPr>
        <p:spPr>
          <a:xfrm>
            <a:off x="3493008" y="1785366"/>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69926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AnalysisExecutor parses the Analyst's reply</a:t>
            </a:r>
            <a:endParaRPr lang="en-US" sz="1250" dirty="0"/>
          </a:p>
        </p:txBody>
      </p:sp>
      <p:sp>
        <p:nvSpPr>
          <p:cNvPr id="12" name="Shape 10"/>
          <p:cNvSpPr/>
          <p:nvPr/>
        </p:nvSpPr>
        <p:spPr>
          <a:xfrm>
            <a:off x="457200" y="2164080"/>
            <a:ext cx="2926080" cy="355092"/>
          </a:xfrm>
          <a:prstGeom prst="roundRect">
            <a:avLst>
              <a:gd name="adj" fmla="val 20601"/>
            </a:avLst>
          </a:prstGeom>
          <a:solidFill>
            <a:srgbClr val="1F2943"/>
          </a:solidFill>
          <a:ln w="12700">
            <a:solidFill>
              <a:srgbClr val="1F2943"/>
            </a:solidFill>
            <a:prstDash val="solid"/>
          </a:ln>
        </p:spPr>
      </p:sp>
      <p:sp>
        <p:nvSpPr>
          <p:cNvPr id="13" name="Text 11"/>
          <p:cNvSpPr txBox="1"/>
          <p:nvPr/>
        </p:nvSpPr>
        <p:spPr>
          <a:xfrm>
            <a:off x="621792" y="216408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report-approval port</a:t>
            </a:r>
            <a:endParaRPr lang="en-US" sz="1300" dirty="0"/>
          </a:p>
        </p:txBody>
      </p:sp>
      <p:sp>
        <p:nvSpPr>
          <p:cNvPr id="14" name="Shape 12"/>
          <p:cNvSpPr/>
          <p:nvPr/>
        </p:nvSpPr>
        <p:spPr>
          <a:xfrm>
            <a:off x="3493008" y="225018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16408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Pauses the run; the decision is typed at the console</a:t>
            </a:r>
            <a:endParaRPr lang="en-US" sz="1250" dirty="0"/>
          </a:p>
        </p:txBody>
      </p:sp>
      <p:sp>
        <p:nvSpPr>
          <p:cNvPr id="16" name="Shape 14"/>
          <p:cNvSpPr/>
          <p:nvPr/>
        </p:nvSpPr>
        <p:spPr>
          <a:xfrm>
            <a:off x="457200" y="2628900"/>
            <a:ext cx="2926080" cy="355092"/>
          </a:xfrm>
          <a:prstGeom prst="roundRect">
            <a:avLst>
              <a:gd name="adj" fmla="val 20601"/>
            </a:avLst>
          </a:prstGeom>
          <a:solidFill>
            <a:srgbClr val="1F2943"/>
          </a:solidFill>
          <a:ln w="12700">
            <a:solidFill>
              <a:srgbClr val="1F2943"/>
            </a:solidFill>
            <a:prstDash val="solid"/>
          </a:ln>
        </p:spPr>
      </p:sp>
      <p:sp>
        <p:nvSpPr>
          <p:cNvPr id="17" name="Text 15"/>
          <p:cNvSpPr txBox="1"/>
          <p:nvPr/>
        </p:nvSpPr>
        <p:spPr>
          <a:xfrm>
            <a:off x="621792" y="262890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Checkpointed graph</a:t>
            </a:r>
            <a:endParaRPr lang="en-US" sz="1300" dirty="0"/>
          </a:p>
        </p:txBody>
      </p:sp>
      <p:sp>
        <p:nvSpPr>
          <p:cNvPr id="18" name="Shape 16"/>
          <p:cNvSpPr/>
          <p:nvPr/>
        </p:nvSpPr>
        <p:spPr>
          <a:xfrm>
            <a:off x="3493008" y="2715006"/>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62890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dotnet run -- resume finishes it in a fresh process</a:t>
            </a:r>
            <a:endParaRPr lang="en-US" sz="1250" dirty="0"/>
          </a:p>
        </p:txBody>
      </p:sp>
      <p:sp>
        <p:nvSpPr>
          <p:cNvPr id="20" name="Shape 18"/>
          <p:cNvSpPr/>
          <p:nvPr/>
        </p:nvSpPr>
        <p:spPr>
          <a:xfrm>
            <a:off x="457200" y="3093720"/>
            <a:ext cx="2926080" cy="355092"/>
          </a:xfrm>
          <a:prstGeom prst="roundRect">
            <a:avLst>
              <a:gd name="adj" fmla="val 20601"/>
            </a:avLst>
          </a:prstGeom>
          <a:solidFill>
            <a:srgbClr val="1F2943"/>
          </a:solidFill>
          <a:ln w="12700">
            <a:solidFill>
              <a:srgbClr val="1F2943"/>
            </a:solidFill>
            <a:prstDash val="solid"/>
          </a:ln>
        </p:spPr>
      </p:sp>
      <p:sp>
        <p:nvSpPr>
          <p:cNvPr id="21" name="Text 19"/>
          <p:cNvSpPr txBox="1"/>
          <p:nvPr/>
        </p:nvSpPr>
        <p:spPr>
          <a:xfrm>
            <a:off x="621792" y="309372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Chat-protocol start node</a:t>
            </a:r>
            <a:endParaRPr lang="en-US" sz="1300" dirty="0"/>
          </a:p>
        </p:txBody>
      </p:sp>
      <p:sp>
        <p:nvSpPr>
          <p:cNvPr id="22" name="Shape 20"/>
          <p:cNvSpPr/>
          <p:nvPr/>
        </p:nvSpPr>
        <p:spPr>
          <a:xfrm>
            <a:off x="3493008" y="3179826"/>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09372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Hosted unchanged through Workflow.AsAIAgent()</a:t>
            </a:r>
            <a:endParaRPr lang="en-US" sz="1250" dirty="0"/>
          </a:p>
        </p:txBody>
      </p:sp>
      <p:sp>
        <p:nvSpPr>
          <p:cNvPr id="24" name="Shape 22"/>
          <p:cNvSpPr/>
          <p:nvPr/>
        </p:nvSpPr>
        <p:spPr>
          <a:xfrm>
            <a:off x="457200" y="3558540"/>
            <a:ext cx="2926080" cy="355092"/>
          </a:xfrm>
          <a:prstGeom prst="roundRect">
            <a:avLst>
              <a:gd name="adj" fmla="val 20601"/>
            </a:avLst>
          </a:prstGeom>
          <a:solidFill>
            <a:srgbClr val="1F2943"/>
          </a:solidFill>
          <a:ln w="12700">
            <a:solidFill>
              <a:srgbClr val="1F2943"/>
            </a:solidFill>
            <a:prstDash val="solid"/>
          </a:ln>
        </p:spPr>
      </p:sp>
      <p:sp>
        <p:nvSpPr>
          <p:cNvPr id="25" name="Text 23"/>
          <p:cNvSpPr txBox="1"/>
          <p:nvPr/>
        </p:nvSpPr>
        <p:spPr>
          <a:xfrm>
            <a:off x="621792" y="3558540"/>
            <a:ext cx="2651760" cy="35509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Standard approval contents</a:t>
            </a:r>
            <a:endParaRPr lang="en-US" sz="1300" dirty="0"/>
          </a:p>
        </p:txBody>
      </p:sp>
      <p:sp>
        <p:nvSpPr>
          <p:cNvPr id="26" name="Shape 24"/>
          <p:cNvSpPr/>
          <p:nvPr/>
        </p:nvSpPr>
        <p:spPr>
          <a:xfrm>
            <a:off x="3493008" y="3644646"/>
            <a:ext cx="329184" cy="182880"/>
          </a:xfrm>
          <a:prstGeom prst="rightArrow">
            <a:avLst/>
          </a:prstGeom>
          <a:solidFill>
            <a:srgbClr val="F5A623"/>
          </a:solidFill>
          <a:ln w="12700">
            <a:solidFill>
              <a:srgbClr val="F5A623"/>
            </a:solidFill>
            <a:prstDash val="solid"/>
          </a:ln>
        </p:spPr>
      </p:sp>
      <p:sp>
        <p:nvSpPr>
          <p:cNvPr id="27" name="Text 25"/>
          <p:cNvSpPr txBox="1"/>
          <p:nvPr/>
        </p:nvSpPr>
        <p:spPr>
          <a:xfrm>
            <a:off x="3977640" y="3558540"/>
            <a:ext cx="4709160" cy="35509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Travel as mcp_approval_request and _response</a:t>
            </a:r>
            <a:endParaRPr lang="en-US" sz="1250" dirty="0"/>
          </a:p>
        </p:txBody>
      </p:sp>
      <p:sp>
        <p:nvSpPr>
          <p:cNvPr id="28" name="Text 26"/>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9"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22 — Capstone Design</a:t>
            </a:r>
            <a:endParaRPr lang="en-US" sz="900" dirty="0"/>
          </a:p>
        </p:txBody>
      </p:sp>
      <p:sp>
        <p:nvSpPr>
          <p:cNvPr id="30"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 — Capstone Design</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2026-10-08T00:09:31Z</dcterms:created>
  <dcterms:modified xsi:type="dcterms:W3CDTF">2026-10-08T00:09:31Z</dcterms:modified>
</cp:coreProperties>
</file>