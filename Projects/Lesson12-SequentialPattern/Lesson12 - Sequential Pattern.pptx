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agents — OutlineAgent, DraftAgent and EditorAgent — are chained into a fixed blog-writing pipeline where each one consumes what came before it and adds its own contribution. This is the simplest multi-agent orchestration pattern in the series, and per the syllabus it's the backbone the Lesson 22 to 24 capstone's Researcher, Analyst, Writer pipeline builds on directly. Prerequisites: Lessons 10 and 11 — the graph and executor model and InProcessExecution.RunAsync from Lesson 10. Lessons 10 and 11 drew every edge by hand with WorkflowBuilder.AddEdge; this lesson hands a list of agents to AgentWorkflowBuilder, which draws the graph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framework net10.0. Packages: Microsoft.Agents.AI 1.24.0; Microsoft.Agents.AI.Workflows 1.24.0, used this time for its agent-orchestration builders specifically; Microsoft.Extensions.AI.OpenAI 10.10.1, the first-party IChatClient adapter; and OpenAI 2.14.0. No executors are written by hand this lesson, so the Workflows.Generators package from Lessons 10 and 11 is not referenced. Set OPENAI_API_KEY. MAF_LLM and MAF_MODEL are both required, with no built-in defaults: set MAF_LLM to OPENAI and MAF_MODEL to gpt-4.1-mini, the values the demos use, or pick AZURE, GEMINI, OLLAMA or LMSTUDIO with a model that provider serves; on Gemini use gemini-2.5-flash, because the factory refuses Gemini 3 models. Never hardcode the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agents are built once, with no workflow-specific setup at all. outlineAgent, draftAgent and editorAgent are plain ChatClientAgents built through the lesson's AgentFactory.CreateAgent. Nothing about their construction hints that they're about to be chained — the pipeline is entirely a property of how they're later handed to AgentWorkflowBuilder. Each one consumes what came before it and adds its own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AgentWorkflowBuilder.BuildSequential builds the agent graph for you. AgentWorkflowBuilder.BuildSequential([outlineAgent, draftAgent, editorAgent]) takes an ordered list of AIAgents and returns a fully-wired Workflow: one node per agent, with an edge from each agent to the next. It also forwards each agent's messages along those edges and sends the TurnToken from Lesson 10 that tells each agent node to run, so there's no WorkflowBuilder, AddEdge or TurnToken in your code. You just supply the agents in order. Compare this with Lesson 10 and 11's WorkflowBuilder plus repeated AddEdge calls — there's no graph to draw by hand here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workflow's output is the full conversation transcript, not a single string. Running the pipeline produces a WorkflowOutputEvent whose Data is a List&lt;ChatMessage&gt;: the original input plus every agent's response in order, each tagged with AuthorName matching the producing agent's Name. InProcessExecution.RunAsync(defaultWorkflow, new ChatMessage(ChatRole.User, topic)) runs all three agents in turn, and RunPipelineAsync prints the four messages one line per message, tagged by author. The cards abbreviate the author tags; the real tags are OutlineAgent, DraftAgent and EditorAgent.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chainOnlyAgentResponses controls both what each agent sees and what the final transcript contains. With the default, false, each agent receives the entire running transcript so far: OutlineAgent sees one message, the topic; DraftAgent sees two, topic and outline; EditorAgent sees three, topic, outline and draft. The final output preserves all four messages. With chainOnlyAgentResponses: true, every agent receives exactly one message, only the immediately preceding agent's reply. DraftAgent never sees the original topic directly, only the outline; EditorAgent never sees the topic or the outline, only the draft. The final transcript shrinks to a single message, EditorAgent's answer. Both runs build their workflow from the exact same three ChatClientAgent instances. Unlike a Workflow object, which Lesson 10 established can only be owned by one runner at a time, an AIAgent carries no run-scoped ownership state, so it's safe to hand the same agents to BuildSequential more than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between the two is a real design decision, not a style preference. Full-transcript chaining, the default, gives every downstream agent — and whoever reads the final output — complete visibility into how the answer was built, at the cost of a growing context each agent has to process. chainOnlyAgentResponses: true produces a lean, single-answer result and forces strict assembly-line isolation between stages, which matters when an earlier stage's reasoning shouldn't leak into a later one's context, or when you only want the final, polished answer, not the intermediate scaffolding.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1 prints four messages, ending with a final sentence that's visibly a distillation of the outline and draft above it. Run 2 prints exactly one message — EditorAgent's answer alone — because with chainOnlyAgentResponses: true that's all the final transcript contains. The exact wording varies between runs since every agent is a live model call, but the shape will not: four transcript messages, then one. On the slide, the headers are wrapped, and the OutlineAgent, EditorAgent and Run 2 replies are cut with '...'; the full EditorAgent lines read 'Sustainable travel prioritizes minimizing environmental impact, empowering local communities, and fostering respectful cultural exchange.' and 'Sustainable travel champions responsible environmental, social, and economic choices to preserve destinations and empower communities for future generations.'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goes. BuildSequential's sibling, BuildConcurrent, arrives in Lesson 13 and runs agents against the same input in parallel. Today every agent runs in a fixed order; Lesson 14's Handoff Pattern lets the conversation decide which agent runs next. The List&lt;ChatMessage&gt; transcript shape carries through Lessons 13 to 15; Lesson 16's Magentic-One is the first pattern that returns a single message instead. Lesson 21 composes ResearchAgent and WriterAgent with BuildSequential, wraps the workflow with AsAIAgent and hosts it over the Responses protocol with AddFoundryResponses. And this is the capstone's backbone: the Lesson 22 design keeps the sequential shape — each step consumes the previous step's output, in a fixed order — but builds it by hand with WorkflowBuilder, because the pipeline needs an approval request port in the middle and typed hand-offs between steps. Lesson 22 names BuildSequential as the right tool for a pure agent chain, and Lesson 24's review lists Lesson 12 as the pipeline's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12  ·  PHASE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Sequential Pattern</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Agents chained in a fixed pipeline</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 10's graph model</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Lesson12-SequentialPattern/</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Chaining agents with BuildSequential</a:t>
            </a:r>
            <a:endParaRPr lang="en-US" sz="1300" dirty="0"/>
          </a:p>
        </p:txBody>
      </p:sp>
      <p:sp>
        <p:nvSpPr>
          <p:cNvPr id="14" name="Shape 11"/>
          <p:cNvSpPr/>
          <p:nvPr/>
        </p:nvSpPr>
        <p:spPr>
          <a:xfrm>
            <a:off x="5257800" y="205282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2133661"/>
            <a:ext cx="149230" cy="149230"/>
          </a:xfrm>
          <a:prstGeom prst="rect">
            <a:avLst/>
          </a:prstGeom>
        </p:spPr>
      </p:pic>
      <p:sp>
        <p:nvSpPr>
          <p:cNvPr id="16" name="Text 12"/>
          <p:cNvSpPr txBox="1"/>
          <p:nvPr/>
        </p:nvSpPr>
        <p:spPr>
          <a:xfrm>
            <a:off x="5715000" y="20345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Reading the transcript a pipeline returns</a:t>
            </a:r>
            <a:endParaRPr lang="en-US" sz="1300" dirty="0"/>
          </a:p>
        </p:txBody>
      </p:sp>
      <p:sp>
        <p:nvSpPr>
          <p:cNvPr id="17" name="Shape 13"/>
          <p:cNvSpPr/>
          <p:nvPr/>
        </p:nvSpPr>
        <p:spPr>
          <a:xfrm>
            <a:off x="5257800" y="285292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933761"/>
            <a:ext cx="149230" cy="149230"/>
          </a:xfrm>
          <a:prstGeom prst="rect">
            <a:avLst/>
          </a:prstGeom>
        </p:spPr>
      </p:pic>
      <p:sp>
        <p:nvSpPr>
          <p:cNvPr id="19" name="Text 14"/>
          <p:cNvSpPr txBox="1"/>
          <p:nvPr/>
        </p:nvSpPr>
        <p:spPr>
          <a:xfrm>
            <a:off x="5715000" y="28346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chainOnlyAgentResponses changes</a:t>
            </a:r>
            <a:endParaRPr lang="en-US" sz="1300" dirty="0"/>
          </a:p>
        </p:txBody>
      </p:sp>
      <p:sp>
        <p:nvSpPr>
          <p:cNvPr id="20" name="Shape 15"/>
          <p:cNvSpPr/>
          <p:nvPr/>
        </p:nvSpPr>
        <p:spPr>
          <a:xfrm>
            <a:off x="5257800" y="365302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733861"/>
            <a:ext cx="149230" cy="149230"/>
          </a:xfrm>
          <a:prstGeom prst="rect">
            <a:avLst/>
          </a:prstGeom>
        </p:spPr>
      </p:pic>
      <p:sp>
        <p:nvSpPr>
          <p:cNvPr id="22" name="Text 16"/>
          <p:cNvSpPr txBox="1"/>
          <p:nvPr/>
        </p:nvSpPr>
        <p:spPr>
          <a:xfrm>
            <a:off x="5715000" y="36347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Choosing full history or strict isolation</a:t>
            </a:r>
            <a:endParaRPr lang="en-US" sz="1300" dirty="0"/>
          </a:p>
        </p:txBody>
      </p:sp>
      <p:sp>
        <p:nvSpPr>
          <p:cNvPr id="23"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12 — Sequential Pattern</a:t>
            </a:r>
            <a:endParaRPr lang="en-US" sz="900" dirty="0"/>
          </a:p>
        </p:txBody>
      </p:sp>
      <p:sp>
        <p:nvSpPr>
          <p:cNvPr id="24"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Agents return, and so does the key</a:t>
            </a:r>
            <a:endParaRPr lang="en-US" sz="2800" dirty="0"/>
          </a:p>
        </p:txBody>
      </p:sp>
      <p:sp>
        <p:nvSpPr>
          <p:cNvPr id="4" name="Shape 2"/>
          <p:cNvSpPr/>
          <p:nvPr/>
        </p:nvSpPr>
        <p:spPr>
          <a:xfrm>
            <a:off x="457200" y="1371600"/>
            <a:ext cx="2560320" cy="2011680"/>
          </a:xfrm>
          <a:prstGeom prst="roundRect">
            <a:avLst>
              <a:gd name="adj" fmla="val 363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Microsoft.Agents.</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AI.Workflows</a:t>
            </a:r>
            <a:endParaRPr lang="en-US" sz="1300" dirty="0"/>
          </a:p>
        </p:txBody>
      </p:sp>
      <p:sp>
        <p:nvSpPr>
          <p:cNvPr id="8" name="Text 5"/>
          <p:cNvSpPr txBox="1"/>
          <p:nvPr/>
        </p:nvSpPr>
        <p:spPr>
          <a:xfrm>
            <a:off x="64008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1.24.0</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This time for its agent-orchestration builders</a:t>
            </a:r>
            <a:endParaRPr lang="en-US" sz="1200" dirty="0"/>
          </a:p>
        </p:txBody>
      </p:sp>
      <p:sp>
        <p:nvSpPr>
          <p:cNvPr id="9" name="Shape 6"/>
          <p:cNvSpPr/>
          <p:nvPr/>
        </p:nvSpPr>
        <p:spPr>
          <a:xfrm>
            <a:off x="3291840" y="1371600"/>
            <a:ext cx="25603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OpenAI adapter</a:t>
            </a:r>
            <a:endParaRPr lang="en-US" sz="1500" dirty="0"/>
          </a:p>
        </p:txBody>
      </p:sp>
      <p:sp>
        <p:nvSpPr>
          <p:cNvPr id="13" name="Text 9"/>
          <p:cNvSpPr txBox="1"/>
          <p:nvPr/>
        </p:nvSpPr>
        <p:spPr>
          <a:xfrm>
            <a:off x="3474720" y="2057400"/>
            <a:ext cx="2194560" cy="123444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Microsoft.Extensions.AI.OpenAI 10.10.1 and OpenAI 2.14.0</a:t>
            </a:r>
            <a:endParaRPr lang="en-US" sz="1000" dirty="0"/>
          </a:p>
        </p:txBody>
      </p:sp>
      <p:sp>
        <p:nvSpPr>
          <p:cNvPr id="14" name="Shape 10"/>
          <p:cNvSpPr/>
          <p:nvPr/>
        </p:nvSpPr>
        <p:spPr>
          <a:xfrm>
            <a:off x="6126480" y="1371600"/>
            <a:ext cx="2560320" cy="2011680"/>
          </a:xfrm>
          <a:prstGeom prst="roundRect">
            <a:avLst>
              <a:gd name="adj" fmla="val 3636"/>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OPENAI_API_KEY</a:t>
            </a:r>
            <a:endParaRPr lang="en-US" sz="1300" dirty="0"/>
          </a:p>
        </p:txBody>
      </p:sp>
      <p:sp>
        <p:nvSpPr>
          <p:cNvPr id="18" name="Text 13"/>
          <p:cNvSpPr txBox="1"/>
          <p:nvPr/>
        </p:nvSpPr>
        <p:spPr>
          <a:xfrm>
            <a:off x="6309360" y="2057400"/>
            <a:ext cx="2194560" cy="12344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Plus the required MAF_LLM and MAF_MODEL, read by ChatClientFactory.</a:t>
            </a:r>
            <a:endParaRPr lang="en-US" sz="1200" dirty="0"/>
          </a:p>
        </p:txBody>
      </p:sp>
      <p:sp>
        <p:nvSpPr>
          <p:cNvPr id="19" name="Text 14"/>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12 — Sequential Pattern</a:t>
            </a:r>
            <a:endParaRPr lang="en-US" sz="900" dirty="0"/>
          </a:p>
        </p:txBody>
      </p:sp>
      <p:sp>
        <p:nvSpPr>
          <p:cNvPr id="20" name="Text 15"/>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agents, one fixed pipeline</a:t>
            </a:r>
            <a:endParaRPr lang="en-US" sz="2800" dirty="0"/>
          </a:p>
        </p:txBody>
      </p:sp>
      <p:sp>
        <p:nvSpPr>
          <p:cNvPr id="4" name="Shape 2"/>
          <p:cNvSpPr/>
          <p:nvPr/>
        </p:nvSpPr>
        <p:spPr>
          <a:xfrm>
            <a:off x="457200" y="1417320"/>
            <a:ext cx="1796796" cy="1801368"/>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Topic</a:t>
            </a:r>
            <a:endParaRPr lang="en-US" sz="1500" dirty="0"/>
          </a:p>
        </p:txBody>
      </p:sp>
      <p:sp>
        <p:nvSpPr>
          <p:cNvPr id="8" name="Text 5"/>
          <p:cNvSpPr txBox="1"/>
          <p:nvPr/>
        </p:nvSpPr>
        <p:spPr>
          <a:xfrm>
            <a:off x="640080" y="26060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"sustainable travel"</a:t>
            </a:r>
            <a:endParaRPr lang="en-US" sz="1200" dirty="0"/>
          </a:p>
        </p:txBody>
      </p:sp>
      <p:sp>
        <p:nvSpPr>
          <p:cNvPr id="9" name="Shape 6"/>
          <p:cNvSpPr/>
          <p:nvPr/>
        </p:nvSpPr>
        <p:spPr>
          <a:xfrm>
            <a:off x="2318004"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801368"/>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OutlineAgent</a:t>
            </a:r>
            <a:endParaRPr lang="en-US" sz="1500" dirty="0"/>
          </a:p>
        </p:txBody>
      </p:sp>
      <p:sp>
        <p:nvSpPr>
          <p:cNvPr id="14" name="Text 10"/>
          <p:cNvSpPr txBox="1"/>
          <p:nvPr/>
        </p:nvSpPr>
        <p:spPr>
          <a:xfrm>
            <a:off x="2784348" y="26060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short outline</a:t>
            </a:r>
            <a:endParaRPr lang="en-US" sz="1200" dirty="0"/>
          </a:p>
        </p:txBody>
      </p:sp>
      <p:sp>
        <p:nvSpPr>
          <p:cNvPr id="15" name="Shape 11"/>
          <p:cNvSpPr/>
          <p:nvPr/>
        </p:nvSpPr>
        <p:spPr>
          <a:xfrm>
            <a:off x="4462272"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801368"/>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DraftAgent</a:t>
            </a:r>
            <a:endParaRPr lang="en-US" sz="1500" dirty="0"/>
          </a:p>
        </p:txBody>
      </p:sp>
      <p:sp>
        <p:nvSpPr>
          <p:cNvPr id="20" name="Text 15"/>
          <p:cNvSpPr txBox="1"/>
          <p:nvPr/>
        </p:nvSpPr>
        <p:spPr>
          <a:xfrm>
            <a:off x="4928616" y="26060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Drafts from the outline</a:t>
            </a:r>
            <a:endParaRPr lang="en-US" sz="1200" dirty="0"/>
          </a:p>
        </p:txBody>
      </p:sp>
      <p:sp>
        <p:nvSpPr>
          <p:cNvPr id="21" name="Shape 16"/>
          <p:cNvSpPr/>
          <p:nvPr/>
        </p:nvSpPr>
        <p:spPr>
          <a:xfrm>
            <a:off x="6606540" y="2208276"/>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801368"/>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EditorAgent</a:t>
            </a:r>
            <a:endParaRPr lang="en-US" sz="1500" dirty="0"/>
          </a:p>
        </p:txBody>
      </p:sp>
      <p:sp>
        <p:nvSpPr>
          <p:cNvPr id="26" name="Text 20"/>
          <p:cNvSpPr txBox="1"/>
          <p:nvPr/>
        </p:nvSpPr>
        <p:spPr>
          <a:xfrm>
            <a:off x="7072884" y="2606040"/>
            <a:ext cx="1476756"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Distils the final answer</a:t>
            </a:r>
            <a:endParaRPr lang="en-US" sz="1200" dirty="0"/>
          </a:p>
        </p:txBody>
      </p:sp>
      <p:sp>
        <p:nvSpPr>
          <p:cNvPr id="27" name="Text 21"/>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Every agent runs, in the order given, every time.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12 — Sequential Pattern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BuildSequential builds the agent graph for you</a:t>
            </a:r>
            <a:endParaRPr lang="en-US" sz="2700" dirty="0"/>
          </a:p>
        </p:txBody>
      </p:sp>
      <p:sp>
        <p:nvSpPr>
          <p:cNvPr id="4" name="Shape 2"/>
          <p:cNvSpPr/>
          <p:nvPr/>
        </p:nvSpPr>
        <p:spPr>
          <a:xfrm>
            <a:off x="457200" y="1371600"/>
            <a:ext cx="3931920" cy="2103120"/>
          </a:xfrm>
          <a:prstGeom prst="roundRect">
            <a:avLst>
              <a:gd name="adj" fmla="val 3478"/>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By hand (Lessons 10–11)</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WorkflowBuilder and an AddEdge per pair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Forward each message yourself</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Send each agent its TurnToken</a:t>
            </a:r>
            <a:endParaRPr lang="en-US" sz="1300" dirty="0"/>
          </a:p>
        </p:txBody>
      </p:sp>
      <p:sp>
        <p:nvSpPr>
          <p:cNvPr id="9" name="Shape 6"/>
          <p:cNvSpPr/>
          <p:nvPr/>
        </p:nvSpPr>
        <p:spPr>
          <a:xfrm>
            <a:off x="4754880" y="1371600"/>
            <a:ext cx="3931920" cy="2103120"/>
          </a:xfrm>
          <a:prstGeom prst="roundRect">
            <a:avLst>
              <a:gd name="adj" fmla="val 3478"/>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AgentWorkflowBuilder</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node per agent, edges in order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Messages and TurnTokens forwarded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 supply the agents in order</a:t>
            </a:r>
            <a:endParaRPr lang="en-US" sz="1300" dirty="0"/>
          </a:p>
        </p:txBody>
      </p:sp>
      <p:sp>
        <p:nvSpPr>
          <p:cNvPr id="14" name="Text 10"/>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One call is the entire orchestration layer.</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12 — Sequential Pattern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output is the whole transcript</a:t>
            </a:r>
            <a:endParaRPr lang="en-US" sz="2800" dirty="0"/>
          </a:p>
        </p:txBody>
      </p:sp>
      <p:sp>
        <p:nvSpPr>
          <p:cNvPr id="4" name="Shape 2"/>
          <p:cNvSpPr/>
          <p:nvPr/>
        </p:nvSpPr>
        <p:spPr>
          <a:xfrm>
            <a:off x="457200" y="1371600"/>
            <a:ext cx="1851660" cy="2103120"/>
          </a:xfrm>
          <a:prstGeom prst="roundRect">
            <a:avLst>
              <a:gd name="adj" fmla="val 395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[user]</a:t>
            </a:r>
            <a:endParaRPr lang="en-US" sz="1300" dirty="0"/>
          </a:p>
        </p:txBody>
      </p:sp>
      <p:sp>
        <p:nvSpPr>
          <p:cNvPr id="8" name="Text 5"/>
          <p:cNvSpPr txBox="1"/>
          <p:nvPr/>
        </p:nvSpPr>
        <p:spPr>
          <a:xfrm>
            <a:off x="640080" y="2057400"/>
            <a:ext cx="148590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original topic</a:t>
            </a:r>
            <a:endParaRPr lang="en-US" sz="1200" dirty="0"/>
          </a:p>
        </p:txBody>
      </p:sp>
      <p:sp>
        <p:nvSpPr>
          <p:cNvPr id="9" name="Shape 6"/>
          <p:cNvSpPr/>
          <p:nvPr/>
        </p:nvSpPr>
        <p:spPr>
          <a:xfrm>
            <a:off x="2583180" y="1371600"/>
            <a:ext cx="1851660" cy="2103120"/>
          </a:xfrm>
          <a:prstGeom prst="roundRect">
            <a:avLst>
              <a:gd name="adj" fmla="val 3951"/>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[Outline]</a:t>
            </a:r>
            <a:endParaRPr lang="en-US" sz="1300" dirty="0"/>
          </a:p>
        </p:txBody>
      </p:sp>
      <p:sp>
        <p:nvSpPr>
          <p:cNvPr id="13" name="Text 9"/>
          <p:cNvSpPr txBox="1"/>
          <p:nvPr/>
        </p:nvSpPr>
        <p:spPr>
          <a:xfrm>
            <a:off x="2766060" y="2057400"/>
            <a:ext cx="148590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OutlineAgent's reply</a:t>
            </a:r>
            <a:endParaRPr lang="en-US" sz="1200" dirty="0"/>
          </a:p>
        </p:txBody>
      </p:sp>
      <p:sp>
        <p:nvSpPr>
          <p:cNvPr id="14" name="Shape 10"/>
          <p:cNvSpPr/>
          <p:nvPr/>
        </p:nvSpPr>
        <p:spPr>
          <a:xfrm>
            <a:off x="4709160" y="1371600"/>
            <a:ext cx="1851660" cy="2103120"/>
          </a:xfrm>
          <a:prstGeom prst="roundRect">
            <a:avLst>
              <a:gd name="adj" fmla="val 3951"/>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[Draft]</a:t>
            </a:r>
            <a:endParaRPr lang="en-US" sz="1300" dirty="0"/>
          </a:p>
        </p:txBody>
      </p:sp>
      <p:sp>
        <p:nvSpPr>
          <p:cNvPr id="18" name="Text 13"/>
          <p:cNvSpPr txBox="1"/>
          <p:nvPr/>
        </p:nvSpPr>
        <p:spPr>
          <a:xfrm>
            <a:off x="4892040" y="2057400"/>
            <a:ext cx="148590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DraftAgent's reply</a:t>
            </a:r>
            <a:endParaRPr lang="en-US" sz="1200" dirty="0"/>
          </a:p>
        </p:txBody>
      </p:sp>
      <p:sp>
        <p:nvSpPr>
          <p:cNvPr id="19" name="Shape 14"/>
          <p:cNvSpPr/>
          <p:nvPr/>
        </p:nvSpPr>
        <p:spPr>
          <a:xfrm>
            <a:off x="6835140" y="1371600"/>
            <a:ext cx="1851660" cy="2103120"/>
          </a:xfrm>
          <a:prstGeom prst="roundRect">
            <a:avLst>
              <a:gd name="adj" fmla="val 3951"/>
            </a:avLst>
          </a:prstGeom>
          <a:solidFill>
            <a:srgbClr val="512BD4"/>
          </a:solidFill>
          <a:ln w="12700">
            <a:solidFill>
              <a:srgbClr val="512BD4"/>
            </a:solidFill>
            <a:prstDash val="solid"/>
          </a:ln>
        </p:spPr>
      </p:sp>
      <p:sp>
        <p:nvSpPr>
          <p:cNvPr id="20" name="Shape 15"/>
          <p:cNvSpPr/>
          <p:nvPr/>
        </p:nvSpPr>
        <p:spPr>
          <a:xfrm>
            <a:off x="7018020" y="155448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[Editor]</a:t>
            </a:r>
            <a:endParaRPr lang="en-US" sz="1300" dirty="0"/>
          </a:p>
        </p:txBody>
      </p:sp>
      <p:sp>
        <p:nvSpPr>
          <p:cNvPr id="23" name="Text 17"/>
          <p:cNvSpPr txBox="1"/>
          <p:nvPr/>
        </p:nvSpPr>
        <p:spPr>
          <a:xfrm>
            <a:off x="7018020" y="2057400"/>
            <a:ext cx="1485900" cy="13258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EditorAgent's final answer</a:t>
            </a:r>
            <a:endParaRPr lang="en-US" sz="1200" dirty="0"/>
          </a:p>
        </p:txBody>
      </p:sp>
      <p:sp>
        <p:nvSpPr>
          <p:cNvPr id="24" name="Text 18"/>
          <p:cNvSpPr txBox="1"/>
          <p:nvPr/>
        </p:nvSpPr>
        <p:spPr>
          <a:xfrm>
            <a:off x="457200" y="37033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WorkflowOutputEvent.Data is a List&lt;ChatMessage&gt;, each tagged with AuthorName.</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12 — Sequential Pattern</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chainOnlyAgentResponses: what each agent sees</a:t>
            </a:r>
            <a:endParaRPr lang="en-US" sz="2750" dirty="0"/>
          </a:p>
        </p:txBody>
      </p:sp>
      <p:sp>
        <p:nvSpPr>
          <p:cNvPr id="4" name="Shape 2"/>
          <p:cNvSpPr/>
          <p:nvPr/>
        </p:nvSpPr>
        <p:spPr>
          <a:xfrm>
            <a:off x="457200" y="1371600"/>
            <a:ext cx="3931920" cy="2606040"/>
          </a:xfrm>
          <a:prstGeom prst="roundRect">
            <a:avLst>
              <a:gd name="adj" fmla="val 2807"/>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false (the default)</a:t>
            </a:r>
            <a:endParaRPr lang="en-US" sz="1700" dirty="0"/>
          </a:p>
        </p:txBody>
      </p:sp>
      <p:sp>
        <p:nvSpPr>
          <p:cNvPr id="8" name="Text 5"/>
          <p:cNvSpPr txBox="1"/>
          <p:nvPr/>
        </p:nvSpPr>
        <p:spPr>
          <a:xfrm>
            <a:off x="685800" y="2194560"/>
            <a:ext cx="3474720" cy="100584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Each agent sees the running transcript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Outline 1, Draft 2, Editor 3 messages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Final output keeps all 4 messages</a:t>
            </a:r>
            <a:endParaRPr lang="en-US" sz="1300" dirty="0"/>
          </a:p>
        </p:txBody>
      </p:sp>
      <p:sp>
        <p:nvSpPr>
          <p:cNvPr id="9" name="Shape 6"/>
          <p:cNvSpPr/>
          <p:nvPr/>
        </p:nvSpPr>
        <p:spPr>
          <a:xfrm>
            <a:off x="4754880" y="1371600"/>
            <a:ext cx="3931920" cy="2606040"/>
          </a:xfrm>
          <a:prstGeom prst="roundRect">
            <a:avLst>
              <a:gd name="adj" fmla="val 2807"/>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6B7280"/>
          </a:solidFill>
          <a:ln w="12700">
            <a:solidFill>
              <a:srgbClr val="6B7280"/>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true</a:t>
            </a:r>
            <a:endParaRPr lang="en-US" sz="1700" dirty="0"/>
          </a:p>
        </p:txBody>
      </p:sp>
      <p:sp>
        <p:nvSpPr>
          <p:cNvPr id="13" name="Text 9"/>
          <p:cNvSpPr txBox="1"/>
          <p:nvPr/>
        </p:nvSpPr>
        <p:spPr>
          <a:xfrm>
            <a:off x="4983480" y="2194560"/>
            <a:ext cx="3474720" cy="100584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Each agent sees one message: the last reply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Editor never sees the topic or outline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Final output is 1 message</a:t>
            </a:r>
            <a:endParaRPr lang="en-US" sz="1300" dirty="0"/>
          </a:p>
        </p:txBody>
      </p:sp>
      <p:sp>
        <p:nvSpPr>
          <p:cNvPr id="14" name="Text 10"/>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Both workflows are built from the same three agent instances.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12 — Sequential Pattern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design decision, not a style choice</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6858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Full history or isolation?</a:t>
            </a:r>
            <a:endParaRPr lang="en-US" sz="1600" dirty="0"/>
          </a:p>
        </p:txBody>
      </p:sp>
      <p:sp>
        <p:nvSpPr>
          <p:cNvPr id="8" name="Text 5"/>
          <p:cNvSpPr txBox="1"/>
          <p:nvPr/>
        </p:nvSpPr>
        <p:spPr>
          <a:xfrm>
            <a:off x="685800" y="2990088"/>
            <a:ext cx="2057400"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Pick per pipeline, based on what later stages should know.</a:t>
            </a:r>
            <a:endParaRPr lang="en-US" sz="12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Visibility</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Full chaining shows how the answer was built</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Context cost</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Full chaining grows every agent's input</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Isolation</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Earlier reasoning can't leak into later stages</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Lean result</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Only the polished final answer survives</a:t>
            </a:r>
            <a:endParaRPr lang="en-US" sz="1200" dirty="0"/>
          </a:p>
        </p:txBody>
      </p:sp>
      <p:sp>
        <p:nvSpPr>
          <p:cNvPr id="33"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12 — Sequential Pattern</a:t>
            </a:r>
            <a:endParaRPr lang="en-US" sz="900" dirty="0"/>
          </a:p>
        </p:txBody>
      </p:sp>
      <p:sp>
        <p:nvSpPr>
          <p:cNvPr id="34"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Four messages, then one</a:t>
            </a:r>
            <a:endParaRPr lang="en-US" sz="2800" dirty="0"/>
          </a:p>
        </p:txBody>
      </p:sp>
      <p:sp>
        <p:nvSpPr>
          <p:cNvPr id="4" name="Shape 2"/>
          <p:cNvSpPr/>
          <p:nvPr/>
        </p:nvSpPr>
        <p:spPr>
          <a:xfrm>
            <a:off x="457200" y="1325880"/>
            <a:ext cx="5257800" cy="2392680"/>
          </a:xfrm>
          <a:prstGeom prst="roundRect">
            <a:avLst>
              <a:gd name="adj" fmla="val 3057"/>
            </a:avLst>
          </a:prstGeom>
          <a:solidFill>
            <a:srgbClr val="0F1420"/>
          </a:solidFill>
          <a:ln w="12700">
            <a:solidFill>
              <a:srgbClr val="0F1420"/>
            </a:solidFill>
            <a:prstDash val="solid"/>
          </a:ln>
        </p:spPr>
      </p:sp>
      <p:sp>
        <p:nvSpPr>
          <p:cNvPr id="5" name="Text 3"/>
          <p:cNvSpPr txBox="1"/>
          <p:nvPr/>
        </p:nvSpPr>
        <p:spPr>
          <a:xfrm>
            <a:off x="640080" y="1463040"/>
            <a:ext cx="4892040" cy="21183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Default chaining (each agent sees the full running</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transcript)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Final output contains 4 message(s):</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[user] sustainable travel</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[OutlineAgent] Here's a concise 3-point outline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[DraftAgent] Sustainable travel involves making</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eco-conscious choices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[EditorAgent] Sustainable travel prioritizes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chainOnlyAgentResponses: true (each agent sees only</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the previous agent's reply)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Final output contains 1 message(s):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[EditorAgent] Sustainable travel champions ...</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Run 1</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topic plus all three agents</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Run 2</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EditorAgent's answer alone</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12 — Sequential Pattern</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BuildSequential</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13  </a:t>
            </a:r>
            <a:pPr indent="0" marL="0">
              <a:buNone/>
            </a:pPr>
            <a:r>
              <a:rPr lang="en-US" sz="1250" dirty="0">
                <a:solidFill>
                  <a:srgbClr val="FFFFFF"/>
                </a:solidFill>
                <a:latin typeface="Calibri" pitchFamily="34" charset="0"/>
                <a:ea typeface="Calibri" pitchFamily="34" charset="-122"/>
                <a:cs typeface="Calibri" pitchFamily="34" charset="-120"/>
              </a:rPr>
              <a:t>BuildConcurrent, its sibling, runs agents in parallel</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Fixed order, every run</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14  </a:t>
            </a:r>
            <a:pPr indent="0" marL="0">
              <a:buNone/>
            </a:pPr>
            <a:r>
              <a:rPr lang="en-US" sz="1250" dirty="0">
                <a:solidFill>
                  <a:srgbClr val="FFFFFF"/>
                </a:solidFill>
                <a:latin typeface="Calibri" pitchFamily="34" charset="0"/>
                <a:ea typeface="Calibri" pitchFamily="34" charset="-122"/>
                <a:cs typeface="Calibri" pitchFamily="34" charset="-120"/>
              </a:rPr>
              <a:t>Handoff picks the next agent from the conversation</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List&lt;ChatMessage&gt; transcript</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16  </a:t>
            </a:r>
            <a:pPr indent="0" marL="0">
              <a:buNone/>
            </a:pPr>
            <a:r>
              <a:rPr lang="en-US" sz="1250" dirty="0">
                <a:solidFill>
                  <a:srgbClr val="FFFFFF"/>
                </a:solidFill>
                <a:latin typeface="Calibri" pitchFamily="34" charset="0"/>
                <a:ea typeface="Calibri" pitchFamily="34" charset="-122"/>
                <a:cs typeface="Calibri" pitchFamily="34" charset="-120"/>
              </a:rPr>
              <a:t>Magentic-One returns a single message instead</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BuildSequential workflow</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21  </a:t>
            </a:r>
            <a:pPr indent="0" marL="0">
              <a:buNone/>
            </a:pPr>
            <a:r>
              <a:rPr lang="en-US" sz="1250" dirty="0">
                <a:solidFill>
                  <a:srgbClr val="FFFFFF"/>
                </a:solidFill>
                <a:latin typeface="Calibri" pitchFamily="34" charset="0"/>
                <a:ea typeface="Calibri" pitchFamily="34" charset="-122"/>
                <a:cs typeface="Calibri" pitchFamily="34" charset="-120"/>
              </a:rPr>
              <a:t>AsAIAgent hosts the whole chain as one agent</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sequential backbone</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22  </a:t>
            </a:r>
            <a:pPr indent="0" marL="0">
              <a:buNone/>
            </a:pPr>
            <a:r>
              <a:rPr lang="en-US" sz="1250" dirty="0">
                <a:solidFill>
                  <a:srgbClr val="FFFFFF"/>
                </a:solidFill>
                <a:latin typeface="Calibri" pitchFamily="34" charset="0"/>
                <a:ea typeface="Calibri" pitchFamily="34" charset="-122"/>
                <a:cs typeface="Calibri" pitchFamily="34" charset="-120"/>
              </a:rPr>
              <a:t>Researcher → Analyst → Writer, in a fixed order</a:t>
            </a:r>
            <a:endParaRPr lang="en-US" sz="1250" dirty="0"/>
          </a:p>
        </p:txBody>
      </p:sp>
      <p:sp>
        <p:nvSpPr>
          <p:cNvPr id="24" name="Text 22"/>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12 — Sequential Pattern</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12 — Sequential Pattern</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2026-10-08T00:09:30Z</dcterms:created>
  <dcterms:modified xsi:type="dcterms:W3CDTF">2026-10-08T00:09:30Z</dcterms:modified>
</cp:coreProperties>
</file>