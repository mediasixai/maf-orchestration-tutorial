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prior lesson trusted that a model response was good enough just by eyeballing the console. This lesson adds the two lenses a production system needs before anyone trusts it. System health: is the agent behaving, how many tokens is it burning, how long is each call taking, via OpenTelemetry tracing and metrics. And outcome quality: is the answer itself actually good, via Microsoft.Extensions.AI.Evaluation's LLM-judged quality evaluators. Neither lens substitutes for the other. Prerequisites: Lesson 1's ChatClientAgent and the ChatClientFactory and AgentFactory pattern, and Lesson 6's middleware, since this lesson's MaxOutputTokensChatClient is a DelegatingChatClient, the same shape Lesson 6 introduced. No workflow lessons are required; this lesson runs a single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Packages: Microsoft.Agents.AI 1.24.0, the home of agent-level UseOpenTelemetry in OpenTelemetryAgentBuilderExtensions. Microsoft.Extensions.AI 10.10.0, the non-Abstractions core package with IChatClient's AsBuilder and UseOpenTelemetry and DelegatingChatClient. Microsoft.Extensions.AI.Evaluation 10.10.0 for ChatConfiguration, IEvaluator, EvaluationResult and NumericMetric, and Microsoft.Extensions.AI.Evaluation.Quality 10.10.0 for CoherenceEvaluator and RelevanceEvaluator. Microsoft.Extensions.AI.OpenAI 10.10.1 and OpenAI 2.14.0 as usual. OpenTelemetry 1.19.1 and OpenTelemetry.Exporter.Console 1.19.1, which prints spans and metrics straight to the console so no Aspire Dashboard, Azure Monitor or Jaeger is needed. Set OPENAI_API_KEY; MAF_LLM and MAF_MODEL are required as in every lesson; the demos use OPENAI and gpt-4.1-mini. Each run makes three real model calls: one agent call, one Coherence judge call and one Relevance judge call, and both the agent and the judge get their client from ChatClientFactory, so they run on the same provider and model. Warning: both instrumentation call sites pass EnableSensitiveData = true, which captures full prompt and response text into span attributes. Microsoft's guidance is explicit: only enable it in development 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lenses, not one. OpenTelemetry tracing and metrics answer 'is the system healthy': latency, token counts, error rates, entirely independent of whether the text that came back is any good. Microsoft.Extensions.AI.Evaluation's quality evaluators answer 'is this specific answer good', using a second LLM as a judge. A dashboard full of green health metrics says nothing about answer quality, and a high coherence score says nothing about whether the call that produced it was slow or expensive. A perfectly healthy, fast, cheap call can still return a wrong or incoherent answer, and a great answer can still come from a system quietly burning ten times the tokens it needs. Production systems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 is opt-in and applied at two separate layers. The raw chat client is wrapped with AsBuilder().UseOpenTelemetry(sourceName, configure) first, then handed to AgentFactory.CreateAgent, and the resulting agent is wrapped with its own AsBuilder().UseOpenTelemetry(...).Build(). Wrapping both produces two spans per call: a child 'chat &lt;model&gt;' span from the chat client, nested inside a parent 'invoke_agent &lt;name&gt;(&lt;id&gt;)' span from the agent. This is intentional, though it can look like duplication; wrap only the layer you need traced if you want a leaner trace. In Main, both the TracerProvider and the MeterProvider are using-scoped for the whole method so they capture every span and metric from both parts, and flush on dispose. A ForceFlush on each provider marks the boundary between Part 1 and Part 2; the console exporter also exports on its own timer, so extra metric output is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layers use the same builder shape. chatClient.AsBuilder() returns a ChatClientBuilder, and UseOpenTelemetry from Microsoft.Extensions.AI adds an OpenTelemetry layer before Build() produces the wrapped IChatClient. Agents follow the identical AsBuilder, Use, Build pattern: AIAgentExtensions.AsBuilder(this AIAgent) returns an AIAgentBuilder, and OpenTelemetryAgentBuilderExtensions.UseOpenTelemetry(this AIAgentBuilder, string? sourceName, Action&lt;OpenTelemetryAgent&gt;? configure), both in Microsoft.Agents.AI, attach the instrumentation before Build() produces the wrapped AIAgent. On the subscribing side, traces subscribe with AddSource and metrics with AddMeter. Agent Framework emits its traces and its metrics under the same sourceName string, but the OpenTelemetry .NET SDK subscribes to them through two different builder methods. TracerProviderBuilder.AddSource(SourceName) listens to the ActivitySource that produces spans, and MeterProviderBuilder.AddMeter(SourceName) listens to the Meter that produces metrics. TelemetryFactory calls each one on its own provider, each with a console exporter; a production system would swap those exporters for OTLP or Azure Monitor without touching any other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Spans and metrics. Every instrumented call emits a 'chat &lt;model&gt;' span and, when the agent itself is instrumented too, a parent 'invoke_agent &lt;name&gt;(&lt;id&gt;)' span. Both carry gen_ai attributes: gen_ai.operation.name, gen_ai.request.model, gen_ai.usage.input_tokens and output_tokens, and, only with EnableSensitiveData = true, the full gen_ai.input.messages and gen_ai.output.messages JSON. Two histogram metrics are emitted per call: gen_ai.client.token.usage, tagged by gen_ai.token.type as input or output, and gen_ai.client.operation.duration,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Evaluators need an IChatClient judge, not a fixed rubric. ChatConfiguration is a one-property wrapper around whatever IChatClient should act as the LLM judge. This lesson builds its judge from the same ChatClientFactory as the agent, using a fresh ChatClientFactory.Create() call rather than the instrumented client from Part 1, but a production setup could point the judge at a different, stronger model than the one being evaluated. IEvaluator.EvaluateAsync(messages, modelResponse, chatConfiguration) returns an EvaluationResult, a named bag of metrics. result.Get&lt;NumericMetric&gt;(CoherenceEvaluator.CoherenceMetricName) retrieves one, exposing Value, Interpretation.Rating and Failed, Reason, and any Diagnostics. CoherenceEvaluator and RelevanceEvaluator are used identically: construct, call EvaluateAsync, then pull the named NumericMetric out by the evaluator's published constant. Every quality evaluator in the Quality package, Fluency, Completeness, Groundedness and the rest, follows the same three-step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MaxOutputTokensChatClient sets the judge's output-token budget. The quality evaluators ask the judge model for a reply that ends in a tagged score, then parse that score out of the reply. MaxOutputTokensChatClient is a small DelegatingChatClient, the same middleware shape Lesson 6 introduced, placed in front of the judge's IChatClient: on every request, streaming or not, it clones the ChatOptions, sets MaxOutputTokens to at least 8000, and then forwards the call, so the judge always has room to write its reasoning and finish with the score. A budget matters most for a reasoning model, which spends output tokens on internal reasoning before its visible answer; the gen_ai.usage.reasoning.output_tokens span attribute reports how many. So the same code keeps working whichever model MAF_LLM selects for the judge. In the walkthrough, EvaluateResponseAsync builds a fresh ChatClientFactory client for the judge, wraps it in MaxOutputTokensChatClient, and only then hands it to ChatConfiguration; the evaluators make their judge calls through that client. When a judge reply carries no parseable score, the metric's Value is null, its Rating is Inconclusive, and its Diagnostics contain the reply the evaluator could not 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lesson's Expected Output is pending a re-capture: it needs a run with OPENAI_API_KEY set. So the panel shows only the program's two deterministic Part headers, wrapped to fit, and no model output. Once re-captured, add the real excerpt here. What the lesson says the run prints: Part 1 prints a 'chat gpt-4.1-mini' span, with gen_ai tags including the full input and output messages because sensitive data is enabled, nested under an 'invoke_agent ObservabilityDemoAgent(...)' span, then the line 'Agent response:' with the agent's one-sentence answer, then the gen_ai.client.token.usage and gen_ai.client.operation.duration histogram metrics. Part 2 prints one line each for Coherence and Relevance: a numeric score from 1 to 5 with its rating, and for Coherence the judge's reasoning. Trace ids, timings, token counts and scores vary between runs, since every step is a live model call, including both judge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20's pieces are not wired into the capstone's code, and the Lesson 24 series review says so directly. Its review table names them as the next production step: OpenTelemetry on the shared chat client that the capstone's Researcher, Analyst and Writer agents are built on, and quality evaluators on the Analyst's and Writer's output. So the summary is deliberately short; these are the tools you add once the pipeline from Lessons 22 to 24 is running. When it is deployed as a Foundry Hosted Agent, Lesson 21 notes that APPLICATIONINSIGHTS_CONNECTION_STRING is injected, so traces go to Application Insights rather than this lesson's console exporter.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20  ·  PHASE 3</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Observability and Evaluation</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System health and outcome quality: two lenses, both needed</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Lesson 1 factories, Lesson 6 middleware</a:t>
            </a:r>
            <a:endParaRPr lang="en-US" sz="10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src/ObservabilityAndEvaluation</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health metrics and answer quality are separate questions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Tracing the chat client and the agent with OpenTelemetry</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gen_ai spans and metrics MAF emits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Scoring an answer with an LLM judge</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Setting the judge's output-token budget</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20 — Observability and Evaluation</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Telemetry and evaluation packages</a:t>
            </a:r>
            <a:endParaRPr lang="en-US" sz="2800" dirty="0"/>
          </a:p>
        </p:txBody>
      </p:sp>
      <p:sp>
        <p:nvSpPr>
          <p:cNvPr id="4" name="Shape 2"/>
          <p:cNvSpPr/>
          <p:nvPr/>
        </p:nvSpPr>
        <p:spPr>
          <a:xfrm>
            <a:off x="457200" y="1371600"/>
            <a:ext cx="25603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OpenTelemetry</a:t>
            </a:r>
            <a:endParaRPr lang="en-US" sz="1400" dirty="0"/>
          </a:p>
        </p:txBody>
      </p:sp>
      <p:sp>
        <p:nvSpPr>
          <p:cNvPr id="8" name="Text 5"/>
          <p:cNvSpPr txBox="1"/>
          <p:nvPr/>
        </p:nvSpPr>
        <p:spPr>
          <a:xfrm>
            <a:off x="64008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1.19.1 SDK plus the Console exporter. No external backend needed.</a:t>
            </a:r>
            <a:endParaRPr lang="en-US" sz="1200" dirty="0"/>
          </a:p>
        </p:txBody>
      </p:sp>
      <p:sp>
        <p:nvSpPr>
          <p:cNvPr id="9" name="Shape 6"/>
          <p:cNvSpPr/>
          <p:nvPr/>
        </p:nvSpPr>
        <p:spPr>
          <a:xfrm>
            <a:off x="3291840" y="1371600"/>
            <a:ext cx="25603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AI.Evaluation</a:t>
            </a:r>
            <a:endParaRPr lang="en-US" sz="1400" dirty="0"/>
          </a:p>
        </p:txBody>
      </p:sp>
      <p:sp>
        <p:nvSpPr>
          <p:cNvPr id="13" name="Text 9"/>
          <p:cNvSpPr txBox="1"/>
          <p:nvPr/>
        </p:nvSpPr>
        <p:spPr>
          <a:xfrm>
            <a:off x="347472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Microsoft.Extensions.AI.</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Evaluation and .Quality 10.10.0</a:t>
            </a:r>
            <a:endParaRPr lang="en-US" sz="1200" dirty="0"/>
          </a:p>
        </p:txBody>
      </p:sp>
      <p:sp>
        <p:nvSpPr>
          <p:cNvPr id="14" name="Shape 10"/>
          <p:cNvSpPr/>
          <p:nvPr/>
        </p:nvSpPr>
        <p:spPr>
          <a:xfrm>
            <a:off x="6126480" y="1371600"/>
            <a:ext cx="2560320" cy="2011680"/>
          </a:xfrm>
          <a:prstGeom prst="roundRect">
            <a:avLst>
              <a:gd name="adj" fmla="val 3636"/>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EnableSensitiveData</a:t>
            </a:r>
            <a:endParaRPr lang="en-US" sz="1150" dirty="0"/>
          </a:p>
        </p:txBody>
      </p:sp>
      <p:sp>
        <p:nvSpPr>
          <p:cNvPr id="18" name="Text 13"/>
          <p:cNvSpPr txBox="1"/>
          <p:nvPr/>
        </p:nvSpPr>
        <p:spPr>
          <a:xfrm>
            <a:off x="6309360" y="2057400"/>
            <a:ext cx="2194560" cy="12344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Captures full prompt and response text. Development and testing only.</a:t>
            </a:r>
            <a:endParaRPr lang="en-US" sz="1200" dirty="0"/>
          </a:p>
        </p:txBody>
      </p:sp>
      <p:sp>
        <p:nvSpPr>
          <p:cNvPr id="19" name="Text 14"/>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Three model calls per run: the agent, the Coherence judge, the Relevance judge.</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20 — Observability and Evaluation</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lenses, not one</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System health</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OpenTelemetry traces and metrics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Latency, token counts, error rates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Says nothing about the answer</a:t>
            </a:r>
            <a:endParaRPr lang="en-US" sz="1300" dirty="0"/>
          </a:p>
        </p:txBody>
      </p:sp>
      <p:sp>
        <p:nvSpPr>
          <p:cNvPr id="9" name="Shape 6"/>
          <p:cNvSpPr/>
          <p:nvPr/>
        </p:nvSpPr>
        <p:spPr>
          <a:xfrm>
            <a:off x="4754880" y="1371600"/>
            <a:ext cx="3931920" cy="1828800"/>
          </a:xfrm>
          <a:prstGeom prst="roundRect">
            <a:avLst>
              <a:gd name="adj" fmla="val 400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Outcome quality</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Evaluators with an LLM as judge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Is this specific answer good?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Says nothing about cost or speed</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fast, cheap call can still be wrong. A great answer can still burn 10× the tokens.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20 — Observability and Evaluation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Instrument two layers, get two spans</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IChatClient</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AsBuilder()</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.UseOpenTelemetry()</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.Build()</a:t>
            </a:r>
            <a:endParaRPr lang="en-US" sz="11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250" b="1" dirty="0">
                <a:solidFill>
                  <a:srgbClr val="1F2937"/>
                </a:solidFill>
                <a:latin typeface="Calibri" pitchFamily="34" charset="0"/>
                <a:ea typeface="Calibri" pitchFamily="34" charset="-122"/>
                <a:cs typeface="Calibri" pitchFamily="34" charset="-120"/>
              </a:rPr>
              <a:t>ChatClientAgent</a:t>
            </a:r>
            <a:endParaRPr lang="en-US" sz="125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Built from the instrumented chat client</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AIAgent wrapper</a:t>
            </a:r>
            <a:endParaRPr lang="en-US" sz="14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The agent's own AsBuilder()</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.UseOpenTelemetry()</a:t>
            </a:r>
            <a:endParaRPr lang="en-US" sz="11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Nested spans</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invoke_agent parent, chat child</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Intentional, though it can look like duplication. Wrap only the layer you need.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20 — Observability and Evaluation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Traces use AddSource, metrics use AddMeter</a:t>
            </a:r>
            <a:endParaRPr lang="en-US" sz="2800" dirty="0"/>
          </a:p>
        </p:txBody>
      </p:sp>
      <p:sp>
        <p:nvSpPr>
          <p:cNvPr id="4" name="Shape 2"/>
          <p:cNvSpPr/>
          <p:nvPr/>
        </p:nvSpPr>
        <p:spPr>
          <a:xfrm>
            <a:off x="457200" y="1371600"/>
            <a:ext cx="3931920" cy="2240280"/>
          </a:xfrm>
          <a:prstGeom prst="roundRect">
            <a:avLst>
              <a:gd name="adj" fmla="val 3265"/>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TracerProvider</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AddSource(SourceName)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Listens to the ActivitySource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Receives the spans</a:t>
            </a:r>
            <a:endParaRPr lang="en-US" sz="1300" dirty="0"/>
          </a:p>
        </p:txBody>
      </p:sp>
      <p:sp>
        <p:nvSpPr>
          <p:cNvPr id="9" name="Shape 6"/>
          <p:cNvSpPr/>
          <p:nvPr/>
        </p:nvSpPr>
        <p:spPr>
          <a:xfrm>
            <a:off x="4754880" y="1371600"/>
            <a:ext cx="3931920" cy="2240280"/>
          </a:xfrm>
          <a:prstGeom prst="roundRect">
            <a:avLst>
              <a:gd name="adj" fmla="val 3265"/>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MeterProvider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AddMeter(SourceName)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Listens to the Meter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Receives the metrics</a:t>
            </a:r>
            <a:endParaRPr lang="en-US" sz="1300" dirty="0"/>
          </a:p>
        </p:txBody>
      </p:sp>
      <p:sp>
        <p:nvSpPr>
          <p:cNvPr id="14" name="Text 10"/>
          <p:cNvSpPr txBox="1"/>
          <p:nvPr/>
        </p:nvSpPr>
        <p:spPr>
          <a:xfrm>
            <a:off x="457200" y="38862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sourceName string, two subscriptions. TelemetryFactory builds each provider.</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20 — Observability and Evaluation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each call emits</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Spans</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chat &lt;model&gt;, nested under invoke_agent &lt;name&gt;(&lt;id&gt;)</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gen_ai.* attributes</a:t>
            </a:r>
            <a:endParaRPr lang="en-US" sz="14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operation.name, request.model, usage.input_tokens and output_tokens</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lstStyle/>
          <a:p>
            <a:pPr indent="0" marL="0">
              <a:buNone/>
            </a:pPr>
            <a:r>
              <a:rPr lang="en-US" sz="1200" b="1" dirty="0">
                <a:solidFill>
                  <a:srgbClr val="1F2937"/>
                </a:solidFill>
                <a:latin typeface="Courier New" pitchFamily="34" charset="0"/>
                <a:ea typeface="Courier New" pitchFamily="34" charset="-122"/>
                <a:cs typeface="Courier New" pitchFamily="34" charset="-120"/>
              </a:rPr>
              <a:t>gen_ai.client.token.usage</a:t>
            </a:r>
            <a:endParaRPr lang="en-US" sz="12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Histogram, tagged input or output by gen_ai.token.type</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lstStyle/>
          <a:p>
            <a:pPr indent="0" marL="0">
              <a:buNone/>
            </a:pPr>
            <a:r>
              <a:rPr lang="en-US" sz="1000" b="1" dirty="0">
                <a:solidFill>
                  <a:srgbClr val="1F2937"/>
                </a:solidFill>
                <a:latin typeface="Courier New" pitchFamily="34" charset="0"/>
                <a:ea typeface="Courier New" pitchFamily="34" charset="-122"/>
                <a:cs typeface="Courier New" pitchFamily="34" charset="-120"/>
              </a:rPr>
              <a:t>gen_ai.client.operation.duration</a:t>
            </a:r>
            <a:endParaRPr lang="en-US" sz="10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Histogram of each call's duration, in seconds</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20 — Observability and Evaluation</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Evaluators need a judge, not a rubric</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ChatConfiguration</a:t>
            </a:r>
            <a:endParaRPr lang="en-US" sz="155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One property: the IChatClient that acts as the LLM judge. Here, a fresh ChatClientFactory client.</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Coherence</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CoherenceEvaluator</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Relevance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RelevanceEvaluator</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NumericMetric</a:t>
            </a:r>
            <a:endParaRPr lang="en-US" sz="13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Value, Interpretation.Rating, Reason, Diagnostics</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Construct, EvaluateAsync, then Get&lt;NumericMetric&gt; by the metric-name constant.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20 — Observability and Evaluation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Set the judge's output-token budget</a:t>
            </a:r>
            <a:endParaRPr lang="en-US" sz="2800" dirty="0"/>
          </a:p>
        </p:txBody>
      </p:sp>
      <p:sp>
        <p:nvSpPr>
          <p:cNvPr id="4" name="Shape 2"/>
          <p:cNvSpPr/>
          <p:nvPr/>
        </p:nvSpPr>
        <p:spPr>
          <a:xfrm>
            <a:off x="457200" y="1417320"/>
            <a:ext cx="1796796" cy="24140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Evaluator request</a:t>
            </a:r>
            <a:endParaRPr lang="en-US" sz="1400" dirty="0"/>
          </a:p>
        </p:txBody>
      </p:sp>
      <p:sp>
        <p:nvSpPr>
          <p:cNvPr id="8" name="Text 5"/>
          <p:cNvSpPr txBox="1"/>
          <p:nvPr/>
        </p:nvSpPr>
        <p:spPr>
          <a:xfrm>
            <a:off x="640080"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Asks the judge for a reply ending in a tagged score</a:t>
            </a:r>
            <a:endParaRPr lang="en-US" sz="1200" dirty="0"/>
          </a:p>
        </p:txBody>
      </p:sp>
      <p:sp>
        <p:nvSpPr>
          <p:cNvPr id="9" name="Shape 6"/>
          <p:cNvSpPr/>
          <p:nvPr/>
        </p:nvSpPr>
        <p:spPr>
          <a:xfrm>
            <a:off x="2318004" y="25146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414016"/>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MaxOutputTokens</a:t>
            </a:r>
            <a:endParaRPr lang="en-US" sz="1250" dirty="0"/>
          </a:p>
          <a:p>
            <a:pPr indent="0" marL="0">
              <a:buNone/>
            </a:pPr>
            <a:r>
              <a:rPr lang="en-US" sz="1250" b="1" dirty="0">
                <a:solidFill>
                  <a:srgbClr val="FFFFFF"/>
                </a:solidFill>
                <a:latin typeface="Calibri" pitchFamily="34" charset="0"/>
                <a:ea typeface="Calibri" pitchFamily="34" charset="-122"/>
                <a:cs typeface="Calibri" pitchFamily="34" charset="-120"/>
              </a:rPr>
              <a:t>ChatClient</a:t>
            </a:r>
            <a:endParaRPr lang="en-US" sz="1250" dirty="0"/>
          </a:p>
        </p:txBody>
      </p:sp>
      <p:sp>
        <p:nvSpPr>
          <p:cNvPr id="14" name="Text 10"/>
          <p:cNvSpPr txBox="1"/>
          <p:nvPr/>
        </p:nvSpPr>
        <p:spPr>
          <a:xfrm>
            <a:off x="2784348" y="2834640"/>
            <a:ext cx="1476756" cy="905256"/>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A DelegatingChatClient: sets MaxOutputTokens to at least 8000</a:t>
            </a:r>
            <a:endParaRPr lang="en-US" sz="1000" dirty="0"/>
          </a:p>
        </p:txBody>
      </p:sp>
      <p:sp>
        <p:nvSpPr>
          <p:cNvPr id="15" name="Shape 11"/>
          <p:cNvSpPr/>
          <p:nvPr/>
        </p:nvSpPr>
        <p:spPr>
          <a:xfrm>
            <a:off x="4462272" y="25146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4140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Judge IChatClient</a:t>
            </a:r>
            <a:endParaRPr lang="en-US" sz="1400" dirty="0"/>
          </a:p>
        </p:txBody>
      </p:sp>
      <p:sp>
        <p:nvSpPr>
          <p:cNvPr id="20" name="Text 15"/>
          <p:cNvSpPr txBox="1"/>
          <p:nvPr/>
        </p:nvSpPr>
        <p:spPr>
          <a:xfrm>
            <a:off x="4928616"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Room to write its reasoning and finish with the score</a:t>
            </a:r>
            <a:endParaRPr lang="en-US" sz="1200" dirty="0"/>
          </a:p>
        </p:txBody>
      </p:sp>
      <p:sp>
        <p:nvSpPr>
          <p:cNvPr id="21" name="Shape 16"/>
          <p:cNvSpPr/>
          <p:nvPr/>
        </p:nvSpPr>
        <p:spPr>
          <a:xfrm>
            <a:off x="6606540" y="25146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414016"/>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Score parsed</a:t>
            </a:r>
            <a:endParaRPr lang="en-US" sz="1500" dirty="0"/>
          </a:p>
        </p:txBody>
      </p:sp>
      <p:sp>
        <p:nvSpPr>
          <p:cNvPr id="26" name="Text 20"/>
          <p:cNvSpPr txBox="1"/>
          <p:nvPr/>
        </p:nvSpPr>
        <p:spPr>
          <a:xfrm>
            <a:off x="7072884"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NumericMetric with a Value and a Rating</a:t>
            </a:r>
            <a:endParaRPr lang="en-US" sz="1200" dirty="0"/>
          </a:p>
        </p:txBody>
      </p:sp>
      <p:sp>
        <p:nvSpPr>
          <p:cNvPr id="27" name="Text 21"/>
          <p:cNvSpPr txBox="1"/>
          <p:nvPr/>
        </p:nvSpPr>
        <p:spPr>
          <a:xfrm>
            <a:off x="457200" y="41513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Wrapped before ChatConfiguration, so every judge request carries the budget.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20 — Observability and Evaluation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Spans, metrics, then scores</a:t>
            </a:r>
            <a:endParaRPr lang="en-US" sz="2800" dirty="0"/>
          </a:p>
        </p:txBody>
      </p:sp>
      <p:sp>
        <p:nvSpPr>
          <p:cNvPr id="4" name="Shape 2"/>
          <p:cNvSpPr/>
          <p:nvPr/>
        </p:nvSpPr>
        <p:spPr>
          <a:xfrm>
            <a:off x="457200" y="1325880"/>
            <a:ext cx="5257800" cy="1478280"/>
          </a:xfrm>
          <a:prstGeom prst="roundRect">
            <a:avLst>
              <a:gd name="adj" fmla="val 4948"/>
            </a:avLst>
          </a:prstGeom>
          <a:solidFill>
            <a:srgbClr val="0F1420"/>
          </a:solidFill>
          <a:ln w="12700">
            <a:solidFill>
              <a:srgbClr val="0F1420"/>
            </a:solidFill>
            <a:prstDash val="solid"/>
          </a:ln>
        </p:spPr>
      </p:sp>
      <p:sp>
        <p:nvSpPr>
          <p:cNvPr id="5" name="Text 3"/>
          <p:cNvSpPr txBox="1"/>
          <p:nvPr/>
        </p:nvSpPr>
        <p:spPr>
          <a:xfrm>
            <a:off x="640080" y="1463040"/>
            <a:ext cx="4892040" cy="12039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Re-capture pending: run with OPENAI_API_KEY set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Part 1: system health</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(OpenTelemetry traces + metrics)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Part 2: outcome quality</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(Microsoft.Extensions.AI.Evaluation) ===</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Part 1</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chat span under invoke_agent, the answer, two histograms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Part 2</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Coherence and Relevance: a 1 to 5 score with a rating</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Varies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Trace ids, timings, token counts and scores</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20 — Observability and Evaluation</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621792"/>
          </a:xfrm>
          <a:prstGeom prst="roundRect">
            <a:avLst>
              <a:gd name="adj" fmla="val 11765"/>
            </a:avLst>
          </a:prstGeom>
          <a:solidFill>
            <a:srgbClr val="1F2943"/>
          </a:solidFill>
          <a:ln w="12700">
            <a:solidFill>
              <a:srgbClr val="1F2943"/>
            </a:solidFill>
            <a:prstDash val="solid"/>
          </a:ln>
        </p:spPr>
      </p:sp>
      <p:sp>
        <p:nvSpPr>
          <p:cNvPr id="5" name="Text 3"/>
          <p:cNvSpPr txBox="1"/>
          <p:nvPr/>
        </p:nvSpPr>
        <p:spPr>
          <a:xfrm>
            <a:off x="621792" y="123444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OpenTelemetry on a chat client</a:t>
            </a:r>
            <a:endParaRPr lang="en-US" sz="1300" dirty="0"/>
          </a:p>
        </p:txBody>
      </p:sp>
      <p:sp>
        <p:nvSpPr>
          <p:cNvPr id="6" name="Shape 4"/>
          <p:cNvSpPr/>
          <p:nvPr/>
        </p:nvSpPr>
        <p:spPr>
          <a:xfrm>
            <a:off x="3493008" y="145389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Named the next production step: tracing the shared chat client</a:t>
            </a:r>
            <a:endParaRPr lang="en-US" sz="1250" dirty="0"/>
          </a:p>
        </p:txBody>
      </p:sp>
      <p:sp>
        <p:nvSpPr>
          <p:cNvPr id="8" name="Shape 6"/>
          <p:cNvSpPr/>
          <p:nvPr/>
        </p:nvSpPr>
        <p:spPr>
          <a:xfrm>
            <a:off x="457200" y="1965960"/>
            <a:ext cx="2926080" cy="621792"/>
          </a:xfrm>
          <a:prstGeom prst="roundRect">
            <a:avLst>
              <a:gd name="adj" fmla="val 11765"/>
            </a:avLst>
          </a:prstGeom>
          <a:solidFill>
            <a:srgbClr val="1F2943"/>
          </a:solidFill>
          <a:ln w="12700">
            <a:solidFill>
              <a:srgbClr val="1F2943"/>
            </a:solidFill>
            <a:prstDash val="solid"/>
          </a:ln>
        </p:spPr>
      </p:sp>
      <p:sp>
        <p:nvSpPr>
          <p:cNvPr id="9" name="Text 7"/>
          <p:cNvSpPr txBox="1"/>
          <p:nvPr/>
        </p:nvSpPr>
        <p:spPr>
          <a:xfrm>
            <a:off x="621792" y="196596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LLM-judged quality evaluators</a:t>
            </a:r>
            <a:endParaRPr lang="en-US" sz="1300" dirty="0"/>
          </a:p>
        </p:txBody>
      </p:sp>
      <p:sp>
        <p:nvSpPr>
          <p:cNvPr id="10" name="Shape 8"/>
          <p:cNvSpPr/>
          <p:nvPr/>
        </p:nvSpPr>
        <p:spPr>
          <a:xfrm>
            <a:off x="3493008" y="218541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6596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Named the next step for the Analyst's and Writer's output</a:t>
            </a:r>
            <a:endParaRPr lang="en-US" sz="1250" dirty="0"/>
          </a:p>
        </p:txBody>
      </p:sp>
      <p:sp>
        <p:nvSpPr>
          <p:cNvPr id="12" name="Text 10"/>
          <p:cNvSpPr txBox="1"/>
          <p:nvPr/>
        </p:nvSpPr>
        <p:spPr>
          <a:xfrm>
            <a:off x="457200" y="288036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 (as its next production step)</a:t>
            </a:r>
            <a:endParaRPr lang="en-US" sz="1300" dirty="0"/>
          </a:p>
        </p:txBody>
      </p:sp>
      <p:sp>
        <p:nvSpPr>
          <p:cNvPr id="13"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20 — Observability and Evaluation</a:t>
            </a:r>
            <a:endParaRPr lang="en-US" sz="900" dirty="0"/>
          </a:p>
        </p:txBody>
      </p:sp>
      <p:sp>
        <p:nvSpPr>
          <p:cNvPr id="14"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20 — Observability and Evaluation</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2026-10-07T23:53:47Z</dcterms:created>
  <dcterms:modified xsi:type="dcterms:W3CDTF">2026-10-07T23:53:47Z</dcterms:modified>
</cp:coreProperties>
</file>